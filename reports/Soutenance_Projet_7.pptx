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7" r:id="rId2"/>
    <p:sldId id="292" r:id="rId3"/>
    <p:sldId id="323" r:id="rId4"/>
    <p:sldId id="320" r:id="rId5"/>
    <p:sldId id="444" r:id="rId6"/>
    <p:sldId id="445" r:id="rId7"/>
    <p:sldId id="448" r:id="rId8"/>
    <p:sldId id="446" r:id="rId9"/>
    <p:sldId id="465" r:id="rId10"/>
    <p:sldId id="466" r:id="rId11"/>
    <p:sldId id="467" r:id="rId12"/>
    <p:sldId id="468" r:id="rId13"/>
    <p:sldId id="469" r:id="rId14"/>
    <p:sldId id="451" r:id="rId15"/>
    <p:sldId id="449" r:id="rId16"/>
    <p:sldId id="464" r:id="rId17"/>
    <p:sldId id="447" r:id="rId18"/>
    <p:sldId id="453" r:id="rId19"/>
    <p:sldId id="452" r:id="rId20"/>
    <p:sldId id="470" r:id="rId21"/>
    <p:sldId id="474" r:id="rId22"/>
    <p:sldId id="454" r:id="rId23"/>
    <p:sldId id="455" r:id="rId24"/>
    <p:sldId id="456" r:id="rId25"/>
    <p:sldId id="473" r:id="rId26"/>
    <p:sldId id="459" r:id="rId27"/>
    <p:sldId id="457" r:id="rId28"/>
    <p:sldId id="460" r:id="rId29"/>
    <p:sldId id="461" r:id="rId30"/>
    <p:sldId id="462" r:id="rId31"/>
    <p:sldId id="458" r:id="rId32"/>
    <p:sldId id="303" r:id="rId33"/>
    <p:sldId id="420" r:id="rId3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A6D396"/>
    <a:srgbClr val="678ACB"/>
    <a:srgbClr val="808F9B"/>
    <a:srgbClr val="B9A7F5"/>
    <a:srgbClr val="CAEEFB"/>
    <a:srgbClr val="E35B49"/>
    <a:srgbClr val="F3BCB7"/>
    <a:srgbClr val="FFFFFF"/>
    <a:srgbClr val="75A3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9" autoAdjust="0"/>
  </p:normalViewPr>
  <p:slideViewPr>
    <p:cSldViewPr snapToGrid="0">
      <p:cViewPr>
        <p:scale>
          <a:sx n="73" d="100"/>
          <a:sy n="73" d="100"/>
        </p:scale>
        <p:origin x="107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1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41266A-D4D6-47F6-99D0-BD14F8E0FD62}" type="doc">
      <dgm:prSet loTypeId="urn:microsoft.com/office/officeart/2005/8/layout/process4" loCatId="process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fr-FR"/>
        </a:p>
      </dgm:t>
    </dgm:pt>
    <dgm:pt modelId="{8B3B3074-0311-42D4-A572-AFAAEC24E0E4}">
      <dgm:prSet phldrT="[Text]" phldr="0"/>
      <dgm:spPr/>
      <dgm:t>
        <a:bodyPr/>
        <a:lstStyle/>
        <a:p>
          <a:r>
            <a:rPr lang="fr-FR" dirty="0"/>
            <a:t>Nettoyage initial</a:t>
          </a:r>
        </a:p>
      </dgm:t>
    </dgm:pt>
    <dgm:pt modelId="{86EDE444-6D55-4638-AF1C-ABF98A2D06DE}" type="parTrans" cxnId="{3DDB1BC8-E1E0-4112-992A-E817FB4CDFD4}">
      <dgm:prSet/>
      <dgm:spPr/>
      <dgm:t>
        <a:bodyPr/>
        <a:lstStyle/>
        <a:p>
          <a:endParaRPr lang="fr-FR"/>
        </a:p>
      </dgm:t>
    </dgm:pt>
    <dgm:pt modelId="{B23E8656-56BC-4CB7-82D9-6CC11156458B}" type="sibTrans" cxnId="{3DDB1BC8-E1E0-4112-992A-E817FB4CDFD4}">
      <dgm:prSet/>
      <dgm:spPr/>
      <dgm:t>
        <a:bodyPr/>
        <a:lstStyle/>
        <a:p>
          <a:endParaRPr lang="fr-FR"/>
        </a:p>
      </dgm:t>
    </dgm:pt>
    <dgm:pt modelId="{D1BC59BB-445C-41BD-A81A-2785AFA6841C}">
      <dgm:prSet phldrT="[Text]" phldr="0"/>
      <dgm:spPr/>
      <dgm:t>
        <a:bodyPr/>
        <a:lstStyle/>
        <a:p>
          <a:r>
            <a:rPr lang="fr-FR" dirty="0"/>
            <a:t>Fusion train/test</a:t>
          </a:r>
        </a:p>
      </dgm:t>
    </dgm:pt>
    <dgm:pt modelId="{4E829C0B-9A73-4771-9C12-4D80BEA8D172}" type="parTrans" cxnId="{537B65A0-BD86-47AF-947E-61C481289975}">
      <dgm:prSet/>
      <dgm:spPr/>
      <dgm:t>
        <a:bodyPr/>
        <a:lstStyle/>
        <a:p>
          <a:endParaRPr lang="fr-FR"/>
        </a:p>
      </dgm:t>
    </dgm:pt>
    <dgm:pt modelId="{D177F1EC-80B4-485E-B3E5-62EDC59E917E}" type="sibTrans" cxnId="{537B65A0-BD86-47AF-947E-61C481289975}">
      <dgm:prSet/>
      <dgm:spPr/>
      <dgm:t>
        <a:bodyPr/>
        <a:lstStyle/>
        <a:p>
          <a:endParaRPr lang="fr-FR"/>
        </a:p>
      </dgm:t>
    </dgm:pt>
    <dgm:pt modelId="{6C9A2D9D-12C8-44CC-BE45-1D786E45B85B}">
      <dgm:prSet phldrT="[Text]" phldr="0"/>
      <dgm:spPr/>
      <dgm:t>
        <a:bodyPr/>
        <a:lstStyle/>
        <a:p>
          <a:r>
            <a:rPr lang="fr-FR" dirty="0" err="1"/>
            <a:t>Ecodage</a:t>
          </a:r>
          <a:r>
            <a:rPr lang="fr-FR" dirty="0"/>
            <a:t> des variables catégorielles</a:t>
          </a:r>
        </a:p>
      </dgm:t>
    </dgm:pt>
    <dgm:pt modelId="{F049D64F-C358-4348-94A7-91398B7DB3E3}" type="parTrans" cxnId="{6E37BCF1-00DB-4E5D-852F-CAE192DD2793}">
      <dgm:prSet/>
      <dgm:spPr/>
      <dgm:t>
        <a:bodyPr/>
        <a:lstStyle/>
        <a:p>
          <a:endParaRPr lang="fr-FR"/>
        </a:p>
      </dgm:t>
    </dgm:pt>
    <dgm:pt modelId="{29885D3C-8DA9-4CE3-B27E-08F8BEEC0364}" type="sibTrans" cxnId="{6E37BCF1-00DB-4E5D-852F-CAE192DD2793}">
      <dgm:prSet/>
      <dgm:spPr/>
      <dgm:t>
        <a:bodyPr/>
        <a:lstStyle/>
        <a:p>
          <a:endParaRPr lang="fr-FR"/>
        </a:p>
      </dgm:t>
    </dgm:pt>
    <dgm:pt modelId="{0D61E027-BB1E-4366-97D5-057090A889A9}">
      <dgm:prSet phldrT="[Text]" phldr="0"/>
      <dgm:spPr/>
      <dgm:t>
        <a:bodyPr/>
        <a:lstStyle/>
        <a:p>
          <a:r>
            <a:rPr lang="fr-FR" dirty="0"/>
            <a:t>FI de base</a:t>
          </a:r>
        </a:p>
      </dgm:t>
    </dgm:pt>
    <dgm:pt modelId="{354E4877-2593-4469-B078-86D9837F5E8B}" type="parTrans" cxnId="{2BCE5057-04A4-4FA5-93FB-DCACD83AF87A}">
      <dgm:prSet/>
      <dgm:spPr/>
      <dgm:t>
        <a:bodyPr/>
        <a:lstStyle/>
        <a:p>
          <a:endParaRPr lang="fr-FR"/>
        </a:p>
      </dgm:t>
    </dgm:pt>
    <dgm:pt modelId="{4843D4C0-72F4-4F2C-A683-69740447BD3D}" type="sibTrans" cxnId="{2BCE5057-04A4-4FA5-93FB-DCACD83AF87A}">
      <dgm:prSet/>
      <dgm:spPr/>
      <dgm:t>
        <a:bodyPr/>
        <a:lstStyle/>
        <a:p>
          <a:endParaRPr lang="fr-FR"/>
        </a:p>
      </dgm:t>
    </dgm:pt>
    <dgm:pt modelId="{F5CFDA85-FEF0-463F-9D72-9731C8B3A640}">
      <dgm:prSet phldrT="[Text]" phldr="0"/>
      <dgm:spPr/>
      <dgm:t>
        <a:bodyPr/>
        <a:lstStyle/>
        <a:p>
          <a:r>
            <a:rPr lang="fr-FR" dirty="0"/>
            <a:t>Nettoyage des valeurs manquantes</a:t>
          </a:r>
        </a:p>
      </dgm:t>
    </dgm:pt>
    <dgm:pt modelId="{F2DF6528-0916-4EE8-A1C4-E5F946482D4F}" type="parTrans" cxnId="{FFDD109B-B864-4A57-815E-DC33909C492B}">
      <dgm:prSet/>
      <dgm:spPr/>
      <dgm:t>
        <a:bodyPr/>
        <a:lstStyle/>
        <a:p>
          <a:endParaRPr lang="fr-FR"/>
        </a:p>
      </dgm:t>
    </dgm:pt>
    <dgm:pt modelId="{A7356FDF-D401-493A-9C0B-C27DE839571C}" type="sibTrans" cxnId="{FFDD109B-B864-4A57-815E-DC33909C492B}">
      <dgm:prSet/>
      <dgm:spPr/>
      <dgm:t>
        <a:bodyPr/>
        <a:lstStyle/>
        <a:p>
          <a:endParaRPr lang="fr-FR"/>
        </a:p>
      </dgm:t>
    </dgm:pt>
    <dgm:pt modelId="{6CBF717D-8763-42DF-9EC1-70A99113B7FA}">
      <dgm:prSet phldrT="[Text]" phldr="0"/>
      <dgm:spPr/>
      <dgm:t>
        <a:bodyPr/>
        <a:lstStyle/>
        <a:p>
          <a:r>
            <a:rPr lang="fr-FR" dirty="0"/>
            <a:t>Intégration des sources secondaires</a:t>
          </a:r>
        </a:p>
      </dgm:t>
    </dgm:pt>
    <dgm:pt modelId="{F1FC2564-B0DC-499C-A1DE-10FD2B4FC1D7}" type="parTrans" cxnId="{1B66602A-3156-4F07-9C00-D619A128A6AD}">
      <dgm:prSet/>
      <dgm:spPr/>
      <dgm:t>
        <a:bodyPr/>
        <a:lstStyle/>
        <a:p>
          <a:endParaRPr lang="fr-FR"/>
        </a:p>
      </dgm:t>
    </dgm:pt>
    <dgm:pt modelId="{3B9F6C95-7173-4832-A5FD-E31D0A2C3DE5}" type="sibTrans" cxnId="{1B66602A-3156-4F07-9C00-D619A128A6AD}">
      <dgm:prSet/>
      <dgm:spPr/>
      <dgm:t>
        <a:bodyPr/>
        <a:lstStyle/>
        <a:p>
          <a:endParaRPr lang="fr-FR"/>
        </a:p>
      </dgm:t>
    </dgm:pt>
    <dgm:pt modelId="{5D558FDC-D21D-4AA5-BF5D-12F637E46CA8}">
      <dgm:prSet phldrT="[Text]" phldr="0"/>
      <dgm:spPr/>
      <dgm:t>
        <a:bodyPr/>
        <a:lstStyle/>
        <a:p>
          <a:r>
            <a:rPr lang="fr-FR" dirty="0"/>
            <a:t>Merge global</a:t>
          </a:r>
        </a:p>
      </dgm:t>
    </dgm:pt>
    <dgm:pt modelId="{772DA252-7FCA-4578-947F-513A860538D5}" type="parTrans" cxnId="{37F66E46-BDA4-44AE-9A90-26161B309DCB}">
      <dgm:prSet/>
      <dgm:spPr/>
      <dgm:t>
        <a:bodyPr/>
        <a:lstStyle/>
        <a:p>
          <a:endParaRPr lang="fr-FR"/>
        </a:p>
      </dgm:t>
    </dgm:pt>
    <dgm:pt modelId="{91C5CA60-0D50-43FE-9719-518150235D34}" type="sibTrans" cxnId="{37F66E46-BDA4-44AE-9A90-26161B309DCB}">
      <dgm:prSet/>
      <dgm:spPr/>
      <dgm:t>
        <a:bodyPr/>
        <a:lstStyle/>
        <a:p>
          <a:endParaRPr lang="fr-FR"/>
        </a:p>
      </dgm:t>
    </dgm:pt>
    <dgm:pt modelId="{85D8D6AD-F309-4EE8-9487-DF9CA3B4F2CB}" type="pres">
      <dgm:prSet presAssocID="{2B41266A-D4D6-47F6-99D0-BD14F8E0FD62}" presName="Name0" presStyleCnt="0">
        <dgm:presLayoutVars>
          <dgm:dir/>
          <dgm:animLvl val="lvl"/>
          <dgm:resizeHandles val="exact"/>
        </dgm:presLayoutVars>
      </dgm:prSet>
      <dgm:spPr/>
    </dgm:pt>
    <dgm:pt modelId="{2583EF23-0AB1-429C-9462-702576A870E8}" type="pres">
      <dgm:prSet presAssocID="{5D558FDC-D21D-4AA5-BF5D-12F637E46CA8}" presName="boxAndChildren" presStyleCnt="0"/>
      <dgm:spPr/>
    </dgm:pt>
    <dgm:pt modelId="{1FC6853A-42AD-4FA6-8661-FB98FB30E5F6}" type="pres">
      <dgm:prSet presAssocID="{5D558FDC-D21D-4AA5-BF5D-12F637E46CA8}" presName="parentTextBox" presStyleLbl="node1" presStyleIdx="0" presStyleCnt="7"/>
      <dgm:spPr/>
    </dgm:pt>
    <dgm:pt modelId="{346D2F58-2AC0-48D9-81E8-6D5628815695}" type="pres">
      <dgm:prSet presAssocID="{3B9F6C95-7173-4832-A5FD-E31D0A2C3DE5}" presName="sp" presStyleCnt="0"/>
      <dgm:spPr/>
    </dgm:pt>
    <dgm:pt modelId="{89D41F83-6263-41D1-B5AF-4B13D8164FE8}" type="pres">
      <dgm:prSet presAssocID="{6CBF717D-8763-42DF-9EC1-70A99113B7FA}" presName="arrowAndChildren" presStyleCnt="0"/>
      <dgm:spPr/>
    </dgm:pt>
    <dgm:pt modelId="{08CC7B77-766C-4369-A59D-E8EDAF802EB9}" type="pres">
      <dgm:prSet presAssocID="{6CBF717D-8763-42DF-9EC1-70A99113B7FA}" presName="parentTextArrow" presStyleLbl="node1" presStyleIdx="1" presStyleCnt="7"/>
      <dgm:spPr/>
    </dgm:pt>
    <dgm:pt modelId="{DC7F5C54-9966-40F7-8936-B79B40A65169}" type="pres">
      <dgm:prSet presAssocID="{A7356FDF-D401-493A-9C0B-C27DE839571C}" presName="sp" presStyleCnt="0"/>
      <dgm:spPr/>
    </dgm:pt>
    <dgm:pt modelId="{CC1E4635-4E3F-440A-954B-E1097953FBF5}" type="pres">
      <dgm:prSet presAssocID="{F5CFDA85-FEF0-463F-9D72-9731C8B3A640}" presName="arrowAndChildren" presStyleCnt="0"/>
      <dgm:spPr/>
    </dgm:pt>
    <dgm:pt modelId="{274B9CCB-50E4-40D9-9558-3633E313F402}" type="pres">
      <dgm:prSet presAssocID="{F5CFDA85-FEF0-463F-9D72-9731C8B3A640}" presName="parentTextArrow" presStyleLbl="node1" presStyleIdx="2" presStyleCnt="7"/>
      <dgm:spPr/>
    </dgm:pt>
    <dgm:pt modelId="{3E4CC0A4-F750-43A2-ADF4-36DBEB5BF329}" type="pres">
      <dgm:prSet presAssocID="{4843D4C0-72F4-4F2C-A683-69740447BD3D}" presName="sp" presStyleCnt="0"/>
      <dgm:spPr/>
    </dgm:pt>
    <dgm:pt modelId="{994C3ACC-16F4-44DA-AF54-806F065336CB}" type="pres">
      <dgm:prSet presAssocID="{0D61E027-BB1E-4366-97D5-057090A889A9}" presName="arrowAndChildren" presStyleCnt="0"/>
      <dgm:spPr/>
    </dgm:pt>
    <dgm:pt modelId="{33935F67-8921-476C-BB28-B446FAF8545F}" type="pres">
      <dgm:prSet presAssocID="{0D61E027-BB1E-4366-97D5-057090A889A9}" presName="parentTextArrow" presStyleLbl="node1" presStyleIdx="3" presStyleCnt="7"/>
      <dgm:spPr/>
    </dgm:pt>
    <dgm:pt modelId="{181AE9EF-86BA-40B5-A87C-84D689C2C6B5}" type="pres">
      <dgm:prSet presAssocID="{29885D3C-8DA9-4CE3-B27E-08F8BEEC0364}" presName="sp" presStyleCnt="0"/>
      <dgm:spPr/>
    </dgm:pt>
    <dgm:pt modelId="{8ECC10A6-3307-4C75-A9B9-68DAC75D27FC}" type="pres">
      <dgm:prSet presAssocID="{6C9A2D9D-12C8-44CC-BE45-1D786E45B85B}" presName="arrowAndChildren" presStyleCnt="0"/>
      <dgm:spPr/>
    </dgm:pt>
    <dgm:pt modelId="{666322E2-DD1D-49D0-984C-2D02F2777BA6}" type="pres">
      <dgm:prSet presAssocID="{6C9A2D9D-12C8-44CC-BE45-1D786E45B85B}" presName="parentTextArrow" presStyleLbl="node1" presStyleIdx="4" presStyleCnt="7"/>
      <dgm:spPr/>
    </dgm:pt>
    <dgm:pt modelId="{0CDD4AFA-C417-4B39-83AB-1CA7A82BADF0}" type="pres">
      <dgm:prSet presAssocID="{D177F1EC-80B4-485E-B3E5-62EDC59E917E}" presName="sp" presStyleCnt="0"/>
      <dgm:spPr/>
    </dgm:pt>
    <dgm:pt modelId="{B185C1BA-D19E-49AF-AE04-88686A9F9E80}" type="pres">
      <dgm:prSet presAssocID="{D1BC59BB-445C-41BD-A81A-2785AFA6841C}" presName="arrowAndChildren" presStyleCnt="0"/>
      <dgm:spPr/>
    </dgm:pt>
    <dgm:pt modelId="{CF06915D-710C-4BF5-95E2-A6E30EBDE72E}" type="pres">
      <dgm:prSet presAssocID="{D1BC59BB-445C-41BD-A81A-2785AFA6841C}" presName="parentTextArrow" presStyleLbl="node1" presStyleIdx="5" presStyleCnt="7"/>
      <dgm:spPr/>
    </dgm:pt>
    <dgm:pt modelId="{4699ED67-7FBA-4237-91B3-778F9017AC41}" type="pres">
      <dgm:prSet presAssocID="{B23E8656-56BC-4CB7-82D9-6CC11156458B}" presName="sp" presStyleCnt="0"/>
      <dgm:spPr/>
    </dgm:pt>
    <dgm:pt modelId="{84D5E7DA-ED40-44C1-9231-95DEDA5A93AB}" type="pres">
      <dgm:prSet presAssocID="{8B3B3074-0311-42D4-A572-AFAAEC24E0E4}" presName="arrowAndChildren" presStyleCnt="0"/>
      <dgm:spPr/>
    </dgm:pt>
    <dgm:pt modelId="{A6DCDC7C-DE6E-4286-BB7F-607FC537C6E1}" type="pres">
      <dgm:prSet presAssocID="{8B3B3074-0311-42D4-A572-AFAAEC24E0E4}" presName="parentTextArrow" presStyleLbl="node1" presStyleIdx="6" presStyleCnt="7"/>
      <dgm:spPr/>
    </dgm:pt>
  </dgm:ptLst>
  <dgm:cxnLst>
    <dgm:cxn modelId="{0D40F609-AE46-4561-9763-40DDAC33DC15}" type="presOf" srcId="{2B41266A-D4D6-47F6-99D0-BD14F8E0FD62}" destId="{85D8D6AD-F309-4EE8-9487-DF9CA3B4F2CB}" srcOrd="0" destOrd="0" presId="urn:microsoft.com/office/officeart/2005/8/layout/process4"/>
    <dgm:cxn modelId="{1B66602A-3156-4F07-9C00-D619A128A6AD}" srcId="{2B41266A-D4D6-47F6-99D0-BD14F8E0FD62}" destId="{6CBF717D-8763-42DF-9EC1-70A99113B7FA}" srcOrd="5" destOrd="0" parTransId="{F1FC2564-B0DC-499C-A1DE-10FD2B4FC1D7}" sibTransId="{3B9F6C95-7173-4832-A5FD-E31D0A2C3DE5}"/>
    <dgm:cxn modelId="{700F965B-5E6D-415B-B1DE-845AFADE403D}" type="presOf" srcId="{6CBF717D-8763-42DF-9EC1-70A99113B7FA}" destId="{08CC7B77-766C-4369-A59D-E8EDAF802EB9}" srcOrd="0" destOrd="0" presId="urn:microsoft.com/office/officeart/2005/8/layout/process4"/>
    <dgm:cxn modelId="{C761A85D-CBA9-4BF6-A51C-DC9AFDAE7C6B}" type="presOf" srcId="{F5CFDA85-FEF0-463F-9D72-9731C8B3A640}" destId="{274B9CCB-50E4-40D9-9558-3633E313F402}" srcOrd="0" destOrd="0" presId="urn:microsoft.com/office/officeart/2005/8/layout/process4"/>
    <dgm:cxn modelId="{37F66E46-BDA4-44AE-9A90-26161B309DCB}" srcId="{2B41266A-D4D6-47F6-99D0-BD14F8E0FD62}" destId="{5D558FDC-D21D-4AA5-BF5D-12F637E46CA8}" srcOrd="6" destOrd="0" parTransId="{772DA252-7FCA-4578-947F-513A860538D5}" sibTransId="{91C5CA60-0D50-43FE-9719-518150235D34}"/>
    <dgm:cxn modelId="{7CBE8449-EDEA-4CB7-9375-09483D7852F6}" type="presOf" srcId="{6C9A2D9D-12C8-44CC-BE45-1D786E45B85B}" destId="{666322E2-DD1D-49D0-984C-2D02F2777BA6}" srcOrd="0" destOrd="0" presId="urn:microsoft.com/office/officeart/2005/8/layout/process4"/>
    <dgm:cxn modelId="{7BE9FC4B-1744-41CD-96DC-E4835DED8EAB}" type="presOf" srcId="{D1BC59BB-445C-41BD-A81A-2785AFA6841C}" destId="{CF06915D-710C-4BF5-95E2-A6E30EBDE72E}" srcOrd="0" destOrd="0" presId="urn:microsoft.com/office/officeart/2005/8/layout/process4"/>
    <dgm:cxn modelId="{2BCE5057-04A4-4FA5-93FB-DCACD83AF87A}" srcId="{2B41266A-D4D6-47F6-99D0-BD14F8E0FD62}" destId="{0D61E027-BB1E-4366-97D5-057090A889A9}" srcOrd="3" destOrd="0" parTransId="{354E4877-2593-4469-B078-86D9837F5E8B}" sibTransId="{4843D4C0-72F4-4F2C-A683-69740447BD3D}"/>
    <dgm:cxn modelId="{FD738478-3637-4838-8469-0B4F1BDF2A10}" type="presOf" srcId="{0D61E027-BB1E-4366-97D5-057090A889A9}" destId="{33935F67-8921-476C-BB28-B446FAF8545F}" srcOrd="0" destOrd="0" presId="urn:microsoft.com/office/officeart/2005/8/layout/process4"/>
    <dgm:cxn modelId="{FFDD109B-B864-4A57-815E-DC33909C492B}" srcId="{2B41266A-D4D6-47F6-99D0-BD14F8E0FD62}" destId="{F5CFDA85-FEF0-463F-9D72-9731C8B3A640}" srcOrd="4" destOrd="0" parTransId="{F2DF6528-0916-4EE8-A1C4-E5F946482D4F}" sibTransId="{A7356FDF-D401-493A-9C0B-C27DE839571C}"/>
    <dgm:cxn modelId="{537B65A0-BD86-47AF-947E-61C481289975}" srcId="{2B41266A-D4D6-47F6-99D0-BD14F8E0FD62}" destId="{D1BC59BB-445C-41BD-A81A-2785AFA6841C}" srcOrd="1" destOrd="0" parTransId="{4E829C0B-9A73-4771-9C12-4D80BEA8D172}" sibTransId="{D177F1EC-80B4-485E-B3E5-62EDC59E917E}"/>
    <dgm:cxn modelId="{8018ACAE-9CD0-47E0-96C8-B1A19036D1F4}" type="presOf" srcId="{5D558FDC-D21D-4AA5-BF5D-12F637E46CA8}" destId="{1FC6853A-42AD-4FA6-8661-FB98FB30E5F6}" srcOrd="0" destOrd="0" presId="urn:microsoft.com/office/officeart/2005/8/layout/process4"/>
    <dgm:cxn modelId="{7AE8DFB5-7B1B-42E2-8D7F-4A2771FCEE4D}" type="presOf" srcId="{8B3B3074-0311-42D4-A572-AFAAEC24E0E4}" destId="{A6DCDC7C-DE6E-4286-BB7F-607FC537C6E1}" srcOrd="0" destOrd="0" presId="urn:microsoft.com/office/officeart/2005/8/layout/process4"/>
    <dgm:cxn modelId="{3DDB1BC8-E1E0-4112-992A-E817FB4CDFD4}" srcId="{2B41266A-D4D6-47F6-99D0-BD14F8E0FD62}" destId="{8B3B3074-0311-42D4-A572-AFAAEC24E0E4}" srcOrd="0" destOrd="0" parTransId="{86EDE444-6D55-4638-AF1C-ABF98A2D06DE}" sibTransId="{B23E8656-56BC-4CB7-82D9-6CC11156458B}"/>
    <dgm:cxn modelId="{6E37BCF1-00DB-4E5D-852F-CAE192DD2793}" srcId="{2B41266A-D4D6-47F6-99D0-BD14F8E0FD62}" destId="{6C9A2D9D-12C8-44CC-BE45-1D786E45B85B}" srcOrd="2" destOrd="0" parTransId="{F049D64F-C358-4348-94A7-91398B7DB3E3}" sibTransId="{29885D3C-8DA9-4CE3-B27E-08F8BEEC0364}"/>
    <dgm:cxn modelId="{55A89EF1-9114-47B7-B41A-879ED69540B3}" type="presParOf" srcId="{85D8D6AD-F309-4EE8-9487-DF9CA3B4F2CB}" destId="{2583EF23-0AB1-429C-9462-702576A870E8}" srcOrd="0" destOrd="0" presId="urn:microsoft.com/office/officeart/2005/8/layout/process4"/>
    <dgm:cxn modelId="{8B8A03C8-190E-49D3-B599-F85A78691D45}" type="presParOf" srcId="{2583EF23-0AB1-429C-9462-702576A870E8}" destId="{1FC6853A-42AD-4FA6-8661-FB98FB30E5F6}" srcOrd="0" destOrd="0" presId="urn:microsoft.com/office/officeart/2005/8/layout/process4"/>
    <dgm:cxn modelId="{3D3A095B-1971-4BDA-A344-AB3EA0AD10F3}" type="presParOf" srcId="{85D8D6AD-F309-4EE8-9487-DF9CA3B4F2CB}" destId="{346D2F58-2AC0-48D9-81E8-6D5628815695}" srcOrd="1" destOrd="0" presId="urn:microsoft.com/office/officeart/2005/8/layout/process4"/>
    <dgm:cxn modelId="{1D176459-3C64-4A7C-8C70-F1C9DE5812BD}" type="presParOf" srcId="{85D8D6AD-F309-4EE8-9487-DF9CA3B4F2CB}" destId="{89D41F83-6263-41D1-B5AF-4B13D8164FE8}" srcOrd="2" destOrd="0" presId="urn:microsoft.com/office/officeart/2005/8/layout/process4"/>
    <dgm:cxn modelId="{7DB91229-449C-4C0D-831E-343A856ACDD8}" type="presParOf" srcId="{89D41F83-6263-41D1-B5AF-4B13D8164FE8}" destId="{08CC7B77-766C-4369-A59D-E8EDAF802EB9}" srcOrd="0" destOrd="0" presId="urn:microsoft.com/office/officeart/2005/8/layout/process4"/>
    <dgm:cxn modelId="{0801AF27-68AA-4770-8796-923909543FF9}" type="presParOf" srcId="{85D8D6AD-F309-4EE8-9487-DF9CA3B4F2CB}" destId="{DC7F5C54-9966-40F7-8936-B79B40A65169}" srcOrd="3" destOrd="0" presId="urn:microsoft.com/office/officeart/2005/8/layout/process4"/>
    <dgm:cxn modelId="{199ABEAB-967F-44A1-8BFD-08DF6A97FF49}" type="presParOf" srcId="{85D8D6AD-F309-4EE8-9487-DF9CA3B4F2CB}" destId="{CC1E4635-4E3F-440A-954B-E1097953FBF5}" srcOrd="4" destOrd="0" presId="urn:microsoft.com/office/officeart/2005/8/layout/process4"/>
    <dgm:cxn modelId="{CE7CC010-28C3-4206-8B90-36B752E0B8D0}" type="presParOf" srcId="{CC1E4635-4E3F-440A-954B-E1097953FBF5}" destId="{274B9CCB-50E4-40D9-9558-3633E313F402}" srcOrd="0" destOrd="0" presId="urn:microsoft.com/office/officeart/2005/8/layout/process4"/>
    <dgm:cxn modelId="{5EAB467F-D213-4111-ABC6-4FCACA36C5D4}" type="presParOf" srcId="{85D8D6AD-F309-4EE8-9487-DF9CA3B4F2CB}" destId="{3E4CC0A4-F750-43A2-ADF4-36DBEB5BF329}" srcOrd="5" destOrd="0" presId="urn:microsoft.com/office/officeart/2005/8/layout/process4"/>
    <dgm:cxn modelId="{B0C6FB34-E4F5-4C91-A0DD-D9E51EABF800}" type="presParOf" srcId="{85D8D6AD-F309-4EE8-9487-DF9CA3B4F2CB}" destId="{994C3ACC-16F4-44DA-AF54-806F065336CB}" srcOrd="6" destOrd="0" presId="urn:microsoft.com/office/officeart/2005/8/layout/process4"/>
    <dgm:cxn modelId="{1F863938-91EA-4903-841A-948E0CDDB20D}" type="presParOf" srcId="{994C3ACC-16F4-44DA-AF54-806F065336CB}" destId="{33935F67-8921-476C-BB28-B446FAF8545F}" srcOrd="0" destOrd="0" presId="urn:microsoft.com/office/officeart/2005/8/layout/process4"/>
    <dgm:cxn modelId="{DD001188-046A-4F16-96AE-8AC2FA0F0081}" type="presParOf" srcId="{85D8D6AD-F309-4EE8-9487-DF9CA3B4F2CB}" destId="{181AE9EF-86BA-40B5-A87C-84D689C2C6B5}" srcOrd="7" destOrd="0" presId="urn:microsoft.com/office/officeart/2005/8/layout/process4"/>
    <dgm:cxn modelId="{9A72D616-9657-4FCD-A41E-B9F764A1AFD5}" type="presParOf" srcId="{85D8D6AD-F309-4EE8-9487-DF9CA3B4F2CB}" destId="{8ECC10A6-3307-4C75-A9B9-68DAC75D27FC}" srcOrd="8" destOrd="0" presId="urn:microsoft.com/office/officeart/2005/8/layout/process4"/>
    <dgm:cxn modelId="{6D02BF20-FFF3-4AB4-BF96-C203DAA40B9B}" type="presParOf" srcId="{8ECC10A6-3307-4C75-A9B9-68DAC75D27FC}" destId="{666322E2-DD1D-49D0-984C-2D02F2777BA6}" srcOrd="0" destOrd="0" presId="urn:microsoft.com/office/officeart/2005/8/layout/process4"/>
    <dgm:cxn modelId="{F6390CA1-5A85-4D4E-8CDD-03FD6595CAE4}" type="presParOf" srcId="{85D8D6AD-F309-4EE8-9487-DF9CA3B4F2CB}" destId="{0CDD4AFA-C417-4B39-83AB-1CA7A82BADF0}" srcOrd="9" destOrd="0" presId="urn:microsoft.com/office/officeart/2005/8/layout/process4"/>
    <dgm:cxn modelId="{DFD83B8B-8F1F-405A-96BC-9D4BFC794E4B}" type="presParOf" srcId="{85D8D6AD-F309-4EE8-9487-DF9CA3B4F2CB}" destId="{B185C1BA-D19E-49AF-AE04-88686A9F9E80}" srcOrd="10" destOrd="0" presId="urn:microsoft.com/office/officeart/2005/8/layout/process4"/>
    <dgm:cxn modelId="{81215420-1B81-4B71-A6F0-2A348A7274EE}" type="presParOf" srcId="{B185C1BA-D19E-49AF-AE04-88686A9F9E80}" destId="{CF06915D-710C-4BF5-95E2-A6E30EBDE72E}" srcOrd="0" destOrd="0" presId="urn:microsoft.com/office/officeart/2005/8/layout/process4"/>
    <dgm:cxn modelId="{BDA6853C-C619-4AEA-AFAB-49B32C434163}" type="presParOf" srcId="{85D8D6AD-F309-4EE8-9487-DF9CA3B4F2CB}" destId="{4699ED67-7FBA-4237-91B3-778F9017AC41}" srcOrd="11" destOrd="0" presId="urn:microsoft.com/office/officeart/2005/8/layout/process4"/>
    <dgm:cxn modelId="{E841D9D2-E081-4BB4-92D5-2BD21E54AA95}" type="presParOf" srcId="{85D8D6AD-F309-4EE8-9487-DF9CA3B4F2CB}" destId="{84D5E7DA-ED40-44C1-9231-95DEDA5A93AB}" srcOrd="12" destOrd="0" presId="urn:microsoft.com/office/officeart/2005/8/layout/process4"/>
    <dgm:cxn modelId="{6D79215B-F478-4192-AE94-CAF40631709F}" type="presParOf" srcId="{84D5E7DA-ED40-44C1-9231-95DEDA5A93AB}" destId="{A6DCDC7C-DE6E-4286-BB7F-607FC537C6E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41266A-D4D6-47F6-99D0-BD14F8E0FD62}" type="doc">
      <dgm:prSet loTypeId="urn:microsoft.com/office/officeart/2005/8/layout/process4" loCatId="process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fr-FR"/>
        </a:p>
      </dgm:t>
    </dgm:pt>
    <dgm:pt modelId="{8B3B3074-0311-42D4-A572-AFAAEC24E0E4}">
      <dgm:prSet phldrT="[Text]" phldr="0"/>
      <dgm:spPr/>
      <dgm:t>
        <a:bodyPr/>
        <a:lstStyle/>
        <a:p>
          <a:r>
            <a:rPr lang="fr-FR" dirty="0"/>
            <a:t>Nettoyage initial</a:t>
          </a:r>
        </a:p>
      </dgm:t>
    </dgm:pt>
    <dgm:pt modelId="{86EDE444-6D55-4638-AF1C-ABF98A2D06DE}" type="parTrans" cxnId="{3DDB1BC8-E1E0-4112-992A-E817FB4CDFD4}">
      <dgm:prSet/>
      <dgm:spPr/>
      <dgm:t>
        <a:bodyPr/>
        <a:lstStyle/>
        <a:p>
          <a:endParaRPr lang="fr-FR"/>
        </a:p>
      </dgm:t>
    </dgm:pt>
    <dgm:pt modelId="{B23E8656-56BC-4CB7-82D9-6CC11156458B}" type="sibTrans" cxnId="{3DDB1BC8-E1E0-4112-992A-E817FB4CDFD4}">
      <dgm:prSet/>
      <dgm:spPr/>
      <dgm:t>
        <a:bodyPr/>
        <a:lstStyle/>
        <a:p>
          <a:endParaRPr lang="fr-FR"/>
        </a:p>
      </dgm:t>
    </dgm:pt>
    <dgm:pt modelId="{D1BC59BB-445C-41BD-A81A-2785AFA6841C}">
      <dgm:prSet phldrT="[Text]" phldr="0"/>
      <dgm:spPr/>
      <dgm:t>
        <a:bodyPr/>
        <a:lstStyle/>
        <a:p>
          <a:r>
            <a:rPr lang="fr-FR" dirty="0"/>
            <a:t>Fusion train/test</a:t>
          </a:r>
        </a:p>
      </dgm:t>
    </dgm:pt>
    <dgm:pt modelId="{4E829C0B-9A73-4771-9C12-4D80BEA8D172}" type="parTrans" cxnId="{537B65A0-BD86-47AF-947E-61C481289975}">
      <dgm:prSet/>
      <dgm:spPr/>
      <dgm:t>
        <a:bodyPr/>
        <a:lstStyle/>
        <a:p>
          <a:endParaRPr lang="fr-FR"/>
        </a:p>
      </dgm:t>
    </dgm:pt>
    <dgm:pt modelId="{D177F1EC-80B4-485E-B3E5-62EDC59E917E}" type="sibTrans" cxnId="{537B65A0-BD86-47AF-947E-61C481289975}">
      <dgm:prSet/>
      <dgm:spPr/>
      <dgm:t>
        <a:bodyPr/>
        <a:lstStyle/>
        <a:p>
          <a:endParaRPr lang="fr-FR"/>
        </a:p>
      </dgm:t>
    </dgm:pt>
    <dgm:pt modelId="{6C9A2D9D-12C8-44CC-BE45-1D786E45B85B}">
      <dgm:prSet phldrT="[Text]" phldr="0"/>
      <dgm:spPr/>
      <dgm:t>
        <a:bodyPr/>
        <a:lstStyle/>
        <a:p>
          <a:r>
            <a:rPr lang="fr-FR" dirty="0" err="1"/>
            <a:t>Ecodage</a:t>
          </a:r>
          <a:r>
            <a:rPr lang="fr-FR" dirty="0"/>
            <a:t> des variables catégorielles</a:t>
          </a:r>
        </a:p>
      </dgm:t>
    </dgm:pt>
    <dgm:pt modelId="{F049D64F-C358-4348-94A7-91398B7DB3E3}" type="parTrans" cxnId="{6E37BCF1-00DB-4E5D-852F-CAE192DD2793}">
      <dgm:prSet/>
      <dgm:spPr/>
      <dgm:t>
        <a:bodyPr/>
        <a:lstStyle/>
        <a:p>
          <a:endParaRPr lang="fr-FR"/>
        </a:p>
      </dgm:t>
    </dgm:pt>
    <dgm:pt modelId="{29885D3C-8DA9-4CE3-B27E-08F8BEEC0364}" type="sibTrans" cxnId="{6E37BCF1-00DB-4E5D-852F-CAE192DD2793}">
      <dgm:prSet/>
      <dgm:spPr/>
      <dgm:t>
        <a:bodyPr/>
        <a:lstStyle/>
        <a:p>
          <a:endParaRPr lang="fr-FR"/>
        </a:p>
      </dgm:t>
    </dgm:pt>
    <dgm:pt modelId="{0D61E027-BB1E-4366-97D5-057090A889A9}">
      <dgm:prSet phldrT="[Text]" phldr="0"/>
      <dgm:spPr/>
      <dgm:t>
        <a:bodyPr/>
        <a:lstStyle/>
        <a:p>
          <a:r>
            <a:rPr lang="fr-FR" dirty="0"/>
            <a:t>FI de base</a:t>
          </a:r>
        </a:p>
      </dgm:t>
    </dgm:pt>
    <dgm:pt modelId="{354E4877-2593-4469-B078-86D9837F5E8B}" type="parTrans" cxnId="{2BCE5057-04A4-4FA5-93FB-DCACD83AF87A}">
      <dgm:prSet/>
      <dgm:spPr/>
      <dgm:t>
        <a:bodyPr/>
        <a:lstStyle/>
        <a:p>
          <a:endParaRPr lang="fr-FR"/>
        </a:p>
      </dgm:t>
    </dgm:pt>
    <dgm:pt modelId="{4843D4C0-72F4-4F2C-A683-69740447BD3D}" type="sibTrans" cxnId="{2BCE5057-04A4-4FA5-93FB-DCACD83AF87A}">
      <dgm:prSet/>
      <dgm:spPr/>
      <dgm:t>
        <a:bodyPr/>
        <a:lstStyle/>
        <a:p>
          <a:endParaRPr lang="fr-FR"/>
        </a:p>
      </dgm:t>
    </dgm:pt>
    <dgm:pt modelId="{F5CFDA85-FEF0-463F-9D72-9731C8B3A640}">
      <dgm:prSet phldrT="[Text]" phldr="0"/>
      <dgm:spPr/>
      <dgm:t>
        <a:bodyPr/>
        <a:lstStyle/>
        <a:p>
          <a:r>
            <a:rPr lang="fr-FR" dirty="0"/>
            <a:t>Nettoyage des valeurs manquantes</a:t>
          </a:r>
        </a:p>
      </dgm:t>
    </dgm:pt>
    <dgm:pt modelId="{F2DF6528-0916-4EE8-A1C4-E5F946482D4F}" type="parTrans" cxnId="{FFDD109B-B864-4A57-815E-DC33909C492B}">
      <dgm:prSet/>
      <dgm:spPr/>
      <dgm:t>
        <a:bodyPr/>
        <a:lstStyle/>
        <a:p>
          <a:endParaRPr lang="fr-FR"/>
        </a:p>
      </dgm:t>
    </dgm:pt>
    <dgm:pt modelId="{A7356FDF-D401-493A-9C0B-C27DE839571C}" type="sibTrans" cxnId="{FFDD109B-B864-4A57-815E-DC33909C492B}">
      <dgm:prSet/>
      <dgm:spPr/>
      <dgm:t>
        <a:bodyPr/>
        <a:lstStyle/>
        <a:p>
          <a:endParaRPr lang="fr-FR"/>
        </a:p>
      </dgm:t>
    </dgm:pt>
    <dgm:pt modelId="{6CBF717D-8763-42DF-9EC1-70A99113B7FA}">
      <dgm:prSet phldrT="[Text]" phldr="0"/>
      <dgm:spPr/>
      <dgm:t>
        <a:bodyPr/>
        <a:lstStyle/>
        <a:p>
          <a:r>
            <a:rPr lang="fr-FR" dirty="0"/>
            <a:t>Intégration des sources secondaires</a:t>
          </a:r>
        </a:p>
      </dgm:t>
    </dgm:pt>
    <dgm:pt modelId="{F1FC2564-B0DC-499C-A1DE-10FD2B4FC1D7}" type="parTrans" cxnId="{1B66602A-3156-4F07-9C00-D619A128A6AD}">
      <dgm:prSet/>
      <dgm:spPr/>
      <dgm:t>
        <a:bodyPr/>
        <a:lstStyle/>
        <a:p>
          <a:endParaRPr lang="fr-FR"/>
        </a:p>
      </dgm:t>
    </dgm:pt>
    <dgm:pt modelId="{3B9F6C95-7173-4832-A5FD-E31D0A2C3DE5}" type="sibTrans" cxnId="{1B66602A-3156-4F07-9C00-D619A128A6AD}">
      <dgm:prSet/>
      <dgm:spPr/>
      <dgm:t>
        <a:bodyPr/>
        <a:lstStyle/>
        <a:p>
          <a:endParaRPr lang="fr-FR"/>
        </a:p>
      </dgm:t>
    </dgm:pt>
    <dgm:pt modelId="{5D558FDC-D21D-4AA5-BF5D-12F637E46CA8}">
      <dgm:prSet phldrT="[Text]" phldr="0"/>
      <dgm:spPr/>
      <dgm:t>
        <a:bodyPr/>
        <a:lstStyle/>
        <a:p>
          <a:r>
            <a:rPr lang="fr-FR" dirty="0"/>
            <a:t>Merge global</a:t>
          </a:r>
        </a:p>
      </dgm:t>
    </dgm:pt>
    <dgm:pt modelId="{772DA252-7FCA-4578-947F-513A860538D5}" type="parTrans" cxnId="{37F66E46-BDA4-44AE-9A90-26161B309DCB}">
      <dgm:prSet/>
      <dgm:spPr/>
      <dgm:t>
        <a:bodyPr/>
        <a:lstStyle/>
        <a:p>
          <a:endParaRPr lang="fr-FR"/>
        </a:p>
      </dgm:t>
    </dgm:pt>
    <dgm:pt modelId="{91C5CA60-0D50-43FE-9719-518150235D34}" type="sibTrans" cxnId="{37F66E46-BDA4-44AE-9A90-26161B309DCB}">
      <dgm:prSet/>
      <dgm:spPr/>
      <dgm:t>
        <a:bodyPr/>
        <a:lstStyle/>
        <a:p>
          <a:endParaRPr lang="fr-FR"/>
        </a:p>
      </dgm:t>
    </dgm:pt>
    <dgm:pt modelId="{85D8D6AD-F309-4EE8-9487-DF9CA3B4F2CB}" type="pres">
      <dgm:prSet presAssocID="{2B41266A-D4D6-47F6-99D0-BD14F8E0FD62}" presName="Name0" presStyleCnt="0">
        <dgm:presLayoutVars>
          <dgm:dir/>
          <dgm:animLvl val="lvl"/>
          <dgm:resizeHandles val="exact"/>
        </dgm:presLayoutVars>
      </dgm:prSet>
      <dgm:spPr/>
    </dgm:pt>
    <dgm:pt modelId="{2583EF23-0AB1-429C-9462-702576A870E8}" type="pres">
      <dgm:prSet presAssocID="{5D558FDC-D21D-4AA5-BF5D-12F637E46CA8}" presName="boxAndChildren" presStyleCnt="0"/>
      <dgm:spPr/>
    </dgm:pt>
    <dgm:pt modelId="{1FC6853A-42AD-4FA6-8661-FB98FB30E5F6}" type="pres">
      <dgm:prSet presAssocID="{5D558FDC-D21D-4AA5-BF5D-12F637E46CA8}" presName="parentTextBox" presStyleLbl="node1" presStyleIdx="0" presStyleCnt="7"/>
      <dgm:spPr/>
    </dgm:pt>
    <dgm:pt modelId="{346D2F58-2AC0-48D9-81E8-6D5628815695}" type="pres">
      <dgm:prSet presAssocID="{3B9F6C95-7173-4832-A5FD-E31D0A2C3DE5}" presName="sp" presStyleCnt="0"/>
      <dgm:spPr/>
    </dgm:pt>
    <dgm:pt modelId="{89D41F83-6263-41D1-B5AF-4B13D8164FE8}" type="pres">
      <dgm:prSet presAssocID="{6CBF717D-8763-42DF-9EC1-70A99113B7FA}" presName="arrowAndChildren" presStyleCnt="0"/>
      <dgm:spPr/>
    </dgm:pt>
    <dgm:pt modelId="{08CC7B77-766C-4369-A59D-E8EDAF802EB9}" type="pres">
      <dgm:prSet presAssocID="{6CBF717D-8763-42DF-9EC1-70A99113B7FA}" presName="parentTextArrow" presStyleLbl="node1" presStyleIdx="1" presStyleCnt="7"/>
      <dgm:spPr/>
    </dgm:pt>
    <dgm:pt modelId="{DC7F5C54-9966-40F7-8936-B79B40A65169}" type="pres">
      <dgm:prSet presAssocID="{A7356FDF-D401-493A-9C0B-C27DE839571C}" presName="sp" presStyleCnt="0"/>
      <dgm:spPr/>
    </dgm:pt>
    <dgm:pt modelId="{CC1E4635-4E3F-440A-954B-E1097953FBF5}" type="pres">
      <dgm:prSet presAssocID="{F5CFDA85-FEF0-463F-9D72-9731C8B3A640}" presName="arrowAndChildren" presStyleCnt="0"/>
      <dgm:spPr/>
    </dgm:pt>
    <dgm:pt modelId="{274B9CCB-50E4-40D9-9558-3633E313F402}" type="pres">
      <dgm:prSet presAssocID="{F5CFDA85-FEF0-463F-9D72-9731C8B3A640}" presName="parentTextArrow" presStyleLbl="node1" presStyleIdx="2" presStyleCnt="7"/>
      <dgm:spPr/>
    </dgm:pt>
    <dgm:pt modelId="{3E4CC0A4-F750-43A2-ADF4-36DBEB5BF329}" type="pres">
      <dgm:prSet presAssocID="{4843D4C0-72F4-4F2C-A683-69740447BD3D}" presName="sp" presStyleCnt="0"/>
      <dgm:spPr/>
    </dgm:pt>
    <dgm:pt modelId="{994C3ACC-16F4-44DA-AF54-806F065336CB}" type="pres">
      <dgm:prSet presAssocID="{0D61E027-BB1E-4366-97D5-057090A889A9}" presName="arrowAndChildren" presStyleCnt="0"/>
      <dgm:spPr/>
    </dgm:pt>
    <dgm:pt modelId="{33935F67-8921-476C-BB28-B446FAF8545F}" type="pres">
      <dgm:prSet presAssocID="{0D61E027-BB1E-4366-97D5-057090A889A9}" presName="parentTextArrow" presStyleLbl="node1" presStyleIdx="3" presStyleCnt="7"/>
      <dgm:spPr/>
    </dgm:pt>
    <dgm:pt modelId="{181AE9EF-86BA-40B5-A87C-84D689C2C6B5}" type="pres">
      <dgm:prSet presAssocID="{29885D3C-8DA9-4CE3-B27E-08F8BEEC0364}" presName="sp" presStyleCnt="0"/>
      <dgm:spPr/>
    </dgm:pt>
    <dgm:pt modelId="{8ECC10A6-3307-4C75-A9B9-68DAC75D27FC}" type="pres">
      <dgm:prSet presAssocID="{6C9A2D9D-12C8-44CC-BE45-1D786E45B85B}" presName="arrowAndChildren" presStyleCnt="0"/>
      <dgm:spPr/>
    </dgm:pt>
    <dgm:pt modelId="{666322E2-DD1D-49D0-984C-2D02F2777BA6}" type="pres">
      <dgm:prSet presAssocID="{6C9A2D9D-12C8-44CC-BE45-1D786E45B85B}" presName="parentTextArrow" presStyleLbl="node1" presStyleIdx="4" presStyleCnt="7"/>
      <dgm:spPr/>
    </dgm:pt>
    <dgm:pt modelId="{0CDD4AFA-C417-4B39-83AB-1CA7A82BADF0}" type="pres">
      <dgm:prSet presAssocID="{D177F1EC-80B4-485E-B3E5-62EDC59E917E}" presName="sp" presStyleCnt="0"/>
      <dgm:spPr/>
    </dgm:pt>
    <dgm:pt modelId="{B185C1BA-D19E-49AF-AE04-88686A9F9E80}" type="pres">
      <dgm:prSet presAssocID="{D1BC59BB-445C-41BD-A81A-2785AFA6841C}" presName="arrowAndChildren" presStyleCnt="0"/>
      <dgm:spPr/>
    </dgm:pt>
    <dgm:pt modelId="{CF06915D-710C-4BF5-95E2-A6E30EBDE72E}" type="pres">
      <dgm:prSet presAssocID="{D1BC59BB-445C-41BD-A81A-2785AFA6841C}" presName="parentTextArrow" presStyleLbl="node1" presStyleIdx="5" presStyleCnt="7"/>
      <dgm:spPr/>
    </dgm:pt>
    <dgm:pt modelId="{4699ED67-7FBA-4237-91B3-778F9017AC41}" type="pres">
      <dgm:prSet presAssocID="{B23E8656-56BC-4CB7-82D9-6CC11156458B}" presName="sp" presStyleCnt="0"/>
      <dgm:spPr/>
    </dgm:pt>
    <dgm:pt modelId="{84D5E7DA-ED40-44C1-9231-95DEDA5A93AB}" type="pres">
      <dgm:prSet presAssocID="{8B3B3074-0311-42D4-A572-AFAAEC24E0E4}" presName="arrowAndChildren" presStyleCnt="0"/>
      <dgm:spPr/>
    </dgm:pt>
    <dgm:pt modelId="{A6DCDC7C-DE6E-4286-BB7F-607FC537C6E1}" type="pres">
      <dgm:prSet presAssocID="{8B3B3074-0311-42D4-A572-AFAAEC24E0E4}" presName="parentTextArrow" presStyleLbl="node1" presStyleIdx="6" presStyleCnt="7"/>
      <dgm:spPr/>
    </dgm:pt>
  </dgm:ptLst>
  <dgm:cxnLst>
    <dgm:cxn modelId="{0D40F609-AE46-4561-9763-40DDAC33DC15}" type="presOf" srcId="{2B41266A-D4D6-47F6-99D0-BD14F8E0FD62}" destId="{85D8D6AD-F309-4EE8-9487-DF9CA3B4F2CB}" srcOrd="0" destOrd="0" presId="urn:microsoft.com/office/officeart/2005/8/layout/process4"/>
    <dgm:cxn modelId="{1B66602A-3156-4F07-9C00-D619A128A6AD}" srcId="{2B41266A-D4D6-47F6-99D0-BD14F8E0FD62}" destId="{6CBF717D-8763-42DF-9EC1-70A99113B7FA}" srcOrd="5" destOrd="0" parTransId="{F1FC2564-B0DC-499C-A1DE-10FD2B4FC1D7}" sibTransId="{3B9F6C95-7173-4832-A5FD-E31D0A2C3DE5}"/>
    <dgm:cxn modelId="{700F965B-5E6D-415B-B1DE-845AFADE403D}" type="presOf" srcId="{6CBF717D-8763-42DF-9EC1-70A99113B7FA}" destId="{08CC7B77-766C-4369-A59D-E8EDAF802EB9}" srcOrd="0" destOrd="0" presId="urn:microsoft.com/office/officeart/2005/8/layout/process4"/>
    <dgm:cxn modelId="{C761A85D-CBA9-4BF6-A51C-DC9AFDAE7C6B}" type="presOf" srcId="{F5CFDA85-FEF0-463F-9D72-9731C8B3A640}" destId="{274B9CCB-50E4-40D9-9558-3633E313F402}" srcOrd="0" destOrd="0" presId="urn:microsoft.com/office/officeart/2005/8/layout/process4"/>
    <dgm:cxn modelId="{37F66E46-BDA4-44AE-9A90-26161B309DCB}" srcId="{2B41266A-D4D6-47F6-99D0-BD14F8E0FD62}" destId="{5D558FDC-D21D-4AA5-BF5D-12F637E46CA8}" srcOrd="6" destOrd="0" parTransId="{772DA252-7FCA-4578-947F-513A860538D5}" sibTransId="{91C5CA60-0D50-43FE-9719-518150235D34}"/>
    <dgm:cxn modelId="{7CBE8449-EDEA-4CB7-9375-09483D7852F6}" type="presOf" srcId="{6C9A2D9D-12C8-44CC-BE45-1D786E45B85B}" destId="{666322E2-DD1D-49D0-984C-2D02F2777BA6}" srcOrd="0" destOrd="0" presId="urn:microsoft.com/office/officeart/2005/8/layout/process4"/>
    <dgm:cxn modelId="{7BE9FC4B-1744-41CD-96DC-E4835DED8EAB}" type="presOf" srcId="{D1BC59BB-445C-41BD-A81A-2785AFA6841C}" destId="{CF06915D-710C-4BF5-95E2-A6E30EBDE72E}" srcOrd="0" destOrd="0" presId="urn:microsoft.com/office/officeart/2005/8/layout/process4"/>
    <dgm:cxn modelId="{2BCE5057-04A4-4FA5-93FB-DCACD83AF87A}" srcId="{2B41266A-D4D6-47F6-99D0-BD14F8E0FD62}" destId="{0D61E027-BB1E-4366-97D5-057090A889A9}" srcOrd="3" destOrd="0" parTransId="{354E4877-2593-4469-B078-86D9837F5E8B}" sibTransId="{4843D4C0-72F4-4F2C-A683-69740447BD3D}"/>
    <dgm:cxn modelId="{FD738478-3637-4838-8469-0B4F1BDF2A10}" type="presOf" srcId="{0D61E027-BB1E-4366-97D5-057090A889A9}" destId="{33935F67-8921-476C-BB28-B446FAF8545F}" srcOrd="0" destOrd="0" presId="urn:microsoft.com/office/officeart/2005/8/layout/process4"/>
    <dgm:cxn modelId="{FFDD109B-B864-4A57-815E-DC33909C492B}" srcId="{2B41266A-D4D6-47F6-99D0-BD14F8E0FD62}" destId="{F5CFDA85-FEF0-463F-9D72-9731C8B3A640}" srcOrd="4" destOrd="0" parTransId="{F2DF6528-0916-4EE8-A1C4-E5F946482D4F}" sibTransId="{A7356FDF-D401-493A-9C0B-C27DE839571C}"/>
    <dgm:cxn modelId="{537B65A0-BD86-47AF-947E-61C481289975}" srcId="{2B41266A-D4D6-47F6-99D0-BD14F8E0FD62}" destId="{D1BC59BB-445C-41BD-A81A-2785AFA6841C}" srcOrd="1" destOrd="0" parTransId="{4E829C0B-9A73-4771-9C12-4D80BEA8D172}" sibTransId="{D177F1EC-80B4-485E-B3E5-62EDC59E917E}"/>
    <dgm:cxn modelId="{8018ACAE-9CD0-47E0-96C8-B1A19036D1F4}" type="presOf" srcId="{5D558FDC-D21D-4AA5-BF5D-12F637E46CA8}" destId="{1FC6853A-42AD-4FA6-8661-FB98FB30E5F6}" srcOrd="0" destOrd="0" presId="urn:microsoft.com/office/officeart/2005/8/layout/process4"/>
    <dgm:cxn modelId="{7AE8DFB5-7B1B-42E2-8D7F-4A2771FCEE4D}" type="presOf" srcId="{8B3B3074-0311-42D4-A572-AFAAEC24E0E4}" destId="{A6DCDC7C-DE6E-4286-BB7F-607FC537C6E1}" srcOrd="0" destOrd="0" presId="urn:microsoft.com/office/officeart/2005/8/layout/process4"/>
    <dgm:cxn modelId="{3DDB1BC8-E1E0-4112-992A-E817FB4CDFD4}" srcId="{2B41266A-D4D6-47F6-99D0-BD14F8E0FD62}" destId="{8B3B3074-0311-42D4-A572-AFAAEC24E0E4}" srcOrd="0" destOrd="0" parTransId="{86EDE444-6D55-4638-AF1C-ABF98A2D06DE}" sibTransId="{B23E8656-56BC-4CB7-82D9-6CC11156458B}"/>
    <dgm:cxn modelId="{6E37BCF1-00DB-4E5D-852F-CAE192DD2793}" srcId="{2B41266A-D4D6-47F6-99D0-BD14F8E0FD62}" destId="{6C9A2D9D-12C8-44CC-BE45-1D786E45B85B}" srcOrd="2" destOrd="0" parTransId="{F049D64F-C358-4348-94A7-91398B7DB3E3}" sibTransId="{29885D3C-8DA9-4CE3-B27E-08F8BEEC0364}"/>
    <dgm:cxn modelId="{55A89EF1-9114-47B7-B41A-879ED69540B3}" type="presParOf" srcId="{85D8D6AD-F309-4EE8-9487-DF9CA3B4F2CB}" destId="{2583EF23-0AB1-429C-9462-702576A870E8}" srcOrd="0" destOrd="0" presId="urn:microsoft.com/office/officeart/2005/8/layout/process4"/>
    <dgm:cxn modelId="{8B8A03C8-190E-49D3-B599-F85A78691D45}" type="presParOf" srcId="{2583EF23-0AB1-429C-9462-702576A870E8}" destId="{1FC6853A-42AD-4FA6-8661-FB98FB30E5F6}" srcOrd="0" destOrd="0" presId="urn:microsoft.com/office/officeart/2005/8/layout/process4"/>
    <dgm:cxn modelId="{3D3A095B-1971-4BDA-A344-AB3EA0AD10F3}" type="presParOf" srcId="{85D8D6AD-F309-4EE8-9487-DF9CA3B4F2CB}" destId="{346D2F58-2AC0-48D9-81E8-6D5628815695}" srcOrd="1" destOrd="0" presId="urn:microsoft.com/office/officeart/2005/8/layout/process4"/>
    <dgm:cxn modelId="{1D176459-3C64-4A7C-8C70-F1C9DE5812BD}" type="presParOf" srcId="{85D8D6AD-F309-4EE8-9487-DF9CA3B4F2CB}" destId="{89D41F83-6263-41D1-B5AF-4B13D8164FE8}" srcOrd="2" destOrd="0" presId="urn:microsoft.com/office/officeart/2005/8/layout/process4"/>
    <dgm:cxn modelId="{7DB91229-449C-4C0D-831E-343A856ACDD8}" type="presParOf" srcId="{89D41F83-6263-41D1-B5AF-4B13D8164FE8}" destId="{08CC7B77-766C-4369-A59D-E8EDAF802EB9}" srcOrd="0" destOrd="0" presId="urn:microsoft.com/office/officeart/2005/8/layout/process4"/>
    <dgm:cxn modelId="{0801AF27-68AA-4770-8796-923909543FF9}" type="presParOf" srcId="{85D8D6AD-F309-4EE8-9487-DF9CA3B4F2CB}" destId="{DC7F5C54-9966-40F7-8936-B79B40A65169}" srcOrd="3" destOrd="0" presId="urn:microsoft.com/office/officeart/2005/8/layout/process4"/>
    <dgm:cxn modelId="{199ABEAB-967F-44A1-8BFD-08DF6A97FF49}" type="presParOf" srcId="{85D8D6AD-F309-4EE8-9487-DF9CA3B4F2CB}" destId="{CC1E4635-4E3F-440A-954B-E1097953FBF5}" srcOrd="4" destOrd="0" presId="urn:microsoft.com/office/officeart/2005/8/layout/process4"/>
    <dgm:cxn modelId="{CE7CC010-28C3-4206-8B90-36B752E0B8D0}" type="presParOf" srcId="{CC1E4635-4E3F-440A-954B-E1097953FBF5}" destId="{274B9CCB-50E4-40D9-9558-3633E313F402}" srcOrd="0" destOrd="0" presId="urn:microsoft.com/office/officeart/2005/8/layout/process4"/>
    <dgm:cxn modelId="{5EAB467F-D213-4111-ABC6-4FCACA36C5D4}" type="presParOf" srcId="{85D8D6AD-F309-4EE8-9487-DF9CA3B4F2CB}" destId="{3E4CC0A4-F750-43A2-ADF4-36DBEB5BF329}" srcOrd="5" destOrd="0" presId="urn:microsoft.com/office/officeart/2005/8/layout/process4"/>
    <dgm:cxn modelId="{B0C6FB34-E4F5-4C91-A0DD-D9E51EABF800}" type="presParOf" srcId="{85D8D6AD-F309-4EE8-9487-DF9CA3B4F2CB}" destId="{994C3ACC-16F4-44DA-AF54-806F065336CB}" srcOrd="6" destOrd="0" presId="urn:microsoft.com/office/officeart/2005/8/layout/process4"/>
    <dgm:cxn modelId="{1F863938-91EA-4903-841A-948E0CDDB20D}" type="presParOf" srcId="{994C3ACC-16F4-44DA-AF54-806F065336CB}" destId="{33935F67-8921-476C-BB28-B446FAF8545F}" srcOrd="0" destOrd="0" presId="urn:microsoft.com/office/officeart/2005/8/layout/process4"/>
    <dgm:cxn modelId="{DD001188-046A-4F16-96AE-8AC2FA0F0081}" type="presParOf" srcId="{85D8D6AD-F309-4EE8-9487-DF9CA3B4F2CB}" destId="{181AE9EF-86BA-40B5-A87C-84D689C2C6B5}" srcOrd="7" destOrd="0" presId="urn:microsoft.com/office/officeart/2005/8/layout/process4"/>
    <dgm:cxn modelId="{9A72D616-9657-4FCD-A41E-B9F764A1AFD5}" type="presParOf" srcId="{85D8D6AD-F309-4EE8-9487-DF9CA3B4F2CB}" destId="{8ECC10A6-3307-4C75-A9B9-68DAC75D27FC}" srcOrd="8" destOrd="0" presId="urn:microsoft.com/office/officeart/2005/8/layout/process4"/>
    <dgm:cxn modelId="{6D02BF20-FFF3-4AB4-BF96-C203DAA40B9B}" type="presParOf" srcId="{8ECC10A6-3307-4C75-A9B9-68DAC75D27FC}" destId="{666322E2-DD1D-49D0-984C-2D02F2777BA6}" srcOrd="0" destOrd="0" presId="urn:microsoft.com/office/officeart/2005/8/layout/process4"/>
    <dgm:cxn modelId="{F6390CA1-5A85-4D4E-8CDD-03FD6595CAE4}" type="presParOf" srcId="{85D8D6AD-F309-4EE8-9487-DF9CA3B4F2CB}" destId="{0CDD4AFA-C417-4B39-83AB-1CA7A82BADF0}" srcOrd="9" destOrd="0" presId="urn:microsoft.com/office/officeart/2005/8/layout/process4"/>
    <dgm:cxn modelId="{DFD83B8B-8F1F-405A-96BC-9D4BFC794E4B}" type="presParOf" srcId="{85D8D6AD-F309-4EE8-9487-DF9CA3B4F2CB}" destId="{B185C1BA-D19E-49AF-AE04-88686A9F9E80}" srcOrd="10" destOrd="0" presId="urn:microsoft.com/office/officeart/2005/8/layout/process4"/>
    <dgm:cxn modelId="{81215420-1B81-4B71-A6F0-2A348A7274EE}" type="presParOf" srcId="{B185C1BA-D19E-49AF-AE04-88686A9F9E80}" destId="{CF06915D-710C-4BF5-95E2-A6E30EBDE72E}" srcOrd="0" destOrd="0" presId="urn:microsoft.com/office/officeart/2005/8/layout/process4"/>
    <dgm:cxn modelId="{BDA6853C-C619-4AEA-AFAB-49B32C434163}" type="presParOf" srcId="{85D8D6AD-F309-4EE8-9487-DF9CA3B4F2CB}" destId="{4699ED67-7FBA-4237-91B3-778F9017AC41}" srcOrd="11" destOrd="0" presId="urn:microsoft.com/office/officeart/2005/8/layout/process4"/>
    <dgm:cxn modelId="{E841D9D2-E081-4BB4-92D5-2BD21E54AA95}" type="presParOf" srcId="{85D8D6AD-F309-4EE8-9487-DF9CA3B4F2CB}" destId="{84D5E7DA-ED40-44C1-9231-95DEDA5A93AB}" srcOrd="12" destOrd="0" presId="urn:microsoft.com/office/officeart/2005/8/layout/process4"/>
    <dgm:cxn modelId="{6D79215B-F478-4192-AE94-CAF40631709F}" type="presParOf" srcId="{84D5E7DA-ED40-44C1-9231-95DEDA5A93AB}" destId="{A6DCDC7C-DE6E-4286-BB7F-607FC537C6E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41266A-D4D6-47F6-99D0-BD14F8E0FD62}" type="doc">
      <dgm:prSet loTypeId="urn:microsoft.com/office/officeart/2005/8/layout/process4" loCatId="process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fr-FR"/>
        </a:p>
      </dgm:t>
    </dgm:pt>
    <dgm:pt modelId="{8B3B3074-0311-42D4-A572-AFAAEC24E0E4}">
      <dgm:prSet phldrT="[Text]" phldr="0"/>
      <dgm:spPr/>
      <dgm:t>
        <a:bodyPr/>
        <a:lstStyle/>
        <a:p>
          <a:r>
            <a:rPr lang="fr-FR" dirty="0"/>
            <a:t>Nettoyage initial</a:t>
          </a:r>
        </a:p>
      </dgm:t>
    </dgm:pt>
    <dgm:pt modelId="{86EDE444-6D55-4638-AF1C-ABF98A2D06DE}" type="parTrans" cxnId="{3DDB1BC8-E1E0-4112-992A-E817FB4CDFD4}">
      <dgm:prSet/>
      <dgm:spPr/>
      <dgm:t>
        <a:bodyPr/>
        <a:lstStyle/>
        <a:p>
          <a:endParaRPr lang="fr-FR"/>
        </a:p>
      </dgm:t>
    </dgm:pt>
    <dgm:pt modelId="{B23E8656-56BC-4CB7-82D9-6CC11156458B}" type="sibTrans" cxnId="{3DDB1BC8-E1E0-4112-992A-E817FB4CDFD4}">
      <dgm:prSet/>
      <dgm:spPr/>
      <dgm:t>
        <a:bodyPr/>
        <a:lstStyle/>
        <a:p>
          <a:endParaRPr lang="fr-FR"/>
        </a:p>
      </dgm:t>
    </dgm:pt>
    <dgm:pt modelId="{D1BC59BB-445C-41BD-A81A-2785AFA6841C}">
      <dgm:prSet phldrT="[Text]" phldr="0"/>
      <dgm:spPr/>
      <dgm:t>
        <a:bodyPr/>
        <a:lstStyle/>
        <a:p>
          <a:r>
            <a:rPr lang="fr-FR" dirty="0"/>
            <a:t>Fusion train/test</a:t>
          </a:r>
        </a:p>
      </dgm:t>
    </dgm:pt>
    <dgm:pt modelId="{4E829C0B-9A73-4771-9C12-4D80BEA8D172}" type="parTrans" cxnId="{537B65A0-BD86-47AF-947E-61C481289975}">
      <dgm:prSet/>
      <dgm:spPr/>
      <dgm:t>
        <a:bodyPr/>
        <a:lstStyle/>
        <a:p>
          <a:endParaRPr lang="fr-FR"/>
        </a:p>
      </dgm:t>
    </dgm:pt>
    <dgm:pt modelId="{D177F1EC-80B4-485E-B3E5-62EDC59E917E}" type="sibTrans" cxnId="{537B65A0-BD86-47AF-947E-61C481289975}">
      <dgm:prSet/>
      <dgm:spPr/>
      <dgm:t>
        <a:bodyPr/>
        <a:lstStyle/>
        <a:p>
          <a:endParaRPr lang="fr-FR"/>
        </a:p>
      </dgm:t>
    </dgm:pt>
    <dgm:pt modelId="{6C9A2D9D-12C8-44CC-BE45-1D786E45B85B}">
      <dgm:prSet phldrT="[Text]" phldr="0"/>
      <dgm:spPr/>
      <dgm:t>
        <a:bodyPr/>
        <a:lstStyle/>
        <a:p>
          <a:r>
            <a:rPr lang="fr-FR" dirty="0" err="1"/>
            <a:t>Ecodage</a:t>
          </a:r>
          <a:r>
            <a:rPr lang="fr-FR" dirty="0"/>
            <a:t> des variables catégorielles</a:t>
          </a:r>
        </a:p>
      </dgm:t>
    </dgm:pt>
    <dgm:pt modelId="{F049D64F-C358-4348-94A7-91398B7DB3E3}" type="parTrans" cxnId="{6E37BCF1-00DB-4E5D-852F-CAE192DD2793}">
      <dgm:prSet/>
      <dgm:spPr/>
      <dgm:t>
        <a:bodyPr/>
        <a:lstStyle/>
        <a:p>
          <a:endParaRPr lang="fr-FR"/>
        </a:p>
      </dgm:t>
    </dgm:pt>
    <dgm:pt modelId="{29885D3C-8DA9-4CE3-B27E-08F8BEEC0364}" type="sibTrans" cxnId="{6E37BCF1-00DB-4E5D-852F-CAE192DD2793}">
      <dgm:prSet/>
      <dgm:spPr/>
      <dgm:t>
        <a:bodyPr/>
        <a:lstStyle/>
        <a:p>
          <a:endParaRPr lang="fr-FR"/>
        </a:p>
      </dgm:t>
    </dgm:pt>
    <dgm:pt modelId="{0D61E027-BB1E-4366-97D5-057090A889A9}">
      <dgm:prSet phldrT="[Text]" phldr="0"/>
      <dgm:spPr/>
      <dgm:t>
        <a:bodyPr/>
        <a:lstStyle/>
        <a:p>
          <a:r>
            <a:rPr lang="fr-FR" dirty="0"/>
            <a:t>FI de base</a:t>
          </a:r>
        </a:p>
      </dgm:t>
    </dgm:pt>
    <dgm:pt modelId="{354E4877-2593-4469-B078-86D9837F5E8B}" type="parTrans" cxnId="{2BCE5057-04A4-4FA5-93FB-DCACD83AF87A}">
      <dgm:prSet/>
      <dgm:spPr/>
      <dgm:t>
        <a:bodyPr/>
        <a:lstStyle/>
        <a:p>
          <a:endParaRPr lang="fr-FR"/>
        </a:p>
      </dgm:t>
    </dgm:pt>
    <dgm:pt modelId="{4843D4C0-72F4-4F2C-A683-69740447BD3D}" type="sibTrans" cxnId="{2BCE5057-04A4-4FA5-93FB-DCACD83AF87A}">
      <dgm:prSet/>
      <dgm:spPr/>
      <dgm:t>
        <a:bodyPr/>
        <a:lstStyle/>
        <a:p>
          <a:endParaRPr lang="fr-FR"/>
        </a:p>
      </dgm:t>
    </dgm:pt>
    <dgm:pt modelId="{F5CFDA85-FEF0-463F-9D72-9731C8B3A640}">
      <dgm:prSet phldrT="[Text]" phldr="0"/>
      <dgm:spPr/>
      <dgm:t>
        <a:bodyPr/>
        <a:lstStyle/>
        <a:p>
          <a:r>
            <a:rPr lang="fr-FR" dirty="0"/>
            <a:t>Nettoyage des valeurs manquantes</a:t>
          </a:r>
        </a:p>
      </dgm:t>
    </dgm:pt>
    <dgm:pt modelId="{F2DF6528-0916-4EE8-A1C4-E5F946482D4F}" type="parTrans" cxnId="{FFDD109B-B864-4A57-815E-DC33909C492B}">
      <dgm:prSet/>
      <dgm:spPr/>
      <dgm:t>
        <a:bodyPr/>
        <a:lstStyle/>
        <a:p>
          <a:endParaRPr lang="fr-FR"/>
        </a:p>
      </dgm:t>
    </dgm:pt>
    <dgm:pt modelId="{A7356FDF-D401-493A-9C0B-C27DE839571C}" type="sibTrans" cxnId="{FFDD109B-B864-4A57-815E-DC33909C492B}">
      <dgm:prSet/>
      <dgm:spPr/>
      <dgm:t>
        <a:bodyPr/>
        <a:lstStyle/>
        <a:p>
          <a:endParaRPr lang="fr-FR"/>
        </a:p>
      </dgm:t>
    </dgm:pt>
    <dgm:pt modelId="{6CBF717D-8763-42DF-9EC1-70A99113B7FA}">
      <dgm:prSet phldrT="[Text]" phldr="0"/>
      <dgm:spPr/>
      <dgm:t>
        <a:bodyPr/>
        <a:lstStyle/>
        <a:p>
          <a:r>
            <a:rPr lang="fr-FR" dirty="0"/>
            <a:t>Intégration des sources secondaires</a:t>
          </a:r>
        </a:p>
      </dgm:t>
    </dgm:pt>
    <dgm:pt modelId="{F1FC2564-B0DC-499C-A1DE-10FD2B4FC1D7}" type="parTrans" cxnId="{1B66602A-3156-4F07-9C00-D619A128A6AD}">
      <dgm:prSet/>
      <dgm:spPr/>
      <dgm:t>
        <a:bodyPr/>
        <a:lstStyle/>
        <a:p>
          <a:endParaRPr lang="fr-FR"/>
        </a:p>
      </dgm:t>
    </dgm:pt>
    <dgm:pt modelId="{3B9F6C95-7173-4832-A5FD-E31D0A2C3DE5}" type="sibTrans" cxnId="{1B66602A-3156-4F07-9C00-D619A128A6AD}">
      <dgm:prSet/>
      <dgm:spPr/>
      <dgm:t>
        <a:bodyPr/>
        <a:lstStyle/>
        <a:p>
          <a:endParaRPr lang="fr-FR"/>
        </a:p>
      </dgm:t>
    </dgm:pt>
    <dgm:pt modelId="{5D558FDC-D21D-4AA5-BF5D-12F637E46CA8}">
      <dgm:prSet phldrT="[Text]" phldr="0"/>
      <dgm:spPr/>
      <dgm:t>
        <a:bodyPr/>
        <a:lstStyle/>
        <a:p>
          <a:r>
            <a:rPr lang="fr-FR" dirty="0"/>
            <a:t>Merge global</a:t>
          </a:r>
        </a:p>
      </dgm:t>
    </dgm:pt>
    <dgm:pt modelId="{772DA252-7FCA-4578-947F-513A860538D5}" type="parTrans" cxnId="{37F66E46-BDA4-44AE-9A90-26161B309DCB}">
      <dgm:prSet/>
      <dgm:spPr/>
      <dgm:t>
        <a:bodyPr/>
        <a:lstStyle/>
        <a:p>
          <a:endParaRPr lang="fr-FR"/>
        </a:p>
      </dgm:t>
    </dgm:pt>
    <dgm:pt modelId="{91C5CA60-0D50-43FE-9719-518150235D34}" type="sibTrans" cxnId="{37F66E46-BDA4-44AE-9A90-26161B309DCB}">
      <dgm:prSet/>
      <dgm:spPr/>
      <dgm:t>
        <a:bodyPr/>
        <a:lstStyle/>
        <a:p>
          <a:endParaRPr lang="fr-FR"/>
        </a:p>
      </dgm:t>
    </dgm:pt>
    <dgm:pt modelId="{85D8D6AD-F309-4EE8-9487-DF9CA3B4F2CB}" type="pres">
      <dgm:prSet presAssocID="{2B41266A-D4D6-47F6-99D0-BD14F8E0FD62}" presName="Name0" presStyleCnt="0">
        <dgm:presLayoutVars>
          <dgm:dir/>
          <dgm:animLvl val="lvl"/>
          <dgm:resizeHandles val="exact"/>
        </dgm:presLayoutVars>
      </dgm:prSet>
      <dgm:spPr/>
    </dgm:pt>
    <dgm:pt modelId="{2583EF23-0AB1-429C-9462-702576A870E8}" type="pres">
      <dgm:prSet presAssocID="{5D558FDC-D21D-4AA5-BF5D-12F637E46CA8}" presName="boxAndChildren" presStyleCnt="0"/>
      <dgm:spPr/>
    </dgm:pt>
    <dgm:pt modelId="{1FC6853A-42AD-4FA6-8661-FB98FB30E5F6}" type="pres">
      <dgm:prSet presAssocID="{5D558FDC-D21D-4AA5-BF5D-12F637E46CA8}" presName="parentTextBox" presStyleLbl="node1" presStyleIdx="0" presStyleCnt="7"/>
      <dgm:spPr/>
    </dgm:pt>
    <dgm:pt modelId="{346D2F58-2AC0-48D9-81E8-6D5628815695}" type="pres">
      <dgm:prSet presAssocID="{3B9F6C95-7173-4832-A5FD-E31D0A2C3DE5}" presName="sp" presStyleCnt="0"/>
      <dgm:spPr/>
    </dgm:pt>
    <dgm:pt modelId="{89D41F83-6263-41D1-B5AF-4B13D8164FE8}" type="pres">
      <dgm:prSet presAssocID="{6CBF717D-8763-42DF-9EC1-70A99113B7FA}" presName="arrowAndChildren" presStyleCnt="0"/>
      <dgm:spPr/>
    </dgm:pt>
    <dgm:pt modelId="{08CC7B77-766C-4369-A59D-E8EDAF802EB9}" type="pres">
      <dgm:prSet presAssocID="{6CBF717D-8763-42DF-9EC1-70A99113B7FA}" presName="parentTextArrow" presStyleLbl="node1" presStyleIdx="1" presStyleCnt="7"/>
      <dgm:spPr/>
    </dgm:pt>
    <dgm:pt modelId="{DC7F5C54-9966-40F7-8936-B79B40A65169}" type="pres">
      <dgm:prSet presAssocID="{A7356FDF-D401-493A-9C0B-C27DE839571C}" presName="sp" presStyleCnt="0"/>
      <dgm:spPr/>
    </dgm:pt>
    <dgm:pt modelId="{CC1E4635-4E3F-440A-954B-E1097953FBF5}" type="pres">
      <dgm:prSet presAssocID="{F5CFDA85-FEF0-463F-9D72-9731C8B3A640}" presName="arrowAndChildren" presStyleCnt="0"/>
      <dgm:spPr/>
    </dgm:pt>
    <dgm:pt modelId="{274B9CCB-50E4-40D9-9558-3633E313F402}" type="pres">
      <dgm:prSet presAssocID="{F5CFDA85-FEF0-463F-9D72-9731C8B3A640}" presName="parentTextArrow" presStyleLbl="node1" presStyleIdx="2" presStyleCnt="7"/>
      <dgm:spPr/>
    </dgm:pt>
    <dgm:pt modelId="{3E4CC0A4-F750-43A2-ADF4-36DBEB5BF329}" type="pres">
      <dgm:prSet presAssocID="{4843D4C0-72F4-4F2C-A683-69740447BD3D}" presName="sp" presStyleCnt="0"/>
      <dgm:spPr/>
    </dgm:pt>
    <dgm:pt modelId="{994C3ACC-16F4-44DA-AF54-806F065336CB}" type="pres">
      <dgm:prSet presAssocID="{0D61E027-BB1E-4366-97D5-057090A889A9}" presName="arrowAndChildren" presStyleCnt="0"/>
      <dgm:spPr/>
    </dgm:pt>
    <dgm:pt modelId="{33935F67-8921-476C-BB28-B446FAF8545F}" type="pres">
      <dgm:prSet presAssocID="{0D61E027-BB1E-4366-97D5-057090A889A9}" presName="parentTextArrow" presStyleLbl="node1" presStyleIdx="3" presStyleCnt="7"/>
      <dgm:spPr/>
    </dgm:pt>
    <dgm:pt modelId="{181AE9EF-86BA-40B5-A87C-84D689C2C6B5}" type="pres">
      <dgm:prSet presAssocID="{29885D3C-8DA9-4CE3-B27E-08F8BEEC0364}" presName="sp" presStyleCnt="0"/>
      <dgm:spPr/>
    </dgm:pt>
    <dgm:pt modelId="{8ECC10A6-3307-4C75-A9B9-68DAC75D27FC}" type="pres">
      <dgm:prSet presAssocID="{6C9A2D9D-12C8-44CC-BE45-1D786E45B85B}" presName="arrowAndChildren" presStyleCnt="0"/>
      <dgm:spPr/>
    </dgm:pt>
    <dgm:pt modelId="{666322E2-DD1D-49D0-984C-2D02F2777BA6}" type="pres">
      <dgm:prSet presAssocID="{6C9A2D9D-12C8-44CC-BE45-1D786E45B85B}" presName="parentTextArrow" presStyleLbl="node1" presStyleIdx="4" presStyleCnt="7"/>
      <dgm:spPr/>
    </dgm:pt>
    <dgm:pt modelId="{0CDD4AFA-C417-4B39-83AB-1CA7A82BADF0}" type="pres">
      <dgm:prSet presAssocID="{D177F1EC-80B4-485E-B3E5-62EDC59E917E}" presName="sp" presStyleCnt="0"/>
      <dgm:spPr/>
    </dgm:pt>
    <dgm:pt modelId="{B185C1BA-D19E-49AF-AE04-88686A9F9E80}" type="pres">
      <dgm:prSet presAssocID="{D1BC59BB-445C-41BD-A81A-2785AFA6841C}" presName="arrowAndChildren" presStyleCnt="0"/>
      <dgm:spPr/>
    </dgm:pt>
    <dgm:pt modelId="{CF06915D-710C-4BF5-95E2-A6E30EBDE72E}" type="pres">
      <dgm:prSet presAssocID="{D1BC59BB-445C-41BD-A81A-2785AFA6841C}" presName="parentTextArrow" presStyleLbl="node1" presStyleIdx="5" presStyleCnt="7"/>
      <dgm:spPr/>
    </dgm:pt>
    <dgm:pt modelId="{4699ED67-7FBA-4237-91B3-778F9017AC41}" type="pres">
      <dgm:prSet presAssocID="{B23E8656-56BC-4CB7-82D9-6CC11156458B}" presName="sp" presStyleCnt="0"/>
      <dgm:spPr/>
    </dgm:pt>
    <dgm:pt modelId="{84D5E7DA-ED40-44C1-9231-95DEDA5A93AB}" type="pres">
      <dgm:prSet presAssocID="{8B3B3074-0311-42D4-A572-AFAAEC24E0E4}" presName="arrowAndChildren" presStyleCnt="0"/>
      <dgm:spPr/>
    </dgm:pt>
    <dgm:pt modelId="{A6DCDC7C-DE6E-4286-BB7F-607FC537C6E1}" type="pres">
      <dgm:prSet presAssocID="{8B3B3074-0311-42D4-A572-AFAAEC24E0E4}" presName="parentTextArrow" presStyleLbl="node1" presStyleIdx="6" presStyleCnt="7"/>
      <dgm:spPr/>
    </dgm:pt>
  </dgm:ptLst>
  <dgm:cxnLst>
    <dgm:cxn modelId="{0D40F609-AE46-4561-9763-40DDAC33DC15}" type="presOf" srcId="{2B41266A-D4D6-47F6-99D0-BD14F8E0FD62}" destId="{85D8D6AD-F309-4EE8-9487-DF9CA3B4F2CB}" srcOrd="0" destOrd="0" presId="urn:microsoft.com/office/officeart/2005/8/layout/process4"/>
    <dgm:cxn modelId="{1B66602A-3156-4F07-9C00-D619A128A6AD}" srcId="{2B41266A-D4D6-47F6-99D0-BD14F8E0FD62}" destId="{6CBF717D-8763-42DF-9EC1-70A99113B7FA}" srcOrd="5" destOrd="0" parTransId="{F1FC2564-B0DC-499C-A1DE-10FD2B4FC1D7}" sibTransId="{3B9F6C95-7173-4832-A5FD-E31D0A2C3DE5}"/>
    <dgm:cxn modelId="{700F965B-5E6D-415B-B1DE-845AFADE403D}" type="presOf" srcId="{6CBF717D-8763-42DF-9EC1-70A99113B7FA}" destId="{08CC7B77-766C-4369-A59D-E8EDAF802EB9}" srcOrd="0" destOrd="0" presId="urn:microsoft.com/office/officeart/2005/8/layout/process4"/>
    <dgm:cxn modelId="{C761A85D-CBA9-4BF6-A51C-DC9AFDAE7C6B}" type="presOf" srcId="{F5CFDA85-FEF0-463F-9D72-9731C8B3A640}" destId="{274B9CCB-50E4-40D9-9558-3633E313F402}" srcOrd="0" destOrd="0" presId="urn:microsoft.com/office/officeart/2005/8/layout/process4"/>
    <dgm:cxn modelId="{37F66E46-BDA4-44AE-9A90-26161B309DCB}" srcId="{2B41266A-D4D6-47F6-99D0-BD14F8E0FD62}" destId="{5D558FDC-D21D-4AA5-BF5D-12F637E46CA8}" srcOrd="6" destOrd="0" parTransId="{772DA252-7FCA-4578-947F-513A860538D5}" sibTransId="{91C5CA60-0D50-43FE-9719-518150235D34}"/>
    <dgm:cxn modelId="{7CBE8449-EDEA-4CB7-9375-09483D7852F6}" type="presOf" srcId="{6C9A2D9D-12C8-44CC-BE45-1D786E45B85B}" destId="{666322E2-DD1D-49D0-984C-2D02F2777BA6}" srcOrd="0" destOrd="0" presId="urn:microsoft.com/office/officeart/2005/8/layout/process4"/>
    <dgm:cxn modelId="{7BE9FC4B-1744-41CD-96DC-E4835DED8EAB}" type="presOf" srcId="{D1BC59BB-445C-41BD-A81A-2785AFA6841C}" destId="{CF06915D-710C-4BF5-95E2-A6E30EBDE72E}" srcOrd="0" destOrd="0" presId="urn:microsoft.com/office/officeart/2005/8/layout/process4"/>
    <dgm:cxn modelId="{2BCE5057-04A4-4FA5-93FB-DCACD83AF87A}" srcId="{2B41266A-D4D6-47F6-99D0-BD14F8E0FD62}" destId="{0D61E027-BB1E-4366-97D5-057090A889A9}" srcOrd="3" destOrd="0" parTransId="{354E4877-2593-4469-B078-86D9837F5E8B}" sibTransId="{4843D4C0-72F4-4F2C-A683-69740447BD3D}"/>
    <dgm:cxn modelId="{FD738478-3637-4838-8469-0B4F1BDF2A10}" type="presOf" srcId="{0D61E027-BB1E-4366-97D5-057090A889A9}" destId="{33935F67-8921-476C-BB28-B446FAF8545F}" srcOrd="0" destOrd="0" presId="urn:microsoft.com/office/officeart/2005/8/layout/process4"/>
    <dgm:cxn modelId="{FFDD109B-B864-4A57-815E-DC33909C492B}" srcId="{2B41266A-D4D6-47F6-99D0-BD14F8E0FD62}" destId="{F5CFDA85-FEF0-463F-9D72-9731C8B3A640}" srcOrd="4" destOrd="0" parTransId="{F2DF6528-0916-4EE8-A1C4-E5F946482D4F}" sibTransId="{A7356FDF-D401-493A-9C0B-C27DE839571C}"/>
    <dgm:cxn modelId="{537B65A0-BD86-47AF-947E-61C481289975}" srcId="{2B41266A-D4D6-47F6-99D0-BD14F8E0FD62}" destId="{D1BC59BB-445C-41BD-A81A-2785AFA6841C}" srcOrd="1" destOrd="0" parTransId="{4E829C0B-9A73-4771-9C12-4D80BEA8D172}" sibTransId="{D177F1EC-80B4-485E-B3E5-62EDC59E917E}"/>
    <dgm:cxn modelId="{8018ACAE-9CD0-47E0-96C8-B1A19036D1F4}" type="presOf" srcId="{5D558FDC-D21D-4AA5-BF5D-12F637E46CA8}" destId="{1FC6853A-42AD-4FA6-8661-FB98FB30E5F6}" srcOrd="0" destOrd="0" presId="urn:microsoft.com/office/officeart/2005/8/layout/process4"/>
    <dgm:cxn modelId="{7AE8DFB5-7B1B-42E2-8D7F-4A2771FCEE4D}" type="presOf" srcId="{8B3B3074-0311-42D4-A572-AFAAEC24E0E4}" destId="{A6DCDC7C-DE6E-4286-BB7F-607FC537C6E1}" srcOrd="0" destOrd="0" presId="urn:microsoft.com/office/officeart/2005/8/layout/process4"/>
    <dgm:cxn modelId="{3DDB1BC8-E1E0-4112-992A-E817FB4CDFD4}" srcId="{2B41266A-D4D6-47F6-99D0-BD14F8E0FD62}" destId="{8B3B3074-0311-42D4-A572-AFAAEC24E0E4}" srcOrd="0" destOrd="0" parTransId="{86EDE444-6D55-4638-AF1C-ABF98A2D06DE}" sibTransId="{B23E8656-56BC-4CB7-82D9-6CC11156458B}"/>
    <dgm:cxn modelId="{6E37BCF1-00DB-4E5D-852F-CAE192DD2793}" srcId="{2B41266A-D4D6-47F6-99D0-BD14F8E0FD62}" destId="{6C9A2D9D-12C8-44CC-BE45-1D786E45B85B}" srcOrd="2" destOrd="0" parTransId="{F049D64F-C358-4348-94A7-91398B7DB3E3}" sibTransId="{29885D3C-8DA9-4CE3-B27E-08F8BEEC0364}"/>
    <dgm:cxn modelId="{55A89EF1-9114-47B7-B41A-879ED69540B3}" type="presParOf" srcId="{85D8D6AD-F309-4EE8-9487-DF9CA3B4F2CB}" destId="{2583EF23-0AB1-429C-9462-702576A870E8}" srcOrd="0" destOrd="0" presId="urn:microsoft.com/office/officeart/2005/8/layout/process4"/>
    <dgm:cxn modelId="{8B8A03C8-190E-49D3-B599-F85A78691D45}" type="presParOf" srcId="{2583EF23-0AB1-429C-9462-702576A870E8}" destId="{1FC6853A-42AD-4FA6-8661-FB98FB30E5F6}" srcOrd="0" destOrd="0" presId="urn:microsoft.com/office/officeart/2005/8/layout/process4"/>
    <dgm:cxn modelId="{3D3A095B-1971-4BDA-A344-AB3EA0AD10F3}" type="presParOf" srcId="{85D8D6AD-F309-4EE8-9487-DF9CA3B4F2CB}" destId="{346D2F58-2AC0-48D9-81E8-6D5628815695}" srcOrd="1" destOrd="0" presId="urn:microsoft.com/office/officeart/2005/8/layout/process4"/>
    <dgm:cxn modelId="{1D176459-3C64-4A7C-8C70-F1C9DE5812BD}" type="presParOf" srcId="{85D8D6AD-F309-4EE8-9487-DF9CA3B4F2CB}" destId="{89D41F83-6263-41D1-B5AF-4B13D8164FE8}" srcOrd="2" destOrd="0" presId="urn:microsoft.com/office/officeart/2005/8/layout/process4"/>
    <dgm:cxn modelId="{7DB91229-449C-4C0D-831E-343A856ACDD8}" type="presParOf" srcId="{89D41F83-6263-41D1-B5AF-4B13D8164FE8}" destId="{08CC7B77-766C-4369-A59D-E8EDAF802EB9}" srcOrd="0" destOrd="0" presId="urn:microsoft.com/office/officeart/2005/8/layout/process4"/>
    <dgm:cxn modelId="{0801AF27-68AA-4770-8796-923909543FF9}" type="presParOf" srcId="{85D8D6AD-F309-4EE8-9487-DF9CA3B4F2CB}" destId="{DC7F5C54-9966-40F7-8936-B79B40A65169}" srcOrd="3" destOrd="0" presId="urn:microsoft.com/office/officeart/2005/8/layout/process4"/>
    <dgm:cxn modelId="{199ABEAB-967F-44A1-8BFD-08DF6A97FF49}" type="presParOf" srcId="{85D8D6AD-F309-4EE8-9487-DF9CA3B4F2CB}" destId="{CC1E4635-4E3F-440A-954B-E1097953FBF5}" srcOrd="4" destOrd="0" presId="urn:microsoft.com/office/officeart/2005/8/layout/process4"/>
    <dgm:cxn modelId="{CE7CC010-28C3-4206-8B90-36B752E0B8D0}" type="presParOf" srcId="{CC1E4635-4E3F-440A-954B-E1097953FBF5}" destId="{274B9CCB-50E4-40D9-9558-3633E313F402}" srcOrd="0" destOrd="0" presId="urn:microsoft.com/office/officeart/2005/8/layout/process4"/>
    <dgm:cxn modelId="{5EAB467F-D213-4111-ABC6-4FCACA36C5D4}" type="presParOf" srcId="{85D8D6AD-F309-4EE8-9487-DF9CA3B4F2CB}" destId="{3E4CC0A4-F750-43A2-ADF4-36DBEB5BF329}" srcOrd="5" destOrd="0" presId="urn:microsoft.com/office/officeart/2005/8/layout/process4"/>
    <dgm:cxn modelId="{B0C6FB34-E4F5-4C91-A0DD-D9E51EABF800}" type="presParOf" srcId="{85D8D6AD-F309-4EE8-9487-DF9CA3B4F2CB}" destId="{994C3ACC-16F4-44DA-AF54-806F065336CB}" srcOrd="6" destOrd="0" presId="urn:microsoft.com/office/officeart/2005/8/layout/process4"/>
    <dgm:cxn modelId="{1F863938-91EA-4903-841A-948E0CDDB20D}" type="presParOf" srcId="{994C3ACC-16F4-44DA-AF54-806F065336CB}" destId="{33935F67-8921-476C-BB28-B446FAF8545F}" srcOrd="0" destOrd="0" presId="urn:microsoft.com/office/officeart/2005/8/layout/process4"/>
    <dgm:cxn modelId="{DD001188-046A-4F16-96AE-8AC2FA0F0081}" type="presParOf" srcId="{85D8D6AD-F309-4EE8-9487-DF9CA3B4F2CB}" destId="{181AE9EF-86BA-40B5-A87C-84D689C2C6B5}" srcOrd="7" destOrd="0" presId="urn:microsoft.com/office/officeart/2005/8/layout/process4"/>
    <dgm:cxn modelId="{9A72D616-9657-4FCD-A41E-B9F764A1AFD5}" type="presParOf" srcId="{85D8D6AD-F309-4EE8-9487-DF9CA3B4F2CB}" destId="{8ECC10A6-3307-4C75-A9B9-68DAC75D27FC}" srcOrd="8" destOrd="0" presId="urn:microsoft.com/office/officeart/2005/8/layout/process4"/>
    <dgm:cxn modelId="{6D02BF20-FFF3-4AB4-BF96-C203DAA40B9B}" type="presParOf" srcId="{8ECC10A6-3307-4C75-A9B9-68DAC75D27FC}" destId="{666322E2-DD1D-49D0-984C-2D02F2777BA6}" srcOrd="0" destOrd="0" presId="urn:microsoft.com/office/officeart/2005/8/layout/process4"/>
    <dgm:cxn modelId="{F6390CA1-5A85-4D4E-8CDD-03FD6595CAE4}" type="presParOf" srcId="{85D8D6AD-F309-4EE8-9487-DF9CA3B4F2CB}" destId="{0CDD4AFA-C417-4B39-83AB-1CA7A82BADF0}" srcOrd="9" destOrd="0" presId="urn:microsoft.com/office/officeart/2005/8/layout/process4"/>
    <dgm:cxn modelId="{DFD83B8B-8F1F-405A-96BC-9D4BFC794E4B}" type="presParOf" srcId="{85D8D6AD-F309-4EE8-9487-DF9CA3B4F2CB}" destId="{B185C1BA-D19E-49AF-AE04-88686A9F9E80}" srcOrd="10" destOrd="0" presId="urn:microsoft.com/office/officeart/2005/8/layout/process4"/>
    <dgm:cxn modelId="{81215420-1B81-4B71-A6F0-2A348A7274EE}" type="presParOf" srcId="{B185C1BA-D19E-49AF-AE04-88686A9F9E80}" destId="{CF06915D-710C-4BF5-95E2-A6E30EBDE72E}" srcOrd="0" destOrd="0" presId="urn:microsoft.com/office/officeart/2005/8/layout/process4"/>
    <dgm:cxn modelId="{BDA6853C-C619-4AEA-AFAB-49B32C434163}" type="presParOf" srcId="{85D8D6AD-F309-4EE8-9487-DF9CA3B4F2CB}" destId="{4699ED67-7FBA-4237-91B3-778F9017AC41}" srcOrd="11" destOrd="0" presId="urn:microsoft.com/office/officeart/2005/8/layout/process4"/>
    <dgm:cxn modelId="{E841D9D2-E081-4BB4-92D5-2BD21E54AA95}" type="presParOf" srcId="{85D8D6AD-F309-4EE8-9487-DF9CA3B4F2CB}" destId="{84D5E7DA-ED40-44C1-9231-95DEDA5A93AB}" srcOrd="12" destOrd="0" presId="urn:microsoft.com/office/officeart/2005/8/layout/process4"/>
    <dgm:cxn modelId="{6D79215B-F478-4192-AE94-CAF40631709F}" type="presParOf" srcId="{84D5E7DA-ED40-44C1-9231-95DEDA5A93AB}" destId="{A6DCDC7C-DE6E-4286-BB7F-607FC537C6E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41266A-D4D6-47F6-99D0-BD14F8E0FD62}" type="doc">
      <dgm:prSet loTypeId="urn:microsoft.com/office/officeart/2005/8/layout/process4" loCatId="process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fr-FR"/>
        </a:p>
      </dgm:t>
    </dgm:pt>
    <dgm:pt modelId="{8B3B3074-0311-42D4-A572-AFAAEC24E0E4}">
      <dgm:prSet phldrT="[Text]" phldr="0"/>
      <dgm:spPr/>
      <dgm:t>
        <a:bodyPr/>
        <a:lstStyle/>
        <a:p>
          <a:r>
            <a:rPr lang="fr-FR" dirty="0"/>
            <a:t>Nettoyage initial</a:t>
          </a:r>
        </a:p>
      </dgm:t>
    </dgm:pt>
    <dgm:pt modelId="{86EDE444-6D55-4638-AF1C-ABF98A2D06DE}" type="parTrans" cxnId="{3DDB1BC8-E1E0-4112-992A-E817FB4CDFD4}">
      <dgm:prSet/>
      <dgm:spPr/>
      <dgm:t>
        <a:bodyPr/>
        <a:lstStyle/>
        <a:p>
          <a:endParaRPr lang="fr-FR"/>
        </a:p>
      </dgm:t>
    </dgm:pt>
    <dgm:pt modelId="{B23E8656-56BC-4CB7-82D9-6CC11156458B}" type="sibTrans" cxnId="{3DDB1BC8-E1E0-4112-992A-E817FB4CDFD4}">
      <dgm:prSet/>
      <dgm:spPr/>
      <dgm:t>
        <a:bodyPr/>
        <a:lstStyle/>
        <a:p>
          <a:endParaRPr lang="fr-FR"/>
        </a:p>
      </dgm:t>
    </dgm:pt>
    <dgm:pt modelId="{D1BC59BB-445C-41BD-A81A-2785AFA6841C}">
      <dgm:prSet phldrT="[Text]" phldr="0"/>
      <dgm:spPr/>
      <dgm:t>
        <a:bodyPr/>
        <a:lstStyle/>
        <a:p>
          <a:r>
            <a:rPr lang="fr-FR" dirty="0"/>
            <a:t>Fusion train/test</a:t>
          </a:r>
        </a:p>
      </dgm:t>
    </dgm:pt>
    <dgm:pt modelId="{4E829C0B-9A73-4771-9C12-4D80BEA8D172}" type="parTrans" cxnId="{537B65A0-BD86-47AF-947E-61C481289975}">
      <dgm:prSet/>
      <dgm:spPr/>
      <dgm:t>
        <a:bodyPr/>
        <a:lstStyle/>
        <a:p>
          <a:endParaRPr lang="fr-FR"/>
        </a:p>
      </dgm:t>
    </dgm:pt>
    <dgm:pt modelId="{D177F1EC-80B4-485E-B3E5-62EDC59E917E}" type="sibTrans" cxnId="{537B65A0-BD86-47AF-947E-61C481289975}">
      <dgm:prSet/>
      <dgm:spPr/>
      <dgm:t>
        <a:bodyPr/>
        <a:lstStyle/>
        <a:p>
          <a:endParaRPr lang="fr-FR"/>
        </a:p>
      </dgm:t>
    </dgm:pt>
    <dgm:pt modelId="{6C9A2D9D-12C8-44CC-BE45-1D786E45B85B}">
      <dgm:prSet phldrT="[Text]" phldr="0"/>
      <dgm:spPr/>
      <dgm:t>
        <a:bodyPr/>
        <a:lstStyle/>
        <a:p>
          <a:r>
            <a:rPr lang="fr-FR" dirty="0" err="1"/>
            <a:t>Ecodage</a:t>
          </a:r>
          <a:r>
            <a:rPr lang="fr-FR" dirty="0"/>
            <a:t> des variables catégorielles</a:t>
          </a:r>
        </a:p>
      </dgm:t>
    </dgm:pt>
    <dgm:pt modelId="{F049D64F-C358-4348-94A7-91398B7DB3E3}" type="parTrans" cxnId="{6E37BCF1-00DB-4E5D-852F-CAE192DD2793}">
      <dgm:prSet/>
      <dgm:spPr/>
      <dgm:t>
        <a:bodyPr/>
        <a:lstStyle/>
        <a:p>
          <a:endParaRPr lang="fr-FR"/>
        </a:p>
      </dgm:t>
    </dgm:pt>
    <dgm:pt modelId="{29885D3C-8DA9-4CE3-B27E-08F8BEEC0364}" type="sibTrans" cxnId="{6E37BCF1-00DB-4E5D-852F-CAE192DD2793}">
      <dgm:prSet/>
      <dgm:spPr/>
      <dgm:t>
        <a:bodyPr/>
        <a:lstStyle/>
        <a:p>
          <a:endParaRPr lang="fr-FR"/>
        </a:p>
      </dgm:t>
    </dgm:pt>
    <dgm:pt modelId="{0D61E027-BB1E-4366-97D5-057090A889A9}">
      <dgm:prSet phldrT="[Text]" phldr="0"/>
      <dgm:spPr/>
      <dgm:t>
        <a:bodyPr/>
        <a:lstStyle/>
        <a:p>
          <a:r>
            <a:rPr lang="fr-FR" dirty="0"/>
            <a:t>FI de base</a:t>
          </a:r>
        </a:p>
      </dgm:t>
    </dgm:pt>
    <dgm:pt modelId="{354E4877-2593-4469-B078-86D9837F5E8B}" type="parTrans" cxnId="{2BCE5057-04A4-4FA5-93FB-DCACD83AF87A}">
      <dgm:prSet/>
      <dgm:spPr/>
      <dgm:t>
        <a:bodyPr/>
        <a:lstStyle/>
        <a:p>
          <a:endParaRPr lang="fr-FR"/>
        </a:p>
      </dgm:t>
    </dgm:pt>
    <dgm:pt modelId="{4843D4C0-72F4-4F2C-A683-69740447BD3D}" type="sibTrans" cxnId="{2BCE5057-04A4-4FA5-93FB-DCACD83AF87A}">
      <dgm:prSet/>
      <dgm:spPr/>
      <dgm:t>
        <a:bodyPr/>
        <a:lstStyle/>
        <a:p>
          <a:endParaRPr lang="fr-FR"/>
        </a:p>
      </dgm:t>
    </dgm:pt>
    <dgm:pt modelId="{F5CFDA85-FEF0-463F-9D72-9731C8B3A640}">
      <dgm:prSet phldrT="[Text]" phldr="0"/>
      <dgm:spPr/>
      <dgm:t>
        <a:bodyPr/>
        <a:lstStyle/>
        <a:p>
          <a:r>
            <a:rPr lang="fr-FR" dirty="0"/>
            <a:t>Nettoyage des valeurs manquantes</a:t>
          </a:r>
        </a:p>
      </dgm:t>
    </dgm:pt>
    <dgm:pt modelId="{F2DF6528-0916-4EE8-A1C4-E5F946482D4F}" type="parTrans" cxnId="{FFDD109B-B864-4A57-815E-DC33909C492B}">
      <dgm:prSet/>
      <dgm:spPr/>
      <dgm:t>
        <a:bodyPr/>
        <a:lstStyle/>
        <a:p>
          <a:endParaRPr lang="fr-FR"/>
        </a:p>
      </dgm:t>
    </dgm:pt>
    <dgm:pt modelId="{A7356FDF-D401-493A-9C0B-C27DE839571C}" type="sibTrans" cxnId="{FFDD109B-B864-4A57-815E-DC33909C492B}">
      <dgm:prSet/>
      <dgm:spPr/>
      <dgm:t>
        <a:bodyPr/>
        <a:lstStyle/>
        <a:p>
          <a:endParaRPr lang="fr-FR"/>
        </a:p>
      </dgm:t>
    </dgm:pt>
    <dgm:pt modelId="{6CBF717D-8763-42DF-9EC1-70A99113B7FA}">
      <dgm:prSet phldrT="[Text]" phldr="0"/>
      <dgm:spPr/>
      <dgm:t>
        <a:bodyPr/>
        <a:lstStyle/>
        <a:p>
          <a:r>
            <a:rPr lang="fr-FR" dirty="0"/>
            <a:t>Intégration des sources secondaires</a:t>
          </a:r>
        </a:p>
      </dgm:t>
    </dgm:pt>
    <dgm:pt modelId="{F1FC2564-B0DC-499C-A1DE-10FD2B4FC1D7}" type="parTrans" cxnId="{1B66602A-3156-4F07-9C00-D619A128A6AD}">
      <dgm:prSet/>
      <dgm:spPr/>
      <dgm:t>
        <a:bodyPr/>
        <a:lstStyle/>
        <a:p>
          <a:endParaRPr lang="fr-FR"/>
        </a:p>
      </dgm:t>
    </dgm:pt>
    <dgm:pt modelId="{3B9F6C95-7173-4832-A5FD-E31D0A2C3DE5}" type="sibTrans" cxnId="{1B66602A-3156-4F07-9C00-D619A128A6AD}">
      <dgm:prSet/>
      <dgm:spPr/>
      <dgm:t>
        <a:bodyPr/>
        <a:lstStyle/>
        <a:p>
          <a:endParaRPr lang="fr-FR"/>
        </a:p>
      </dgm:t>
    </dgm:pt>
    <dgm:pt modelId="{5D558FDC-D21D-4AA5-BF5D-12F637E46CA8}">
      <dgm:prSet phldrT="[Text]" phldr="0"/>
      <dgm:spPr/>
      <dgm:t>
        <a:bodyPr/>
        <a:lstStyle/>
        <a:p>
          <a:r>
            <a:rPr lang="fr-FR" dirty="0"/>
            <a:t>Merge global</a:t>
          </a:r>
        </a:p>
      </dgm:t>
    </dgm:pt>
    <dgm:pt modelId="{772DA252-7FCA-4578-947F-513A860538D5}" type="parTrans" cxnId="{37F66E46-BDA4-44AE-9A90-26161B309DCB}">
      <dgm:prSet/>
      <dgm:spPr/>
      <dgm:t>
        <a:bodyPr/>
        <a:lstStyle/>
        <a:p>
          <a:endParaRPr lang="fr-FR"/>
        </a:p>
      </dgm:t>
    </dgm:pt>
    <dgm:pt modelId="{91C5CA60-0D50-43FE-9719-518150235D34}" type="sibTrans" cxnId="{37F66E46-BDA4-44AE-9A90-26161B309DCB}">
      <dgm:prSet/>
      <dgm:spPr/>
      <dgm:t>
        <a:bodyPr/>
        <a:lstStyle/>
        <a:p>
          <a:endParaRPr lang="fr-FR"/>
        </a:p>
      </dgm:t>
    </dgm:pt>
    <dgm:pt modelId="{85D8D6AD-F309-4EE8-9487-DF9CA3B4F2CB}" type="pres">
      <dgm:prSet presAssocID="{2B41266A-D4D6-47F6-99D0-BD14F8E0FD62}" presName="Name0" presStyleCnt="0">
        <dgm:presLayoutVars>
          <dgm:dir/>
          <dgm:animLvl val="lvl"/>
          <dgm:resizeHandles val="exact"/>
        </dgm:presLayoutVars>
      </dgm:prSet>
      <dgm:spPr/>
    </dgm:pt>
    <dgm:pt modelId="{2583EF23-0AB1-429C-9462-702576A870E8}" type="pres">
      <dgm:prSet presAssocID="{5D558FDC-D21D-4AA5-BF5D-12F637E46CA8}" presName="boxAndChildren" presStyleCnt="0"/>
      <dgm:spPr/>
    </dgm:pt>
    <dgm:pt modelId="{1FC6853A-42AD-4FA6-8661-FB98FB30E5F6}" type="pres">
      <dgm:prSet presAssocID="{5D558FDC-D21D-4AA5-BF5D-12F637E46CA8}" presName="parentTextBox" presStyleLbl="node1" presStyleIdx="0" presStyleCnt="7"/>
      <dgm:spPr/>
    </dgm:pt>
    <dgm:pt modelId="{346D2F58-2AC0-48D9-81E8-6D5628815695}" type="pres">
      <dgm:prSet presAssocID="{3B9F6C95-7173-4832-A5FD-E31D0A2C3DE5}" presName="sp" presStyleCnt="0"/>
      <dgm:spPr/>
    </dgm:pt>
    <dgm:pt modelId="{89D41F83-6263-41D1-B5AF-4B13D8164FE8}" type="pres">
      <dgm:prSet presAssocID="{6CBF717D-8763-42DF-9EC1-70A99113B7FA}" presName="arrowAndChildren" presStyleCnt="0"/>
      <dgm:spPr/>
    </dgm:pt>
    <dgm:pt modelId="{08CC7B77-766C-4369-A59D-E8EDAF802EB9}" type="pres">
      <dgm:prSet presAssocID="{6CBF717D-8763-42DF-9EC1-70A99113B7FA}" presName="parentTextArrow" presStyleLbl="node1" presStyleIdx="1" presStyleCnt="7"/>
      <dgm:spPr/>
    </dgm:pt>
    <dgm:pt modelId="{DC7F5C54-9966-40F7-8936-B79B40A65169}" type="pres">
      <dgm:prSet presAssocID="{A7356FDF-D401-493A-9C0B-C27DE839571C}" presName="sp" presStyleCnt="0"/>
      <dgm:spPr/>
    </dgm:pt>
    <dgm:pt modelId="{CC1E4635-4E3F-440A-954B-E1097953FBF5}" type="pres">
      <dgm:prSet presAssocID="{F5CFDA85-FEF0-463F-9D72-9731C8B3A640}" presName="arrowAndChildren" presStyleCnt="0"/>
      <dgm:spPr/>
    </dgm:pt>
    <dgm:pt modelId="{274B9CCB-50E4-40D9-9558-3633E313F402}" type="pres">
      <dgm:prSet presAssocID="{F5CFDA85-FEF0-463F-9D72-9731C8B3A640}" presName="parentTextArrow" presStyleLbl="node1" presStyleIdx="2" presStyleCnt="7"/>
      <dgm:spPr/>
    </dgm:pt>
    <dgm:pt modelId="{3E4CC0A4-F750-43A2-ADF4-36DBEB5BF329}" type="pres">
      <dgm:prSet presAssocID="{4843D4C0-72F4-4F2C-A683-69740447BD3D}" presName="sp" presStyleCnt="0"/>
      <dgm:spPr/>
    </dgm:pt>
    <dgm:pt modelId="{994C3ACC-16F4-44DA-AF54-806F065336CB}" type="pres">
      <dgm:prSet presAssocID="{0D61E027-BB1E-4366-97D5-057090A889A9}" presName="arrowAndChildren" presStyleCnt="0"/>
      <dgm:spPr/>
    </dgm:pt>
    <dgm:pt modelId="{33935F67-8921-476C-BB28-B446FAF8545F}" type="pres">
      <dgm:prSet presAssocID="{0D61E027-BB1E-4366-97D5-057090A889A9}" presName="parentTextArrow" presStyleLbl="node1" presStyleIdx="3" presStyleCnt="7"/>
      <dgm:spPr/>
    </dgm:pt>
    <dgm:pt modelId="{181AE9EF-86BA-40B5-A87C-84D689C2C6B5}" type="pres">
      <dgm:prSet presAssocID="{29885D3C-8DA9-4CE3-B27E-08F8BEEC0364}" presName="sp" presStyleCnt="0"/>
      <dgm:spPr/>
    </dgm:pt>
    <dgm:pt modelId="{8ECC10A6-3307-4C75-A9B9-68DAC75D27FC}" type="pres">
      <dgm:prSet presAssocID="{6C9A2D9D-12C8-44CC-BE45-1D786E45B85B}" presName="arrowAndChildren" presStyleCnt="0"/>
      <dgm:spPr/>
    </dgm:pt>
    <dgm:pt modelId="{666322E2-DD1D-49D0-984C-2D02F2777BA6}" type="pres">
      <dgm:prSet presAssocID="{6C9A2D9D-12C8-44CC-BE45-1D786E45B85B}" presName="parentTextArrow" presStyleLbl="node1" presStyleIdx="4" presStyleCnt="7"/>
      <dgm:spPr/>
    </dgm:pt>
    <dgm:pt modelId="{0CDD4AFA-C417-4B39-83AB-1CA7A82BADF0}" type="pres">
      <dgm:prSet presAssocID="{D177F1EC-80B4-485E-B3E5-62EDC59E917E}" presName="sp" presStyleCnt="0"/>
      <dgm:spPr/>
    </dgm:pt>
    <dgm:pt modelId="{B185C1BA-D19E-49AF-AE04-88686A9F9E80}" type="pres">
      <dgm:prSet presAssocID="{D1BC59BB-445C-41BD-A81A-2785AFA6841C}" presName="arrowAndChildren" presStyleCnt="0"/>
      <dgm:spPr/>
    </dgm:pt>
    <dgm:pt modelId="{CF06915D-710C-4BF5-95E2-A6E30EBDE72E}" type="pres">
      <dgm:prSet presAssocID="{D1BC59BB-445C-41BD-A81A-2785AFA6841C}" presName="parentTextArrow" presStyleLbl="node1" presStyleIdx="5" presStyleCnt="7"/>
      <dgm:spPr/>
    </dgm:pt>
    <dgm:pt modelId="{4699ED67-7FBA-4237-91B3-778F9017AC41}" type="pres">
      <dgm:prSet presAssocID="{B23E8656-56BC-4CB7-82D9-6CC11156458B}" presName="sp" presStyleCnt="0"/>
      <dgm:spPr/>
    </dgm:pt>
    <dgm:pt modelId="{84D5E7DA-ED40-44C1-9231-95DEDA5A93AB}" type="pres">
      <dgm:prSet presAssocID="{8B3B3074-0311-42D4-A572-AFAAEC24E0E4}" presName="arrowAndChildren" presStyleCnt="0"/>
      <dgm:spPr/>
    </dgm:pt>
    <dgm:pt modelId="{A6DCDC7C-DE6E-4286-BB7F-607FC537C6E1}" type="pres">
      <dgm:prSet presAssocID="{8B3B3074-0311-42D4-A572-AFAAEC24E0E4}" presName="parentTextArrow" presStyleLbl="node1" presStyleIdx="6" presStyleCnt="7"/>
      <dgm:spPr/>
    </dgm:pt>
  </dgm:ptLst>
  <dgm:cxnLst>
    <dgm:cxn modelId="{0D40F609-AE46-4561-9763-40DDAC33DC15}" type="presOf" srcId="{2B41266A-D4D6-47F6-99D0-BD14F8E0FD62}" destId="{85D8D6AD-F309-4EE8-9487-DF9CA3B4F2CB}" srcOrd="0" destOrd="0" presId="urn:microsoft.com/office/officeart/2005/8/layout/process4"/>
    <dgm:cxn modelId="{1B66602A-3156-4F07-9C00-D619A128A6AD}" srcId="{2B41266A-D4D6-47F6-99D0-BD14F8E0FD62}" destId="{6CBF717D-8763-42DF-9EC1-70A99113B7FA}" srcOrd="5" destOrd="0" parTransId="{F1FC2564-B0DC-499C-A1DE-10FD2B4FC1D7}" sibTransId="{3B9F6C95-7173-4832-A5FD-E31D0A2C3DE5}"/>
    <dgm:cxn modelId="{700F965B-5E6D-415B-B1DE-845AFADE403D}" type="presOf" srcId="{6CBF717D-8763-42DF-9EC1-70A99113B7FA}" destId="{08CC7B77-766C-4369-A59D-E8EDAF802EB9}" srcOrd="0" destOrd="0" presId="urn:microsoft.com/office/officeart/2005/8/layout/process4"/>
    <dgm:cxn modelId="{C761A85D-CBA9-4BF6-A51C-DC9AFDAE7C6B}" type="presOf" srcId="{F5CFDA85-FEF0-463F-9D72-9731C8B3A640}" destId="{274B9CCB-50E4-40D9-9558-3633E313F402}" srcOrd="0" destOrd="0" presId="urn:microsoft.com/office/officeart/2005/8/layout/process4"/>
    <dgm:cxn modelId="{37F66E46-BDA4-44AE-9A90-26161B309DCB}" srcId="{2B41266A-D4D6-47F6-99D0-BD14F8E0FD62}" destId="{5D558FDC-D21D-4AA5-BF5D-12F637E46CA8}" srcOrd="6" destOrd="0" parTransId="{772DA252-7FCA-4578-947F-513A860538D5}" sibTransId="{91C5CA60-0D50-43FE-9719-518150235D34}"/>
    <dgm:cxn modelId="{7CBE8449-EDEA-4CB7-9375-09483D7852F6}" type="presOf" srcId="{6C9A2D9D-12C8-44CC-BE45-1D786E45B85B}" destId="{666322E2-DD1D-49D0-984C-2D02F2777BA6}" srcOrd="0" destOrd="0" presId="urn:microsoft.com/office/officeart/2005/8/layout/process4"/>
    <dgm:cxn modelId="{7BE9FC4B-1744-41CD-96DC-E4835DED8EAB}" type="presOf" srcId="{D1BC59BB-445C-41BD-A81A-2785AFA6841C}" destId="{CF06915D-710C-4BF5-95E2-A6E30EBDE72E}" srcOrd="0" destOrd="0" presId="urn:microsoft.com/office/officeart/2005/8/layout/process4"/>
    <dgm:cxn modelId="{2BCE5057-04A4-4FA5-93FB-DCACD83AF87A}" srcId="{2B41266A-D4D6-47F6-99D0-BD14F8E0FD62}" destId="{0D61E027-BB1E-4366-97D5-057090A889A9}" srcOrd="3" destOrd="0" parTransId="{354E4877-2593-4469-B078-86D9837F5E8B}" sibTransId="{4843D4C0-72F4-4F2C-A683-69740447BD3D}"/>
    <dgm:cxn modelId="{FD738478-3637-4838-8469-0B4F1BDF2A10}" type="presOf" srcId="{0D61E027-BB1E-4366-97D5-057090A889A9}" destId="{33935F67-8921-476C-BB28-B446FAF8545F}" srcOrd="0" destOrd="0" presId="urn:microsoft.com/office/officeart/2005/8/layout/process4"/>
    <dgm:cxn modelId="{FFDD109B-B864-4A57-815E-DC33909C492B}" srcId="{2B41266A-D4D6-47F6-99D0-BD14F8E0FD62}" destId="{F5CFDA85-FEF0-463F-9D72-9731C8B3A640}" srcOrd="4" destOrd="0" parTransId="{F2DF6528-0916-4EE8-A1C4-E5F946482D4F}" sibTransId="{A7356FDF-D401-493A-9C0B-C27DE839571C}"/>
    <dgm:cxn modelId="{537B65A0-BD86-47AF-947E-61C481289975}" srcId="{2B41266A-D4D6-47F6-99D0-BD14F8E0FD62}" destId="{D1BC59BB-445C-41BD-A81A-2785AFA6841C}" srcOrd="1" destOrd="0" parTransId="{4E829C0B-9A73-4771-9C12-4D80BEA8D172}" sibTransId="{D177F1EC-80B4-485E-B3E5-62EDC59E917E}"/>
    <dgm:cxn modelId="{8018ACAE-9CD0-47E0-96C8-B1A19036D1F4}" type="presOf" srcId="{5D558FDC-D21D-4AA5-BF5D-12F637E46CA8}" destId="{1FC6853A-42AD-4FA6-8661-FB98FB30E5F6}" srcOrd="0" destOrd="0" presId="urn:microsoft.com/office/officeart/2005/8/layout/process4"/>
    <dgm:cxn modelId="{7AE8DFB5-7B1B-42E2-8D7F-4A2771FCEE4D}" type="presOf" srcId="{8B3B3074-0311-42D4-A572-AFAAEC24E0E4}" destId="{A6DCDC7C-DE6E-4286-BB7F-607FC537C6E1}" srcOrd="0" destOrd="0" presId="urn:microsoft.com/office/officeart/2005/8/layout/process4"/>
    <dgm:cxn modelId="{3DDB1BC8-E1E0-4112-992A-E817FB4CDFD4}" srcId="{2B41266A-D4D6-47F6-99D0-BD14F8E0FD62}" destId="{8B3B3074-0311-42D4-A572-AFAAEC24E0E4}" srcOrd="0" destOrd="0" parTransId="{86EDE444-6D55-4638-AF1C-ABF98A2D06DE}" sibTransId="{B23E8656-56BC-4CB7-82D9-6CC11156458B}"/>
    <dgm:cxn modelId="{6E37BCF1-00DB-4E5D-852F-CAE192DD2793}" srcId="{2B41266A-D4D6-47F6-99D0-BD14F8E0FD62}" destId="{6C9A2D9D-12C8-44CC-BE45-1D786E45B85B}" srcOrd="2" destOrd="0" parTransId="{F049D64F-C358-4348-94A7-91398B7DB3E3}" sibTransId="{29885D3C-8DA9-4CE3-B27E-08F8BEEC0364}"/>
    <dgm:cxn modelId="{55A89EF1-9114-47B7-B41A-879ED69540B3}" type="presParOf" srcId="{85D8D6AD-F309-4EE8-9487-DF9CA3B4F2CB}" destId="{2583EF23-0AB1-429C-9462-702576A870E8}" srcOrd="0" destOrd="0" presId="urn:microsoft.com/office/officeart/2005/8/layout/process4"/>
    <dgm:cxn modelId="{8B8A03C8-190E-49D3-B599-F85A78691D45}" type="presParOf" srcId="{2583EF23-0AB1-429C-9462-702576A870E8}" destId="{1FC6853A-42AD-4FA6-8661-FB98FB30E5F6}" srcOrd="0" destOrd="0" presId="urn:microsoft.com/office/officeart/2005/8/layout/process4"/>
    <dgm:cxn modelId="{3D3A095B-1971-4BDA-A344-AB3EA0AD10F3}" type="presParOf" srcId="{85D8D6AD-F309-4EE8-9487-DF9CA3B4F2CB}" destId="{346D2F58-2AC0-48D9-81E8-6D5628815695}" srcOrd="1" destOrd="0" presId="urn:microsoft.com/office/officeart/2005/8/layout/process4"/>
    <dgm:cxn modelId="{1D176459-3C64-4A7C-8C70-F1C9DE5812BD}" type="presParOf" srcId="{85D8D6AD-F309-4EE8-9487-DF9CA3B4F2CB}" destId="{89D41F83-6263-41D1-B5AF-4B13D8164FE8}" srcOrd="2" destOrd="0" presId="urn:microsoft.com/office/officeart/2005/8/layout/process4"/>
    <dgm:cxn modelId="{7DB91229-449C-4C0D-831E-343A856ACDD8}" type="presParOf" srcId="{89D41F83-6263-41D1-B5AF-4B13D8164FE8}" destId="{08CC7B77-766C-4369-A59D-E8EDAF802EB9}" srcOrd="0" destOrd="0" presId="urn:microsoft.com/office/officeart/2005/8/layout/process4"/>
    <dgm:cxn modelId="{0801AF27-68AA-4770-8796-923909543FF9}" type="presParOf" srcId="{85D8D6AD-F309-4EE8-9487-DF9CA3B4F2CB}" destId="{DC7F5C54-9966-40F7-8936-B79B40A65169}" srcOrd="3" destOrd="0" presId="urn:microsoft.com/office/officeart/2005/8/layout/process4"/>
    <dgm:cxn modelId="{199ABEAB-967F-44A1-8BFD-08DF6A97FF49}" type="presParOf" srcId="{85D8D6AD-F309-4EE8-9487-DF9CA3B4F2CB}" destId="{CC1E4635-4E3F-440A-954B-E1097953FBF5}" srcOrd="4" destOrd="0" presId="urn:microsoft.com/office/officeart/2005/8/layout/process4"/>
    <dgm:cxn modelId="{CE7CC010-28C3-4206-8B90-36B752E0B8D0}" type="presParOf" srcId="{CC1E4635-4E3F-440A-954B-E1097953FBF5}" destId="{274B9CCB-50E4-40D9-9558-3633E313F402}" srcOrd="0" destOrd="0" presId="urn:microsoft.com/office/officeart/2005/8/layout/process4"/>
    <dgm:cxn modelId="{5EAB467F-D213-4111-ABC6-4FCACA36C5D4}" type="presParOf" srcId="{85D8D6AD-F309-4EE8-9487-DF9CA3B4F2CB}" destId="{3E4CC0A4-F750-43A2-ADF4-36DBEB5BF329}" srcOrd="5" destOrd="0" presId="urn:microsoft.com/office/officeart/2005/8/layout/process4"/>
    <dgm:cxn modelId="{B0C6FB34-E4F5-4C91-A0DD-D9E51EABF800}" type="presParOf" srcId="{85D8D6AD-F309-4EE8-9487-DF9CA3B4F2CB}" destId="{994C3ACC-16F4-44DA-AF54-806F065336CB}" srcOrd="6" destOrd="0" presId="urn:microsoft.com/office/officeart/2005/8/layout/process4"/>
    <dgm:cxn modelId="{1F863938-91EA-4903-841A-948E0CDDB20D}" type="presParOf" srcId="{994C3ACC-16F4-44DA-AF54-806F065336CB}" destId="{33935F67-8921-476C-BB28-B446FAF8545F}" srcOrd="0" destOrd="0" presId="urn:microsoft.com/office/officeart/2005/8/layout/process4"/>
    <dgm:cxn modelId="{DD001188-046A-4F16-96AE-8AC2FA0F0081}" type="presParOf" srcId="{85D8D6AD-F309-4EE8-9487-DF9CA3B4F2CB}" destId="{181AE9EF-86BA-40B5-A87C-84D689C2C6B5}" srcOrd="7" destOrd="0" presId="urn:microsoft.com/office/officeart/2005/8/layout/process4"/>
    <dgm:cxn modelId="{9A72D616-9657-4FCD-A41E-B9F764A1AFD5}" type="presParOf" srcId="{85D8D6AD-F309-4EE8-9487-DF9CA3B4F2CB}" destId="{8ECC10A6-3307-4C75-A9B9-68DAC75D27FC}" srcOrd="8" destOrd="0" presId="urn:microsoft.com/office/officeart/2005/8/layout/process4"/>
    <dgm:cxn modelId="{6D02BF20-FFF3-4AB4-BF96-C203DAA40B9B}" type="presParOf" srcId="{8ECC10A6-3307-4C75-A9B9-68DAC75D27FC}" destId="{666322E2-DD1D-49D0-984C-2D02F2777BA6}" srcOrd="0" destOrd="0" presId="urn:microsoft.com/office/officeart/2005/8/layout/process4"/>
    <dgm:cxn modelId="{F6390CA1-5A85-4D4E-8CDD-03FD6595CAE4}" type="presParOf" srcId="{85D8D6AD-F309-4EE8-9487-DF9CA3B4F2CB}" destId="{0CDD4AFA-C417-4B39-83AB-1CA7A82BADF0}" srcOrd="9" destOrd="0" presId="urn:microsoft.com/office/officeart/2005/8/layout/process4"/>
    <dgm:cxn modelId="{DFD83B8B-8F1F-405A-96BC-9D4BFC794E4B}" type="presParOf" srcId="{85D8D6AD-F309-4EE8-9487-DF9CA3B4F2CB}" destId="{B185C1BA-D19E-49AF-AE04-88686A9F9E80}" srcOrd="10" destOrd="0" presId="urn:microsoft.com/office/officeart/2005/8/layout/process4"/>
    <dgm:cxn modelId="{81215420-1B81-4B71-A6F0-2A348A7274EE}" type="presParOf" srcId="{B185C1BA-D19E-49AF-AE04-88686A9F9E80}" destId="{CF06915D-710C-4BF5-95E2-A6E30EBDE72E}" srcOrd="0" destOrd="0" presId="urn:microsoft.com/office/officeart/2005/8/layout/process4"/>
    <dgm:cxn modelId="{BDA6853C-C619-4AEA-AFAB-49B32C434163}" type="presParOf" srcId="{85D8D6AD-F309-4EE8-9487-DF9CA3B4F2CB}" destId="{4699ED67-7FBA-4237-91B3-778F9017AC41}" srcOrd="11" destOrd="0" presId="urn:microsoft.com/office/officeart/2005/8/layout/process4"/>
    <dgm:cxn modelId="{E841D9D2-E081-4BB4-92D5-2BD21E54AA95}" type="presParOf" srcId="{85D8D6AD-F309-4EE8-9487-DF9CA3B4F2CB}" destId="{84D5E7DA-ED40-44C1-9231-95DEDA5A93AB}" srcOrd="12" destOrd="0" presId="urn:microsoft.com/office/officeart/2005/8/layout/process4"/>
    <dgm:cxn modelId="{6D79215B-F478-4192-AE94-CAF40631709F}" type="presParOf" srcId="{84D5E7DA-ED40-44C1-9231-95DEDA5A93AB}" destId="{A6DCDC7C-DE6E-4286-BB7F-607FC537C6E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41266A-D4D6-47F6-99D0-BD14F8E0FD62}" type="doc">
      <dgm:prSet loTypeId="urn:microsoft.com/office/officeart/2005/8/layout/process4" loCatId="process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fr-FR"/>
        </a:p>
      </dgm:t>
    </dgm:pt>
    <dgm:pt modelId="{8B3B3074-0311-42D4-A572-AFAAEC24E0E4}">
      <dgm:prSet phldrT="[Text]" phldr="0"/>
      <dgm:spPr/>
      <dgm:t>
        <a:bodyPr/>
        <a:lstStyle/>
        <a:p>
          <a:r>
            <a:rPr lang="fr-FR" dirty="0"/>
            <a:t>Nettoyage initial</a:t>
          </a:r>
        </a:p>
      </dgm:t>
    </dgm:pt>
    <dgm:pt modelId="{86EDE444-6D55-4638-AF1C-ABF98A2D06DE}" type="parTrans" cxnId="{3DDB1BC8-E1E0-4112-992A-E817FB4CDFD4}">
      <dgm:prSet/>
      <dgm:spPr/>
      <dgm:t>
        <a:bodyPr/>
        <a:lstStyle/>
        <a:p>
          <a:endParaRPr lang="fr-FR"/>
        </a:p>
      </dgm:t>
    </dgm:pt>
    <dgm:pt modelId="{B23E8656-56BC-4CB7-82D9-6CC11156458B}" type="sibTrans" cxnId="{3DDB1BC8-E1E0-4112-992A-E817FB4CDFD4}">
      <dgm:prSet/>
      <dgm:spPr/>
      <dgm:t>
        <a:bodyPr/>
        <a:lstStyle/>
        <a:p>
          <a:endParaRPr lang="fr-FR"/>
        </a:p>
      </dgm:t>
    </dgm:pt>
    <dgm:pt modelId="{D1BC59BB-445C-41BD-A81A-2785AFA6841C}">
      <dgm:prSet phldrT="[Text]" phldr="0"/>
      <dgm:spPr/>
      <dgm:t>
        <a:bodyPr/>
        <a:lstStyle/>
        <a:p>
          <a:r>
            <a:rPr lang="fr-FR" dirty="0"/>
            <a:t>Fusion train/test</a:t>
          </a:r>
        </a:p>
      </dgm:t>
    </dgm:pt>
    <dgm:pt modelId="{4E829C0B-9A73-4771-9C12-4D80BEA8D172}" type="parTrans" cxnId="{537B65A0-BD86-47AF-947E-61C481289975}">
      <dgm:prSet/>
      <dgm:spPr/>
      <dgm:t>
        <a:bodyPr/>
        <a:lstStyle/>
        <a:p>
          <a:endParaRPr lang="fr-FR"/>
        </a:p>
      </dgm:t>
    </dgm:pt>
    <dgm:pt modelId="{D177F1EC-80B4-485E-B3E5-62EDC59E917E}" type="sibTrans" cxnId="{537B65A0-BD86-47AF-947E-61C481289975}">
      <dgm:prSet/>
      <dgm:spPr/>
      <dgm:t>
        <a:bodyPr/>
        <a:lstStyle/>
        <a:p>
          <a:endParaRPr lang="fr-FR"/>
        </a:p>
      </dgm:t>
    </dgm:pt>
    <dgm:pt modelId="{6C9A2D9D-12C8-44CC-BE45-1D786E45B85B}">
      <dgm:prSet phldrT="[Text]" phldr="0"/>
      <dgm:spPr/>
      <dgm:t>
        <a:bodyPr/>
        <a:lstStyle/>
        <a:p>
          <a:r>
            <a:rPr lang="fr-FR" dirty="0" err="1"/>
            <a:t>Ecodage</a:t>
          </a:r>
          <a:r>
            <a:rPr lang="fr-FR" dirty="0"/>
            <a:t> des variables catégorielles</a:t>
          </a:r>
        </a:p>
      </dgm:t>
    </dgm:pt>
    <dgm:pt modelId="{F049D64F-C358-4348-94A7-91398B7DB3E3}" type="parTrans" cxnId="{6E37BCF1-00DB-4E5D-852F-CAE192DD2793}">
      <dgm:prSet/>
      <dgm:spPr/>
      <dgm:t>
        <a:bodyPr/>
        <a:lstStyle/>
        <a:p>
          <a:endParaRPr lang="fr-FR"/>
        </a:p>
      </dgm:t>
    </dgm:pt>
    <dgm:pt modelId="{29885D3C-8DA9-4CE3-B27E-08F8BEEC0364}" type="sibTrans" cxnId="{6E37BCF1-00DB-4E5D-852F-CAE192DD2793}">
      <dgm:prSet/>
      <dgm:spPr/>
      <dgm:t>
        <a:bodyPr/>
        <a:lstStyle/>
        <a:p>
          <a:endParaRPr lang="fr-FR"/>
        </a:p>
      </dgm:t>
    </dgm:pt>
    <dgm:pt modelId="{0D61E027-BB1E-4366-97D5-057090A889A9}">
      <dgm:prSet phldrT="[Text]" phldr="0"/>
      <dgm:spPr/>
      <dgm:t>
        <a:bodyPr/>
        <a:lstStyle/>
        <a:p>
          <a:r>
            <a:rPr lang="fr-FR" dirty="0"/>
            <a:t>FI de base</a:t>
          </a:r>
        </a:p>
      </dgm:t>
    </dgm:pt>
    <dgm:pt modelId="{354E4877-2593-4469-B078-86D9837F5E8B}" type="parTrans" cxnId="{2BCE5057-04A4-4FA5-93FB-DCACD83AF87A}">
      <dgm:prSet/>
      <dgm:spPr/>
      <dgm:t>
        <a:bodyPr/>
        <a:lstStyle/>
        <a:p>
          <a:endParaRPr lang="fr-FR"/>
        </a:p>
      </dgm:t>
    </dgm:pt>
    <dgm:pt modelId="{4843D4C0-72F4-4F2C-A683-69740447BD3D}" type="sibTrans" cxnId="{2BCE5057-04A4-4FA5-93FB-DCACD83AF87A}">
      <dgm:prSet/>
      <dgm:spPr/>
      <dgm:t>
        <a:bodyPr/>
        <a:lstStyle/>
        <a:p>
          <a:endParaRPr lang="fr-FR"/>
        </a:p>
      </dgm:t>
    </dgm:pt>
    <dgm:pt modelId="{F5CFDA85-FEF0-463F-9D72-9731C8B3A640}">
      <dgm:prSet phldrT="[Text]" phldr="0"/>
      <dgm:spPr/>
      <dgm:t>
        <a:bodyPr/>
        <a:lstStyle/>
        <a:p>
          <a:r>
            <a:rPr lang="fr-FR" dirty="0"/>
            <a:t>Nettoyage des valeurs manquantes</a:t>
          </a:r>
        </a:p>
      </dgm:t>
    </dgm:pt>
    <dgm:pt modelId="{F2DF6528-0916-4EE8-A1C4-E5F946482D4F}" type="parTrans" cxnId="{FFDD109B-B864-4A57-815E-DC33909C492B}">
      <dgm:prSet/>
      <dgm:spPr/>
      <dgm:t>
        <a:bodyPr/>
        <a:lstStyle/>
        <a:p>
          <a:endParaRPr lang="fr-FR"/>
        </a:p>
      </dgm:t>
    </dgm:pt>
    <dgm:pt modelId="{A7356FDF-D401-493A-9C0B-C27DE839571C}" type="sibTrans" cxnId="{FFDD109B-B864-4A57-815E-DC33909C492B}">
      <dgm:prSet/>
      <dgm:spPr/>
      <dgm:t>
        <a:bodyPr/>
        <a:lstStyle/>
        <a:p>
          <a:endParaRPr lang="fr-FR"/>
        </a:p>
      </dgm:t>
    </dgm:pt>
    <dgm:pt modelId="{6CBF717D-8763-42DF-9EC1-70A99113B7FA}">
      <dgm:prSet phldrT="[Text]" phldr="0"/>
      <dgm:spPr/>
      <dgm:t>
        <a:bodyPr/>
        <a:lstStyle/>
        <a:p>
          <a:r>
            <a:rPr lang="fr-FR" dirty="0"/>
            <a:t>Intégration des sources secondaires</a:t>
          </a:r>
        </a:p>
      </dgm:t>
    </dgm:pt>
    <dgm:pt modelId="{F1FC2564-B0DC-499C-A1DE-10FD2B4FC1D7}" type="parTrans" cxnId="{1B66602A-3156-4F07-9C00-D619A128A6AD}">
      <dgm:prSet/>
      <dgm:spPr/>
      <dgm:t>
        <a:bodyPr/>
        <a:lstStyle/>
        <a:p>
          <a:endParaRPr lang="fr-FR"/>
        </a:p>
      </dgm:t>
    </dgm:pt>
    <dgm:pt modelId="{3B9F6C95-7173-4832-A5FD-E31D0A2C3DE5}" type="sibTrans" cxnId="{1B66602A-3156-4F07-9C00-D619A128A6AD}">
      <dgm:prSet/>
      <dgm:spPr/>
      <dgm:t>
        <a:bodyPr/>
        <a:lstStyle/>
        <a:p>
          <a:endParaRPr lang="fr-FR"/>
        </a:p>
      </dgm:t>
    </dgm:pt>
    <dgm:pt modelId="{5D558FDC-D21D-4AA5-BF5D-12F637E46CA8}">
      <dgm:prSet phldrT="[Text]" phldr="0"/>
      <dgm:spPr/>
      <dgm:t>
        <a:bodyPr/>
        <a:lstStyle/>
        <a:p>
          <a:r>
            <a:rPr lang="fr-FR" dirty="0"/>
            <a:t>Merge global</a:t>
          </a:r>
        </a:p>
      </dgm:t>
    </dgm:pt>
    <dgm:pt modelId="{772DA252-7FCA-4578-947F-513A860538D5}" type="parTrans" cxnId="{37F66E46-BDA4-44AE-9A90-26161B309DCB}">
      <dgm:prSet/>
      <dgm:spPr/>
      <dgm:t>
        <a:bodyPr/>
        <a:lstStyle/>
        <a:p>
          <a:endParaRPr lang="fr-FR"/>
        </a:p>
      </dgm:t>
    </dgm:pt>
    <dgm:pt modelId="{91C5CA60-0D50-43FE-9719-518150235D34}" type="sibTrans" cxnId="{37F66E46-BDA4-44AE-9A90-26161B309DCB}">
      <dgm:prSet/>
      <dgm:spPr/>
      <dgm:t>
        <a:bodyPr/>
        <a:lstStyle/>
        <a:p>
          <a:endParaRPr lang="fr-FR"/>
        </a:p>
      </dgm:t>
    </dgm:pt>
    <dgm:pt modelId="{85D8D6AD-F309-4EE8-9487-DF9CA3B4F2CB}" type="pres">
      <dgm:prSet presAssocID="{2B41266A-D4D6-47F6-99D0-BD14F8E0FD62}" presName="Name0" presStyleCnt="0">
        <dgm:presLayoutVars>
          <dgm:dir/>
          <dgm:animLvl val="lvl"/>
          <dgm:resizeHandles val="exact"/>
        </dgm:presLayoutVars>
      </dgm:prSet>
      <dgm:spPr/>
    </dgm:pt>
    <dgm:pt modelId="{2583EF23-0AB1-429C-9462-702576A870E8}" type="pres">
      <dgm:prSet presAssocID="{5D558FDC-D21D-4AA5-BF5D-12F637E46CA8}" presName="boxAndChildren" presStyleCnt="0"/>
      <dgm:spPr/>
    </dgm:pt>
    <dgm:pt modelId="{1FC6853A-42AD-4FA6-8661-FB98FB30E5F6}" type="pres">
      <dgm:prSet presAssocID="{5D558FDC-D21D-4AA5-BF5D-12F637E46CA8}" presName="parentTextBox" presStyleLbl="node1" presStyleIdx="0" presStyleCnt="7"/>
      <dgm:spPr/>
    </dgm:pt>
    <dgm:pt modelId="{346D2F58-2AC0-48D9-81E8-6D5628815695}" type="pres">
      <dgm:prSet presAssocID="{3B9F6C95-7173-4832-A5FD-E31D0A2C3DE5}" presName="sp" presStyleCnt="0"/>
      <dgm:spPr/>
    </dgm:pt>
    <dgm:pt modelId="{89D41F83-6263-41D1-B5AF-4B13D8164FE8}" type="pres">
      <dgm:prSet presAssocID="{6CBF717D-8763-42DF-9EC1-70A99113B7FA}" presName="arrowAndChildren" presStyleCnt="0"/>
      <dgm:spPr/>
    </dgm:pt>
    <dgm:pt modelId="{08CC7B77-766C-4369-A59D-E8EDAF802EB9}" type="pres">
      <dgm:prSet presAssocID="{6CBF717D-8763-42DF-9EC1-70A99113B7FA}" presName="parentTextArrow" presStyleLbl="node1" presStyleIdx="1" presStyleCnt="7"/>
      <dgm:spPr/>
    </dgm:pt>
    <dgm:pt modelId="{DC7F5C54-9966-40F7-8936-B79B40A65169}" type="pres">
      <dgm:prSet presAssocID="{A7356FDF-D401-493A-9C0B-C27DE839571C}" presName="sp" presStyleCnt="0"/>
      <dgm:spPr/>
    </dgm:pt>
    <dgm:pt modelId="{CC1E4635-4E3F-440A-954B-E1097953FBF5}" type="pres">
      <dgm:prSet presAssocID="{F5CFDA85-FEF0-463F-9D72-9731C8B3A640}" presName="arrowAndChildren" presStyleCnt="0"/>
      <dgm:spPr/>
    </dgm:pt>
    <dgm:pt modelId="{274B9CCB-50E4-40D9-9558-3633E313F402}" type="pres">
      <dgm:prSet presAssocID="{F5CFDA85-FEF0-463F-9D72-9731C8B3A640}" presName="parentTextArrow" presStyleLbl="node1" presStyleIdx="2" presStyleCnt="7"/>
      <dgm:spPr/>
    </dgm:pt>
    <dgm:pt modelId="{3E4CC0A4-F750-43A2-ADF4-36DBEB5BF329}" type="pres">
      <dgm:prSet presAssocID="{4843D4C0-72F4-4F2C-A683-69740447BD3D}" presName="sp" presStyleCnt="0"/>
      <dgm:spPr/>
    </dgm:pt>
    <dgm:pt modelId="{994C3ACC-16F4-44DA-AF54-806F065336CB}" type="pres">
      <dgm:prSet presAssocID="{0D61E027-BB1E-4366-97D5-057090A889A9}" presName="arrowAndChildren" presStyleCnt="0"/>
      <dgm:spPr/>
    </dgm:pt>
    <dgm:pt modelId="{33935F67-8921-476C-BB28-B446FAF8545F}" type="pres">
      <dgm:prSet presAssocID="{0D61E027-BB1E-4366-97D5-057090A889A9}" presName="parentTextArrow" presStyleLbl="node1" presStyleIdx="3" presStyleCnt="7"/>
      <dgm:spPr/>
    </dgm:pt>
    <dgm:pt modelId="{181AE9EF-86BA-40B5-A87C-84D689C2C6B5}" type="pres">
      <dgm:prSet presAssocID="{29885D3C-8DA9-4CE3-B27E-08F8BEEC0364}" presName="sp" presStyleCnt="0"/>
      <dgm:spPr/>
    </dgm:pt>
    <dgm:pt modelId="{8ECC10A6-3307-4C75-A9B9-68DAC75D27FC}" type="pres">
      <dgm:prSet presAssocID="{6C9A2D9D-12C8-44CC-BE45-1D786E45B85B}" presName="arrowAndChildren" presStyleCnt="0"/>
      <dgm:spPr/>
    </dgm:pt>
    <dgm:pt modelId="{666322E2-DD1D-49D0-984C-2D02F2777BA6}" type="pres">
      <dgm:prSet presAssocID="{6C9A2D9D-12C8-44CC-BE45-1D786E45B85B}" presName="parentTextArrow" presStyleLbl="node1" presStyleIdx="4" presStyleCnt="7"/>
      <dgm:spPr/>
    </dgm:pt>
    <dgm:pt modelId="{0CDD4AFA-C417-4B39-83AB-1CA7A82BADF0}" type="pres">
      <dgm:prSet presAssocID="{D177F1EC-80B4-485E-B3E5-62EDC59E917E}" presName="sp" presStyleCnt="0"/>
      <dgm:spPr/>
    </dgm:pt>
    <dgm:pt modelId="{B185C1BA-D19E-49AF-AE04-88686A9F9E80}" type="pres">
      <dgm:prSet presAssocID="{D1BC59BB-445C-41BD-A81A-2785AFA6841C}" presName="arrowAndChildren" presStyleCnt="0"/>
      <dgm:spPr/>
    </dgm:pt>
    <dgm:pt modelId="{CF06915D-710C-4BF5-95E2-A6E30EBDE72E}" type="pres">
      <dgm:prSet presAssocID="{D1BC59BB-445C-41BD-A81A-2785AFA6841C}" presName="parentTextArrow" presStyleLbl="node1" presStyleIdx="5" presStyleCnt="7"/>
      <dgm:spPr/>
    </dgm:pt>
    <dgm:pt modelId="{4699ED67-7FBA-4237-91B3-778F9017AC41}" type="pres">
      <dgm:prSet presAssocID="{B23E8656-56BC-4CB7-82D9-6CC11156458B}" presName="sp" presStyleCnt="0"/>
      <dgm:spPr/>
    </dgm:pt>
    <dgm:pt modelId="{84D5E7DA-ED40-44C1-9231-95DEDA5A93AB}" type="pres">
      <dgm:prSet presAssocID="{8B3B3074-0311-42D4-A572-AFAAEC24E0E4}" presName="arrowAndChildren" presStyleCnt="0"/>
      <dgm:spPr/>
    </dgm:pt>
    <dgm:pt modelId="{A6DCDC7C-DE6E-4286-BB7F-607FC537C6E1}" type="pres">
      <dgm:prSet presAssocID="{8B3B3074-0311-42D4-A572-AFAAEC24E0E4}" presName="parentTextArrow" presStyleLbl="node1" presStyleIdx="6" presStyleCnt="7"/>
      <dgm:spPr/>
    </dgm:pt>
  </dgm:ptLst>
  <dgm:cxnLst>
    <dgm:cxn modelId="{0D40F609-AE46-4561-9763-40DDAC33DC15}" type="presOf" srcId="{2B41266A-D4D6-47F6-99D0-BD14F8E0FD62}" destId="{85D8D6AD-F309-4EE8-9487-DF9CA3B4F2CB}" srcOrd="0" destOrd="0" presId="urn:microsoft.com/office/officeart/2005/8/layout/process4"/>
    <dgm:cxn modelId="{1B66602A-3156-4F07-9C00-D619A128A6AD}" srcId="{2B41266A-D4D6-47F6-99D0-BD14F8E0FD62}" destId="{6CBF717D-8763-42DF-9EC1-70A99113B7FA}" srcOrd="5" destOrd="0" parTransId="{F1FC2564-B0DC-499C-A1DE-10FD2B4FC1D7}" sibTransId="{3B9F6C95-7173-4832-A5FD-E31D0A2C3DE5}"/>
    <dgm:cxn modelId="{700F965B-5E6D-415B-B1DE-845AFADE403D}" type="presOf" srcId="{6CBF717D-8763-42DF-9EC1-70A99113B7FA}" destId="{08CC7B77-766C-4369-A59D-E8EDAF802EB9}" srcOrd="0" destOrd="0" presId="urn:microsoft.com/office/officeart/2005/8/layout/process4"/>
    <dgm:cxn modelId="{C761A85D-CBA9-4BF6-A51C-DC9AFDAE7C6B}" type="presOf" srcId="{F5CFDA85-FEF0-463F-9D72-9731C8B3A640}" destId="{274B9CCB-50E4-40D9-9558-3633E313F402}" srcOrd="0" destOrd="0" presId="urn:microsoft.com/office/officeart/2005/8/layout/process4"/>
    <dgm:cxn modelId="{37F66E46-BDA4-44AE-9A90-26161B309DCB}" srcId="{2B41266A-D4D6-47F6-99D0-BD14F8E0FD62}" destId="{5D558FDC-D21D-4AA5-BF5D-12F637E46CA8}" srcOrd="6" destOrd="0" parTransId="{772DA252-7FCA-4578-947F-513A860538D5}" sibTransId="{91C5CA60-0D50-43FE-9719-518150235D34}"/>
    <dgm:cxn modelId="{7CBE8449-EDEA-4CB7-9375-09483D7852F6}" type="presOf" srcId="{6C9A2D9D-12C8-44CC-BE45-1D786E45B85B}" destId="{666322E2-DD1D-49D0-984C-2D02F2777BA6}" srcOrd="0" destOrd="0" presId="urn:microsoft.com/office/officeart/2005/8/layout/process4"/>
    <dgm:cxn modelId="{7BE9FC4B-1744-41CD-96DC-E4835DED8EAB}" type="presOf" srcId="{D1BC59BB-445C-41BD-A81A-2785AFA6841C}" destId="{CF06915D-710C-4BF5-95E2-A6E30EBDE72E}" srcOrd="0" destOrd="0" presId="urn:microsoft.com/office/officeart/2005/8/layout/process4"/>
    <dgm:cxn modelId="{2BCE5057-04A4-4FA5-93FB-DCACD83AF87A}" srcId="{2B41266A-D4D6-47F6-99D0-BD14F8E0FD62}" destId="{0D61E027-BB1E-4366-97D5-057090A889A9}" srcOrd="3" destOrd="0" parTransId="{354E4877-2593-4469-B078-86D9837F5E8B}" sibTransId="{4843D4C0-72F4-4F2C-A683-69740447BD3D}"/>
    <dgm:cxn modelId="{FD738478-3637-4838-8469-0B4F1BDF2A10}" type="presOf" srcId="{0D61E027-BB1E-4366-97D5-057090A889A9}" destId="{33935F67-8921-476C-BB28-B446FAF8545F}" srcOrd="0" destOrd="0" presId="urn:microsoft.com/office/officeart/2005/8/layout/process4"/>
    <dgm:cxn modelId="{FFDD109B-B864-4A57-815E-DC33909C492B}" srcId="{2B41266A-D4D6-47F6-99D0-BD14F8E0FD62}" destId="{F5CFDA85-FEF0-463F-9D72-9731C8B3A640}" srcOrd="4" destOrd="0" parTransId="{F2DF6528-0916-4EE8-A1C4-E5F946482D4F}" sibTransId="{A7356FDF-D401-493A-9C0B-C27DE839571C}"/>
    <dgm:cxn modelId="{537B65A0-BD86-47AF-947E-61C481289975}" srcId="{2B41266A-D4D6-47F6-99D0-BD14F8E0FD62}" destId="{D1BC59BB-445C-41BD-A81A-2785AFA6841C}" srcOrd="1" destOrd="0" parTransId="{4E829C0B-9A73-4771-9C12-4D80BEA8D172}" sibTransId="{D177F1EC-80B4-485E-B3E5-62EDC59E917E}"/>
    <dgm:cxn modelId="{8018ACAE-9CD0-47E0-96C8-B1A19036D1F4}" type="presOf" srcId="{5D558FDC-D21D-4AA5-BF5D-12F637E46CA8}" destId="{1FC6853A-42AD-4FA6-8661-FB98FB30E5F6}" srcOrd="0" destOrd="0" presId="urn:microsoft.com/office/officeart/2005/8/layout/process4"/>
    <dgm:cxn modelId="{7AE8DFB5-7B1B-42E2-8D7F-4A2771FCEE4D}" type="presOf" srcId="{8B3B3074-0311-42D4-A572-AFAAEC24E0E4}" destId="{A6DCDC7C-DE6E-4286-BB7F-607FC537C6E1}" srcOrd="0" destOrd="0" presId="urn:microsoft.com/office/officeart/2005/8/layout/process4"/>
    <dgm:cxn modelId="{3DDB1BC8-E1E0-4112-992A-E817FB4CDFD4}" srcId="{2B41266A-D4D6-47F6-99D0-BD14F8E0FD62}" destId="{8B3B3074-0311-42D4-A572-AFAAEC24E0E4}" srcOrd="0" destOrd="0" parTransId="{86EDE444-6D55-4638-AF1C-ABF98A2D06DE}" sibTransId="{B23E8656-56BC-4CB7-82D9-6CC11156458B}"/>
    <dgm:cxn modelId="{6E37BCF1-00DB-4E5D-852F-CAE192DD2793}" srcId="{2B41266A-D4D6-47F6-99D0-BD14F8E0FD62}" destId="{6C9A2D9D-12C8-44CC-BE45-1D786E45B85B}" srcOrd="2" destOrd="0" parTransId="{F049D64F-C358-4348-94A7-91398B7DB3E3}" sibTransId="{29885D3C-8DA9-4CE3-B27E-08F8BEEC0364}"/>
    <dgm:cxn modelId="{55A89EF1-9114-47B7-B41A-879ED69540B3}" type="presParOf" srcId="{85D8D6AD-F309-4EE8-9487-DF9CA3B4F2CB}" destId="{2583EF23-0AB1-429C-9462-702576A870E8}" srcOrd="0" destOrd="0" presId="urn:microsoft.com/office/officeart/2005/8/layout/process4"/>
    <dgm:cxn modelId="{8B8A03C8-190E-49D3-B599-F85A78691D45}" type="presParOf" srcId="{2583EF23-0AB1-429C-9462-702576A870E8}" destId="{1FC6853A-42AD-4FA6-8661-FB98FB30E5F6}" srcOrd="0" destOrd="0" presId="urn:microsoft.com/office/officeart/2005/8/layout/process4"/>
    <dgm:cxn modelId="{3D3A095B-1971-4BDA-A344-AB3EA0AD10F3}" type="presParOf" srcId="{85D8D6AD-F309-4EE8-9487-DF9CA3B4F2CB}" destId="{346D2F58-2AC0-48D9-81E8-6D5628815695}" srcOrd="1" destOrd="0" presId="urn:microsoft.com/office/officeart/2005/8/layout/process4"/>
    <dgm:cxn modelId="{1D176459-3C64-4A7C-8C70-F1C9DE5812BD}" type="presParOf" srcId="{85D8D6AD-F309-4EE8-9487-DF9CA3B4F2CB}" destId="{89D41F83-6263-41D1-B5AF-4B13D8164FE8}" srcOrd="2" destOrd="0" presId="urn:microsoft.com/office/officeart/2005/8/layout/process4"/>
    <dgm:cxn modelId="{7DB91229-449C-4C0D-831E-343A856ACDD8}" type="presParOf" srcId="{89D41F83-6263-41D1-B5AF-4B13D8164FE8}" destId="{08CC7B77-766C-4369-A59D-E8EDAF802EB9}" srcOrd="0" destOrd="0" presId="urn:microsoft.com/office/officeart/2005/8/layout/process4"/>
    <dgm:cxn modelId="{0801AF27-68AA-4770-8796-923909543FF9}" type="presParOf" srcId="{85D8D6AD-F309-4EE8-9487-DF9CA3B4F2CB}" destId="{DC7F5C54-9966-40F7-8936-B79B40A65169}" srcOrd="3" destOrd="0" presId="urn:microsoft.com/office/officeart/2005/8/layout/process4"/>
    <dgm:cxn modelId="{199ABEAB-967F-44A1-8BFD-08DF6A97FF49}" type="presParOf" srcId="{85D8D6AD-F309-4EE8-9487-DF9CA3B4F2CB}" destId="{CC1E4635-4E3F-440A-954B-E1097953FBF5}" srcOrd="4" destOrd="0" presId="urn:microsoft.com/office/officeart/2005/8/layout/process4"/>
    <dgm:cxn modelId="{CE7CC010-28C3-4206-8B90-36B752E0B8D0}" type="presParOf" srcId="{CC1E4635-4E3F-440A-954B-E1097953FBF5}" destId="{274B9CCB-50E4-40D9-9558-3633E313F402}" srcOrd="0" destOrd="0" presId="urn:microsoft.com/office/officeart/2005/8/layout/process4"/>
    <dgm:cxn modelId="{5EAB467F-D213-4111-ABC6-4FCACA36C5D4}" type="presParOf" srcId="{85D8D6AD-F309-4EE8-9487-DF9CA3B4F2CB}" destId="{3E4CC0A4-F750-43A2-ADF4-36DBEB5BF329}" srcOrd="5" destOrd="0" presId="urn:microsoft.com/office/officeart/2005/8/layout/process4"/>
    <dgm:cxn modelId="{B0C6FB34-E4F5-4C91-A0DD-D9E51EABF800}" type="presParOf" srcId="{85D8D6AD-F309-4EE8-9487-DF9CA3B4F2CB}" destId="{994C3ACC-16F4-44DA-AF54-806F065336CB}" srcOrd="6" destOrd="0" presId="urn:microsoft.com/office/officeart/2005/8/layout/process4"/>
    <dgm:cxn modelId="{1F863938-91EA-4903-841A-948E0CDDB20D}" type="presParOf" srcId="{994C3ACC-16F4-44DA-AF54-806F065336CB}" destId="{33935F67-8921-476C-BB28-B446FAF8545F}" srcOrd="0" destOrd="0" presId="urn:microsoft.com/office/officeart/2005/8/layout/process4"/>
    <dgm:cxn modelId="{DD001188-046A-4F16-96AE-8AC2FA0F0081}" type="presParOf" srcId="{85D8D6AD-F309-4EE8-9487-DF9CA3B4F2CB}" destId="{181AE9EF-86BA-40B5-A87C-84D689C2C6B5}" srcOrd="7" destOrd="0" presId="urn:microsoft.com/office/officeart/2005/8/layout/process4"/>
    <dgm:cxn modelId="{9A72D616-9657-4FCD-A41E-B9F764A1AFD5}" type="presParOf" srcId="{85D8D6AD-F309-4EE8-9487-DF9CA3B4F2CB}" destId="{8ECC10A6-3307-4C75-A9B9-68DAC75D27FC}" srcOrd="8" destOrd="0" presId="urn:microsoft.com/office/officeart/2005/8/layout/process4"/>
    <dgm:cxn modelId="{6D02BF20-FFF3-4AB4-BF96-C203DAA40B9B}" type="presParOf" srcId="{8ECC10A6-3307-4C75-A9B9-68DAC75D27FC}" destId="{666322E2-DD1D-49D0-984C-2D02F2777BA6}" srcOrd="0" destOrd="0" presId="urn:microsoft.com/office/officeart/2005/8/layout/process4"/>
    <dgm:cxn modelId="{F6390CA1-5A85-4D4E-8CDD-03FD6595CAE4}" type="presParOf" srcId="{85D8D6AD-F309-4EE8-9487-DF9CA3B4F2CB}" destId="{0CDD4AFA-C417-4B39-83AB-1CA7A82BADF0}" srcOrd="9" destOrd="0" presId="urn:microsoft.com/office/officeart/2005/8/layout/process4"/>
    <dgm:cxn modelId="{DFD83B8B-8F1F-405A-96BC-9D4BFC794E4B}" type="presParOf" srcId="{85D8D6AD-F309-4EE8-9487-DF9CA3B4F2CB}" destId="{B185C1BA-D19E-49AF-AE04-88686A9F9E80}" srcOrd="10" destOrd="0" presId="urn:microsoft.com/office/officeart/2005/8/layout/process4"/>
    <dgm:cxn modelId="{81215420-1B81-4B71-A6F0-2A348A7274EE}" type="presParOf" srcId="{B185C1BA-D19E-49AF-AE04-88686A9F9E80}" destId="{CF06915D-710C-4BF5-95E2-A6E30EBDE72E}" srcOrd="0" destOrd="0" presId="urn:microsoft.com/office/officeart/2005/8/layout/process4"/>
    <dgm:cxn modelId="{BDA6853C-C619-4AEA-AFAB-49B32C434163}" type="presParOf" srcId="{85D8D6AD-F309-4EE8-9487-DF9CA3B4F2CB}" destId="{4699ED67-7FBA-4237-91B3-778F9017AC41}" srcOrd="11" destOrd="0" presId="urn:microsoft.com/office/officeart/2005/8/layout/process4"/>
    <dgm:cxn modelId="{E841D9D2-E081-4BB4-92D5-2BD21E54AA95}" type="presParOf" srcId="{85D8D6AD-F309-4EE8-9487-DF9CA3B4F2CB}" destId="{84D5E7DA-ED40-44C1-9231-95DEDA5A93AB}" srcOrd="12" destOrd="0" presId="urn:microsoft.com/office/officeart/2005/8/layout/process4"/>
    <dgm:cxn modelId="{6D79215B-F478-4192-AE94-CAF40631709F}" type="presParOf" srcId="{84D5E7DA-ED40-44C1-9231-95DEDA5A93AB}" destId="{A6DCDC7C-DE6E-4286-BB7F-607FC537C6E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41266A-D4D6-47F6-99D0-BD14F8E0FD62}" type="doc">
      <dgm:prSet loTypeId="urn:microsoft.com/office/officeart/2005/8/layout/process4" loCatId="process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fr-FR"/>
        </a:p>
      </dgm:t>
    </dgm:pt>
    <dgm:pt modelId="{8B3B3074-0311-42D4-A572-AFAAEC24E0E4}">
      <dgm:prSet phldrT="[Text]" phldr="0"/>
      <dgm:spPr/>
      <dgm:t>
        <a:bodyPr/>
        <a:lstStyle/>
        <a:p>
          <a:r>
            <a:rPr lang="fr-FR" dirty="0"/>
            <a:t>Nettoyage initial</a:t>
          </a:r>
        </a:p>
      </dgm:t>
    </dgm:pt>
    <dgm:pt modelId="{86EDE444-6D55-4638-AF1C-ABF98A2D06DE}" type="parTrans" cxnId="{3DDB1BC8-E1E0-4112-992A-E817FB4CDFD4}">
      <dgm:prSet/>
      <dgm:spPr/>
      <dgm:t>
        <a:bodyPr/>
        <a:lstStyle/>
        <a:p>
          <a:endParaRPr lang="fr-FR"/>
        </a:p>
      </dgm:t>
    </dgm:pt>
    <dgm:pt modelId="{B23E8656-56BC-4CB7-82D9-6CC11156458B}" type="sibTrans" cxnId="{3DDB1BC8-E1E0-4112-992A-E817FB4CDFD4}">
      <dgm:prSet/>
      <dgm:spPr/>
      <dgm:t>
        <a:bodyPr/>
        <a:lstStyle/>
        <a:p>
          <a:endParaRPr lang="fr-FR"/>
        </a:p>
      </dgm:t>
    </dgm:pt>
    <dgm:pt modelId="{D1BC59BB-445C-41BD-A81A-2785AFA6841C}">
      <dgm:prSet phldrT="[Text]" phldr="0"/>
      <dgm:spPr/>
      <dgm:t>
        <a:bodyPr/>
        <a:lstStyle/>
        <a:p>
          <a:r>
            <a:rPr lang="fr-FR" dirty="0"/>
            <a:t>Fusion train/test</a:t>
          </a:r>
        </a:p>
      </dgm:t>
    </dgm:pt>
    <dgm:pt modelId="{4E829C0B-9A73-4771-9C12-4D80BEA8D172}" type="parTrans" cxnId="{537B65A0-BD86-47AF-947E-61C481289975}">
      <dgm:prSet/>
      <dgm:spPr/>
      <dgm:t>
        <a:bodyPr/>
        <a:lstStyle/>
        <a:p>
          <a:endParaRPr lang="fr-FR"/>
        </a:p>
      </dgm:t>
    </dgm:pt>
    <dgm:pt modelId="{D177F1EC-80B4-485E-B3E5-62EDC59E917E}" type="sibTrans" cxnId="{537B65A0-BD86-47AF-947E-61C481289975}">
      <dgm:prSet/>
      <dgm:spPr/>
      <dgm:t>
        <a:bodyPr/>
        <a:lstStyle/>
        <a:p>
          <a:endParaRPr lang="fr-FR"/>
        </a:p>
      </dgm:t>
    </dgm:pt>
    <dgm:pt modelId="{6C9A2D9D-12C8-44CC-BE45-1D786E45B85B}">
      <dgm:prSet phldrT="[Text]" phldr="0"/>
      <dgm:spPr/>
      <dgm:t>
        <a:bodyPr/>
        <a:lstStyle/>
        <a:p>
          <a:r>
            <a:rPr lang="fr-FR" dirty="0" err="1"/>
            <a:t>Ecodage</a:t>
          </a:r>
          <a:r>
            <a:rPr lang="fr-FR" dirty="0"/>
            <a:t> des variables catégorielles</a:t>
          </a:r>
        </a:p>
      </dgm:t>
    </dgm:pt>
    <dgm:pt modelId="{F049D64F-C358-4348-94A7-91398B7DB3E3}" type="parTrans" cxnId="{6E37BCF1-00DB-4E5D-852F-CAE192DD2793}">
      <dgm:prSet/>
      <dgm:spPr/>
      <dgm:t>
        <a:bodyPr/>
        <a:lstStyle/>
        <a:p>
          <a:endParaRPr lang="fr-FR"/>
        </a:p>
      </dgm:t>
    </dgm:pt>
    <dgm:pt modelId="{29885D3C-8DA9-4CE3-B27E-08F8BEEC0364}" type="sibTrans" cxnId="{6E37BCF1-00DB-4E5D-852F-CAE192DD2793}">
      <dgm:prSet/>
      <dgm:spPr/>
      <dgm:t>
        <a:bodyPr/>
        <a:lstStyle/>
        <a:p>
          <a:endParaRPr lang="fr-FR"/>
        </a:p>
      </dgm:t>
    </dgm:pt>
    <dgm:pt modelId="{0D61E027-BB1E-4366-97D5-057090A889A9}">
      <dgm:prSet phldrT="[Text]" phldr="0"/>
      <dgm:spPr/>
      <dgm:t>
        <a:bodyPr/>
        <a:lstStyle/>
        <a:p>
          <a:r>
            <a:rPr lang="fr-FR" dirty="0"/>
            <a:t>FI de base</a:t>
          </a:r>
        </a:p>
      </dgm:t>
    </dgm:pt>
    <dgm:pt modelId="{354E4877-2593-4469-B078-86D9837F5E8B}" type="parTrans" cxnId="{2BCE5057-04A4-4FA5-93FB-DCACD83AF87A}">
      <dgm:prSet/>
      <dgm:spPr/>
      <dgm:t>
        <a:bodyPr/>
        <a:lstStyle/>
        <a:p>
          <a:endParaRPr lang="fr-FR"/>
        </a:p>
      </dgm:t>
    </dgm:pt>
    <dgm:pt modelId="{4843D4C0-72F4-4F2C-A683-69740447BD3D}" type="sibTrans" cxnId="{2BCE5057-04A4-4FA5-93FB-DCACD83AF87A}">
      <dgm:prSet/>
      <dgm:spPr/>
      <dgm:t>
        <a:bodyPr/>
        <a:lstStyle/>
        <a:p>
          <a:endParaRPr lang="fr-FR"/>
        </a:p>
      </dgm:t>
    </dgm:pt>
    <dgm:pt modelId="{F5CFDA85-FEF0-463F-9D72-9731C8B3A640}">
      <dgm:prSet phldrT="[Text]" phldr="0"/>
      <dgm:spPr/>
      <dgm:t>
        <a:bodyPr/>
        <a:lstStyle/>
        <a:p>
          <a:r>
            <a:rPr lang="fr-FR" dirty="0"/>
            <a:t>Nettoyage des valeurs manquantes</a:t>
          </a:r>
        </a:p>
      </dgm:t>
    </dgm:pt>
    <dgm:pt modelId="{F2DF6528-0916-4EE8-A1C4-E5F946482D4F}" type="parTrans" cxnId="{FFDD109B-B864-4A57-815E-DC33909C492B}">
      <dgm:prSet/>
      <dgm:spPr/>
      <dgm:t>
        <a:bodyPr/>
        <a:lstStyle/>
        <a:p>
          <a:endParaRPr lang="fr-FR"/>
        </a:p>
      </dgm:t>
    </dgm:pt>
    <dgm:pt modelId="{A7356FDF-D401-493A-9C0B-C27DE839571C}" type="sibTrans" cxnId="{FFDD109B-B864-4A57-815E-DC33909C492B}">
      <dgm:prSet/>
      <dgm:spPr/>
      <dgm:t>
        <a:bodyPr/>
        <a:lstStyle/>
        <a:p>
          <a:endParaRPr lang="fr-FR"/>
        </a:p>
      </dgm:t>
    </dgm:pt>
    <dgm:pt modelId="{6CBF717D-8763-42DF-9EC1-70A99113B7FA}">
      <dgm:prSet phldrT="[Text]" phldr="0"/>
      <dgm:spPr/>
      <dgm:t>
        <a:bodyPr/>
        <a:lstStyle/>
        <a:p>
          <a:r>
            <a:rPr lang="fr-FR" dirty="0"/>
            <a:t>Intégration des sources secondaires</a:t>
          </a:r>
        </a:p>
      </dgm:t>
    </dgm:pt>
    <dgm:pt modelId="{F1FC2564-B0DC-499C-A1DE-10FD2B4FC1D7}" type="parTrans" cxnId="{1B66602A-3156-4F07-9C00-D619A128A6AD}">
      <dgm:prSet/>
      <dgm:spPr/>
      <dgm:t>
        <a:bodyPr/>
        <a:lstStyle/>
        <a:p>
          <a:endParaRPr lang="fr-FR"/>
        </a:p>
      </dgm:t>
    </dgm:pt>
    <dgm:pt modelId="{3B9F6C95-7173-4832-A5FD-E31D0A2C3DE5}" type="sibTrans" cxnId="{1B66602A-3156-4F07-9C00-D619A128A6AD}">
      <dgm:prSet/>
      <dgm:spPr/>
      <dgm:t>
        <a:bodyPr/>
        <a:lstStyle/>
        <a:p>
          <a:endParaRPr lang="fr-FR"/>
        </a:p>
      </dgm:t>
    </dgm:pt>
    <dgm:pt modelId="{5D558FDC-D21D-4AA5-BF5D-12F637E46CA8}">
      <dgm:prSet phldrT="[Text]" phldr="0"/>
      <dgm:spPr/>
      <dgm:t>
        <a:bodyPr/>
        <a:lstStyle/>
        <a:p>
          <a:r>
            <a:rPr lang="fr-FR" dirty="0"/>
            <a:t>Merge global</a:t>
          </a:r>
        </a:p>
      </dgm:t>
    </dgm:pt>
    <dgm:pt modelId="{772DA252-7FCA-4578-947F-513A860538D5}" type="parTrans" cxnId="{37F66E46-BDA4-44AE-9A90-26161B309DCB}">
      <dgm:prSet/>
      <dgm:spPr/>
      <dgm:t>
        <a:bodyPr/>
        <a:lstStyle/>
        <a:p>
          <a:endParaRPr lang="fr-FR"/>
        </a:p>
      </dgm:t>
    </dgm:pt>
    <dgm:pt modelId="{91C5CA60-0D50-43FE-9719-518150235D34}" type="sibTrans" cxnId="{37F66E46-BDA4-44AE-9A90-26161B309DCB}">
      <dgm:prSet/>
      <dgm:spPr/>
      <dgm:t>
        <a:bodyPr/>
        <a:lstStyle/>
        <a:p>
          <a:endParaRPr lang="fr-FR"/>
        </a:p>
      </dgm:t>
    </dgm:pt>
    <dgm:pt modelId="{85D8D6AD-F309-4EE8-9487-DF9CA3B4F2CB}" type="pres">
      <dgm:prSet presAssocID="{2B41266A-D4D6-47F6-99D0-BD14F8E0FD62}" presName="Name0" presStyleCnt="0">
        <dgm:presLayoutVars>
          <dgm:dir/>
          <dgm:animLvl val="lvl"/>
          <dgm:resizeHandles val="exact"/>
        </dgm:presLayoutVars>
      </dgm:prSet>
      <dgm:spPr/>
    </dgm:pt>
    <dgm:pt modelId="{2583EF23-0AB1-429C-9462-702576A870E8}" type="pres">
      <dgm:prSet presAssocID="{5D558FDC-D21D-4AA5-BF5D-12F637E46CA8}" presName="boxAndChildren" presStyleCnt="0"/>
      <dgm:spPr/>
    </dgm:pt>
    <dgm:pt modelId="{1FC6853A-42AD-4FA6-8661-FB98FB30E5F6}" type="pres">
      <dgm:prSet presAssocID="{5D558FDC-D21D-4AA5-BF5D-12F637E46CA8}" presName="parentTextBox" presStyleLbl="node1" presStyleIdx="0" presStyleCnt="7"/>
      <dgm:spPr/>
    </dgm:pt>
    <dgm:pt modelId="{346D2F58-2AC0-48D9-81E8-6D5628815695}" type="pres">
      <dgm:prSet presAssocID="{3B9F6C95-7173-4832-A5FD-E31D0A2C3DE5}" presName="sp" presStyleCnt="0"/>
      <dgm:spPr/>
    </dgm:pt>
    <dgm:pt modelId="{89D41F83-6263-41D1-B5AF-4B13D8164FE8}" type="pres">
      <dgm:prSet presAssocID="{6CBF717D-8763-42DF-9EC1-70A99113B7FA}" presName="arrowAndChildren" presStyleCnt="0"/>
      <dgm:spPr/>
    </dgm:pt>
    <dgm:pt modelId="{08CC7B77-766C-4369-A59D-E8EDAF802EB9}" type="pres">
      <dgm:prSet presAssocID="{6CBF717D-8763-42DF-9EC1-70A99113B7FA}" presName="parentTextArrow" presStyleLbl="node1" presStyleIdx="1" presStyleCnt="7"/>
      <dgm:spPr/>
    </dgm:pt>
    <dgm:pt modelId="{DC7F5C54-9966-40F7-8936-B79B40A65169}" type="pres">
      <dgm:prSet presAssocID="{A7356FDF-D401-493A-9C0B-C27DE839571C}" presName="sp" presStyleCnt="0"/>
      <dgm:spPr/>
    </dgm:pt>
    <dgm:pt modelId="{CC1E4635-4E3F-440A-954B-E1097953FBF5}" type="pres">
      <dgm:prSet presAssocID="{F5CFDA85-FEF0-463F-9D72-9731C8B3A640}" presName="arrowAndChildren" presStyleCnt="0"/>
      <dgm:spPr/>
    </dgm:pt>
    <dgm:pt modelId="{274B9CCB-50E4-40D9-9558-3633E313F402}" type="pres">
      <dgm:prSet presAssocID="{F5CFDA85-FEF0-463F-9D72-9731C8B3A640}" presName="parentTextArrow" presStyleLbl="node1" presStyleIdx="2" presStyleCnt="7"/>
      <dgm:spPr/>
    </dgm:pt>
    <dgm:pt modelId="{3E4CC0A4-F750-43A2-ADF4-36DBEB5BF329}" type="pres">
      <dgm:prSet presAssocID="{4843D4C0-72F4-4F2C-A683-69740447BD3D}" presName="sp" presStyleCnt="0"/>
      <dgm:spPr/>
    </dgm:pt>
    <dgm:pt modelId="{994C3ACC-16F4-44DA-AF54-806F065336CB}" type="pres">
      <dgm:prSet presAssocID="{0D61E027-BB1E-4366-97D5-057090A889A9}" presName="arrowAndChildren" presStyleCnt="0"/>
      <dgm:spPr/>
    </dgm:pt>
    <dgm:pt modelId="{33935F67-8921-476C-BB28-B446FAF8545F}" type="pres">
      <dgm:prSet presAssocID="{0D61E027-BB1E-4366-97D5-057090A889A9}" presName="parentTextArrow" presStyleLbl="node1" presStyleIdx="3" presStyleCnt="7"/>
      <dgm:spPr/>
    </dgm:pt>
    <dgm:pt modelId="{181AE9EF-86BA-40B5-A87C-84D689C2C6B5}" type="pres">
      <dgm:prSet presAssocID="{29885D3C-8DA9-4CE3-B27E-08F8BEEC0364}" presName="sp" presStyleCnt="0"/>
      <dgm:spPr/>
    </dgm:pt>
    <dgm:pt modelId="{8ECC10A6-3307-4C75-A9B9-68DAC75D27FC}" type="pres">
      <dgm:prSet presAssocID="{6C9A2D9D-12C8-44CC-BE45-1D786E45B85B}" presName="arrowAndChildren" presStyleCnt="0"/>
      <dgm:spPr/>
    </dgm:pt>
    <dgm:pt modelId="{666322E2-DD1D-49D0-984C-2D02F2777BA6}" type="pres">
      <dgm:prSet presAssocID="{6C9A2D9D-12C8-44CC-BE45-1D786E45B85B}" presName="parentTextArrow" presStyleLbl="node1" presStyleIdx="4" presStyleCnt="7"/>
      <dgm:spPr/>
    </dgm:pt>
    <dgm:pt modelId="{0CDD4AFA-C417-4B39-83AB-1CA7A82BADF0}" type="pres">
      <dgm:prSet presAssocID="{D177F1EC-80B4-485E-B3E5-62EDC59E917E}" presName="sp" presStyleCnt="0"/>
      <dgm:spPr/>
    </dgm:pt>
    <dgm:pt modelId="{B185C1BA-D19E-49AF-AE04-88686A9F9E80}" type="pres">
      <dgm:prSet presAssocID="{D1BC59BB-445C-41BD-A81A-2785AFA6841C}" presName="arrowAndChildren" presStyleCnt="0"/>
      <dgm:spPr/>
    </dgm:pt>
    <dgm:pt modelId="{CF06915D-710C-4BF5-95E2-A6E30EBDE72E}" type="pres">
      <dgm:prSet presAssocID="{D1BC59BB-445C-41BD-A81A-2785AFA6841C}" presName="parentTextArrow" presStyleLbl="node1" presStyleIdx="5" presStyleCnt="7"/>
      <dgm:spPr/>
    </dgm:pt>
    <dgm:pt modelId="{4699ED67-7FBA-4237-91B3-778F9017AC41}" type="pres">
      <dgm:prSet presAssocID="{B23E8656-56BC-4CB7-82D9-6CC11156458B}" presName="sp" presStyleCnt="0"/>
      <dgm:spPr/>
    </dgm:pt>
    <dgm:pt modelId="{84D5E7DA-ED40-44C1-9231-95DEDA5A93AB}" type="pres">
      <dgm:prSet presAssocID="{8B3B3074-0311-42D4-A572-AFAAEC24E0E4}" presName="arrowAndChildren" presStyleCnt="0"/>
      <dgm:spPr/>
    </dgm:pt>
    <dgm:pt modelId="{A6DCDC7C-DE6E-4286-BB7F-607FC537C6E1}" type="pres">
      <dgm:prSet presAssocID="{8B3B3074-0311-42D4-A572-AFAAEC24E0E4}" presName="parentTextArrow" presStyleLbl="node1" presStyleIdx="6" presStyleCnt="7"/>
      <dgm:spPr/>
    </dgm:pt>
  </dgm:ptLst>
  <dgm:cxnLst>
    <dgm:cxn modelId="{0D40F609-AE46-4561-9763-40DDAC33DC15}" type="presOf" srcId="{2B41266A-D4D6-47F6-99D0-BD14F8E0FD62}" destId="{85D8D6AD-F309-4EE8-9487-DF9CA3B4F2CB}" srcOrd="0" destOrd="0" presId="urn:microsoft.com/office/officeart/2005/8/layout/process4"/>
    <dgm:cxn modelId="{1B66602A-3156-4F07-9C00-D619A128A6AD}" srcId="{2B41266A-D4D6-47F6-99D0-BD14F8E0FD62}" destId="{6CBF717D-8763-42DF-9EC1-70A99113B7FA}" srcOrd="5" destOrd="0" parTransId="{F1FC2564-B0DC-499C-A1DE-10FD2B4FC1D7}" sibTransId="{3B9F6C95-7173-4832-A5FD-E31D0A2C3DE5}"/>
    <dgm:cxn modelId="{700F965B-5E6D-415B-B1DE-845AFADE403D}" type="presOf" srcId="{6CBF717D-8763-42DF-9EC1-70A99113B7FA}" destId="{08CC7B77-766C-4369-A59D-E8EDAF802EB9}" srcOrd="0" destOrd="0" presId="urn:microsoft.com/office/officeart/2005/8/layout/process4"/>
    <dgm:cxn modelId="{C761A85D-CBA9-4BF6-A51C-DC9AFDAE7C6B}" type="presOf" srcId="{F5CFDA85-FEF0-463F-9D72-9731C8B3A640}" destId="{274B9CCB-50E4-40D9-9558-3633E313F402}" srcOrd="0" destOrd="0" presId="urn:microsoft.com/office/officeart/2005/8/layout/process4"/>
    <dgm:cxn modelId="{37F66E46-BDA4-44AE-9A90-26161B309DCB}" srcId="{2B41266A-D4D6-47F6-99D0-BD14F8E0FD62}" destId="{5D558FDC-D21D-4AA5-BF5D-12F637E46CA8}" srcOrd="6" destOrd="0" parTransId="{772DA252-7FCA-4578-947F-513A860538D5}" sibTransId="{91C5CA60-0D50-43FE-9719-518150235D34}"/>
    <dgm:cxn modelId="{7CBE8449-EDEA-4CB7-9375-09483D7852F6}" type="presOf" srcId="{6C9A2D9D-12C8-44CC-BE45-1D786E45B85B}" destId="{666322E2-DD1D-49D0-984C-2D02F2777BA6}" srcOrd="0" destOrd="0" presId="urn:microsoft.com/office/officeart/2005/8/layout/process4"/>
    <dgm:cxn modelId="{7BE9FC4B-1744-41CD-96DC-E4835DED8EAB}" type="presOf" srcId="{D1BC59BB-445C-41BD-A81A-2785AFA6841C}" destId="{CF06915D-710C-4BF5-95E2-A6E30EBDE72E}" srcOrd="0" destOrd="0" presId="urn:microsoft.com/office/officeart/2005/8/layout/process4"/>
    <dgm:cxn modelId="{2BCE5057-04A4-4FA5-93FB-DCACD83AF87A}" srcId="{2B41266A-D4D6-47F6-99D0-BD14F8E0FD62}" destId="{0D61E027-BB1E-4366-97D5-057090A889A9}" srcOrd="3" destOrd="0" parTransId="{354E4877-2593-4469-B078-86D9837F5E8B}" sibTransId="{4843D4C0-72F4-4F2C-A683-69740447BD3D}"/>
    <dgm:cxn modelId="{FD738478-3637-4838-8469-0B4F1BDF2A10}" type="presOf" srcId="{0D61E027-BB1E-4366-97D5-057090A889A9}" destId="{33935F67-8921-476C-BB28-B446FAF8545F}" srcOrd="0" destOrd="0" presId="urn:microsoft.com/office/officeart/2005/8/layout/process4"/>
    <dgm:cxn modelId="{FFDD109B-B864-4A57-815E-DC33909C492B}" srcId="{2B41266A-D4D6-47F6-99D0-BD14F8E0FD62}" destId="{F5CFDA85-FEF0-463F-9D72-9731C8B3A640}" srcOrd="4" destOrd="0" parTransId="{F2DF6528-0916-4EE8-A1C4-E5F946482D4F}" sibTransId="{A7356FDF-D401-493A-9C0B-C27DE839571C}"/>
    <dgm:cxn modelId="{537B65A0-BD86-47AF-947E-61C481289975}" srcId="{2B41266A-D4D6-47F6-99D0-BD14F8E0FD62}" destId="{D1BC59BB-445C-41BD-A81A-2785AFA6841C}" srcOrd="1" destOrd="0" parTransId="{4E829C0B-9A73-4771-9C12-4D80BEA8D172}" sibTransId="{D177F1EC-80B4-485E-B3E5-62EDC59E917E}"/>
    <dgm:cxn modelId="{8018ACAE-9CD0-47E0-96C8-B1A19036D1F4}" type="presOf" srcId="{5D558FDC-D21D-4AA5-BF5D-12F637E46CA8}" destId="{1FC6853A-42AD-4FA6-8661-FB98FB30E5F6}" srcOrd="0" destOrd="0" presId="urn:microsoft.com/office/officeart/2005/8/layout/process4"/>
    <dgm:cxn modelId="{7AE8DFB5-7B1B-42E2-8D7F-4A2771FCEE4D}" type="presOf" srcId="{8B3B3074-0311-42D4-A572-AFAAEC24E0E4}" destId="{A6DCDC7C-DE6E-4286-BB7F-607FC537C6E1}" srcOrd="0" destOrd="0" presId="urn:microsoft.com/office/officeart/2005/8/layout/process4"/>
    <dgm:cxn modelId="{3DDB1BC8-E1E0-4112-992A-E817FB4CDFD4}" srcId="{2B41266A-D4D6-47F6-99D0-BD14F8E0FD62}" destId="{8B3B3074-0311-42D4-A572-AFAAEC24E0E4}" srcOrd="0" destOrd="0" parTransId="{86EDE444-6D55-4638-AF1C-ABF98A2D06DE}" sibTransId="{B23E8656-56BC-4CB7-82D9-6CC11156458B}"/>
    <dgm:cxn modelId="{6E37BCF1-00DB-4E5D-852F-CAE192DD2793}" srcId="{2B41266A-D4D6-47F6-99D0-BD14F8E0FD62}" destId="{6C9A2D9D-12C8-44CC-BE45-1D786E45B85B}" srcOrd="2" destOrd="0" parTransId="{F049D64F-C358-4348-94A7-91398B7DB3E3}" sibTransId="{29885D3C-8DA9-4CE3-B27E-08F8BEEC0364}"/>
    <dgm:cxn modelId="{55A89EF1-9114-47B7-B41A-879ED69540B3}" type="presParOf" srcId="{85D8D6AD-F309-4EE8-9487-DF9CA3B4F2CB}" destId="{2583EF23-0AB1-429C-9462-702576A870E8}" srcOrd="0" destOrd="0" presId="urn:microsoft.com/office/officeart/2005/8/layout/process4"/>
    <dgm:cxn modelId="{8B8A03C8-190E-49D3-B599-F85A78691D45}" type="presParOf" srcId="{2583EF23-0AB1-429C-9462-702576A870E8}" destId="{1FC6853A-42AD-4FA6-8661-FB98FB30E5F6}" srcOrd="0" destOrd="0" presId="urn:microsoft.com/office/officeart/2005/8/layout/process4"/>
    <dgm:cxn modelId="{3D3A095B-1971-4BDA-A344-AB3EA0AD10F3}" type="presParOf" srcId="{85D8D6AD-F309-4EE8-9487-DF9CA3B4F2CB}" destId="{346D2F58-2AC0-48D9-81E8-6D5628815695}" srcOrd="1" destOrd="0" presId="urn:microsoft.com/office/officeart/2005/8/layout/process4"/>
    <dgm:cxn modelId="{1D176459-3C64-4A7C-8C70-F1C9DE5812BD}" type="presParOf" srcId="{85D8D6AD-F309-4EE8-9487-DF9CA3B4F2CB}" destId="{89D41F83-6263-41D1-B5AF-4B13D8164FE8}" srcOrd="2" destOrd="0" presId="urn:microsoft.com/office/officeart/2005/8/layout/process4"/>
    <dgm:cxn modelId="{7DB91229-449C-4C0D-831E-343A856ACDD8}" type="presParOf" srcId="{89D41F83-6263-41D1-B5AF-4B13D8164FE8}" destId="{08CC7B77-766C-4369-A59D-E8EDAF802EB9}" srcOrd="0" destOrd="0" presId="urn:microsoft.com/office/officeart/2005/8/layout/process4"/>
    <dgm:cxn modelId="{0801AF27-68AA-4770-8796-923909543FF9}" type="presParOf" srcId="{85D8D6AD-F309-4EE8-9487-DF9CA3B4F2CB}" destId="{DC7F5C54-9966-40F7-8936-B79B40A65169}" srcOrd="3" destOrd="0" presId="urn:microsoft.com/office/officeart/2005/8/layout/process4"/>
    <dgm:cxn modelId="{199ABEAB-967F-44A1-8BFD-08DF6A97FF49}" type="presParOf" srcId="{85D8D6AD-F309-4EE8-9487-DF9CA3B4F2CB}" destId="{CC1E4635-4E3F-440A-954B-E1097953FBF5}" srcOrd="4" destOrd="0" presId="urn:microsoft.com/office/officeart/2005/8/layout/process4"/>
    <dgm:cxn modelId="{CE7CC010-28C3-4206-8B90-36B752E0B8D0}" type="presParOf" srcId="{CC1E4635-4E3F-440A-954B-E1097953FBF5}" destId="{274B9CCB-50E4-40D9-9558-3633E313F402}" srcOrd="0" destOrd="0" presId="urn:microsoft.com/office/officeart/2005/8/layout/process4"/>
    <dgm:cxn modelId="{5EAB467F-D213-4111-ABC6-4FCACA36C5D4}" type="presParOf" srcId="{85D8D6AD-F309-4EE8-9487-DF9CA3B4F2CB}" destId="{3E4CC0A4-F750-43A2-ADF4-36DBEB5BF329}" srcOrd="5" destOrd="0" presId="urn:microsoft.com/office/officeart/2005/8/layout/process4"/>
    <dgm:cxn modelId="{B0C6FB34-E4F5-4C91-A0DD-D9E51EABF800}" type="presParOf" srcId="{85D8D6AD-F309-4EE8-9487-DF9CA3B4F2CB}" destId="{994C3ACC-16F4-44DA-AF54-806F065336CB}" srcOrd="6" destOrd="0" presId="urn:microsoft.com/office/officeart/2005/8/layout/process4"/>
    <dgm:cxn modelId="{1F863938-91EA-4903-841A-948E0CDDB20D}" type="presParOf" srcId="{994C3ACC-16F4-44DA-AF54-806F065336CB}" destId="{33935F67-8921-476C-BB28-B446FAF8545F}" srcOrd="0" destOrd="0" presId="urn:microsoft.com/office/officeart/2005/8/layout/process4"/>
    <dgm:cxn modelId="{DD001188-046A-4F16-96AE-8AC2FA0F0081}" type="presParOf" srcId="{85D8D6AD-F309-4EE8-9487-DF9CA3B4F2CB}" destId="{181AE9EF-86BA-40B5-A87C-84D689C2C6B5}" srcOrd="7" destOrd="0" presId="urn:microsoft.com/office/officeart/2005/8/layout/process4"/>
    <dgm:cxn modelId="{9A72D616-9657-4FCD-A41E-B9F764A1AFD5}" type="presParOf" srcId="{85D8D6AD-F309-4EE8-9487-DF9CA3B4F2CB}" destId="{8ECC10A6-3307-4C75-A9B9-68DAC75D27FC}" srcOrd="8" destOrd="0" presId="urn:microsoft.com/office/officeart/2005/8/layout/process4"/>
    <dgm:cxn modelId="{6D02BF20-FFF3-4AB4-BF96-C203DAA40B9B}" type="presParOf" srcId="{8ECC10A6-3307-4C75-A9B9-68DAC75D27FC}" destId="{666322E2-DD1D-49D0-984C-2D02F2777BA6}" srcOrd="0" destOrd="0" presId="urn:microsoft.com/office/officeart/2005/8/layout/process4"/>
    <dgm:cxn modelId="{F6390CA1-5A85-4D4E-8CDD-03FD6595CAE4}" type="presParOf" srcId="{85D8D6AD-F309-4EE8-9487-DF9CA3B4F2CB}" destId="{0CDD4AFA-C417-4B39-83AB-1CA7A82BADF0}" srcOrd="9" destOrd="0" presId="urn:microsoft.com/office/officeart/2005/8/layout/process4"/>
    <dgm:cxn modelId="{DFD83B8B-8F1F-405A-96BC-9D4BFC794E4B}" type="presParOf" srcId="{85D8D6AD-F309-4EE8-9487-DF9CA3B4F2CB}" destId="{B185C1BA-D19E-49AF-AE04-88686A9F9E80}" srcOrd="10" destOrd="0" presId="urn:microsoft.com/office/officeart/2005/8/layout/process4"/>
    <dgm:cxn modelId="{81215420-1B81-4B71-A6F0-2A348A7274EE}" type="presParOf" srcId="{B185C1BA-D19E-49AF-AE04-88686A9F9E80}" destId="{CF06915D-710C-4BF5-95E2-A6E30EBDE72E}" srcOrd="0" destOrd="0" presId="urn:microsoft.com/office/officeart/2005/8/layout/process4"/>
    <dgm:cxn modelId="{BDA6853C-C619-4AEA-AFAB-49B32C434163}" type="presParOf" srcId="{85D8D6AD-F309-4EE8-9487-DF9CA3B4F2CB}" destId="{4699ED67-7FBA-4237-91B3-778F9017AC41}" srcOrd="11" destOrd="0" presId="urn:microsoft.com/office/officeart/2005/8/layout/process4"/>
    <dgm:cxn modelId="{E841D9D2-E081-4BB4-92D5-2BD21E54AA95}" type="presParOf" srcId="{85D8D6AD-F309-4EE8-9487-DF9CA3B4F2CB}" destId="{84D5E7DA-ED40-44C1-9231-95DEDA5A93AB}" srcOrd="12" destOrd="0" presId="urn:microsoft.com/office/officeart/2005/8/layout/process4"/>
    <dgm:cxn modelId="{6D79215B-F478-4192-AE94-CAF40631709F}" type="presParOf" srcId="{84D5E7DA-ED40-44C1-9231-95DEDA5A93AB}" destId="{A6DCDC7C-DE6E-4286-BB7F-607FC537C6E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6853A-42AD-4FA6-8661-FB98FB30E5F6}">
      <dsp:nvSpPr>
        <dsp:cNvPr id="0" name=""/>
        <dsp:cNvSpPr/>
      </dsp:nvSpPr>
      <dsp:spPr>
        <a:xfrm>
          <a:off x="0" y="4325930"/>
          <a:ext cx="1357655" cy="473384"/>
        </a:xfrm>
        <a:prstGeom prst="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Merge global</a:t>
          </a:r>
        </a:p>
      </dsp:txBody>
      <dsp:txXfrm>
        <a:off x="0" y="4325930"/>
        <a:ext cx="1357655" cy="473384"/>
      </dsp:txXfrm>
    </dsp:sp>
    <dsp:sp modelId="{08CC7B77-766C-4369-A59D-E8EDAF802EB9}">
      <dsp:nvSpPr>
        <dsp:cNvPr id="0" name=""/>
        <dsp:cNvSpPr/>
      </dsp:nvSpPr>
      <dsp:spPr>
        <a:xfrm rot="10800000">
          <a:off x="0" y="3604966"/>
          <a:ext cx="1357655" cy="728064"/>
        </a:xfrm>
        <a:prstGeom prst="upArrowCallout">
          <a:avLst/>
        </a:prstGeom>
        <a:solidFill>
          <a:schemeClr val="accent5">
            <a:shade val="80000"/>
            <a:hueOff val="29946"/>
            <a:satOff val="-5381"/>
            <a:lumOff val="539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Intégration des sources secondaires</a:t>
          </a:r>
        </a:p>
      </dsp:txBody>
      <dsp:txXfrm rot="10800000">
        <a:off x="0" y="3604966"/>
        <a:ext cx="1357655" cy="473074"/>
      </dsp:txXfrm>
    </dsp:sp>
    <dsp:sp modelId="{274B9CCB-50E4-40D9-9558-3633E313F402}">
      <dsp:nvSpPr>
        <dsp:cNvPr id="0" name=""/>
        <dsp:cNvSpPr/>
      </dsp:nvSpPr>
      <dsp:spPr>
        <a:xfrm rot="10800000">
          <a:off x="0" y="2884002"/>
          <a:ext cx="1357655" cy="728064"/>
        </a:xfrm>
        <a:prstGeom prst="upArrowCallout">
          <a:avLst/>
        </a:prstGeom>
        <a:solidFill>
          <a:schemeClr val="accent5">
            <a:shade val="80000"/>
            <a:hueOff val="59891"/>
            <a:satOff val="-10762"/>
            <a:lumOff val="1079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Nettoyage des valeurs manquantes</a:t>
          </a:r>
        </a:p>
      </dsp:txBody>
      <dsp:txXfrm rot="10800000">
        <a:off x="0" y="2884002"/>
        <a:ext cx="1357655" cy="473074"/>
      </dsp:txXfrm>
    </dsp:sp>
    <dsp:sp modelId="{33935F67-8921-476C-BB28-B446FAF8545F}">
      <dsp:nvSpPr>
        <dsp:cNvPr id="0" name=""/>
        <dsp:cNvSpPr/>
      </dsp:nvSpPr>
      <dsp:spPr>
        <a:xfrm rot="10800000">
          <a:off x="0" y="2163037"/>
          <a:ext cx="1357655" cy="728064"/>
        </a:xfrm>
        <a:prstGeom prst="upArrowCallout">
          <a:avLst/>
        </a:prstGeom>
        <a:solidFill>
          <a:schemeClr val="accent5">
            <a:shade val="80000"/>
            <a:hueOff val="89837"/>
            <a:satOff val="-16143"/>
            <a:lumOff val="161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FI de base</a:t>
          </a:r>
        </a:p>
      </dsp:txBody>
      <dsp:txXfrm rot="10800000">
        <a:off x="0" y="2163037"/>
        <a:ext cx="1357655" cy="473074"/>
      </dsp:txXfrm>
    </dsp:sp>
    <dsp:sp modelId="{666322E2-DD1D-49D0-984C-2D02F2777BA6}">
      <dsp:nvSpPr>
        <dsp:cNvPr id="0" name=""/>
        <dsp:cNvSpPr/>
      </dsp:nvSpPr>
      <dsp:spPr>
        <a:xfrm rot="10800000">
          <a:off x="0" y="1442073"/>
          <a:ext cx="1357655" cy="728064"/>
        </a:xfrm>
        <a:prstGeom prst="upArrowCallout">
          <a:avLst/>
        </a:prstGeom>
        <a:solidFill>
          <a:schemeClr val="accent5">
            <a:shade val="80000"/>
            <a:hueOff val="119783"/>
            <a:satOff val="-21524"/>
            <a:lumOff val="2159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 err="1"/>
            <a:t>Ecodage</a:t>
          </a:r>
          <a:r>
            <a:rPr lang="fr-FR" sz="900" kern="1200" dirty="0"/>
            <a:t> des variables catégorielles</a:t>
          </a:r>
        </a:p>
      </dsp:txBody>
      <dsp:txXfrm rot="10800000">
        <a:off x="0" y="1442073"/>
        <a:ext cx="1357655" cy="473074"/>
      </dsp:txXfrm>
    </dsp:sp>
    <dsp:sp modelId="{CF06915D-710C-4BF5-95E2-A6E30EBDE72E}">
      <dsp:nvSpPr>
        <dsp:cNvPr id="0" name=""/>
        <dsp:cNvSpPr/>
      </dsp:nvSpPr>
      <dsp:spPr>
        <a:xfrm rot="10800000">
          <a:off x="0" y="721109"/>
          <a:ext cx="1357655" cy="728064"/>
        </a:xfrm>
        <a:prstGeom prst="upArrowCallout">
          <a:avLst/>
        </a:prstGeom>
        <a:solidFill>
          <a:schemeClr val="accent5">
            <a:shade val="80000"/>
            <a:hueOff val="149728"/>
            <a:satOff val="-26905"/>
            <a:lumOff val="269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Fusion train/test</a:t>
          </a:r>
        </a:p>
      </dsp:txBody>
      <dsp:txXfrm rot="10800000">
        <a:off x="0" y="721109"/>
        <a:ext cx="1357655" cy="473074"/>
      </dsp:txXfrm>
    </dsp:sp>
    <dsp:sp modelId="{A6DCDC7C-DE6E-4286-BB7F-607FC537C6E1}">
      <dsp:nvSpPr>
        <dsp:cNvPr id="0" name=""/>
        <dsp:cNvSpPr/>
      </dsp:nvSpPr>
      <dsp:spPr>
        <a:xfrm rot="10800000">
          <a:off x="0" y="145"/>
          <a:ext cx="1357655" cy="728064"/>
        </a:xfrm>
        <a:prstGeom prst="upArrowCallout">
          <a:avLst/>
        </a:prstGeom>
        <a:solidFill>
          <a:schemeClr val="accent5">
            <a:shade val="80000"/>
            <a:hueOff val="179674"/>
            <a:satOff val="-32286"/>
            <a:lumOff val="3239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Nettoyage initial</a:t>
          </a:r>
        </a:p>
      </dsp:txBody>
      <dsp:txXfrm rot="10800000">
        <a:off x="0" y="145"/>
        <a:ext cx="1357655" cy="4730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6853A-42AD-4FA6-8661-FB98FB30E5F6}">
      <dsp:nvSpPr>
        <dsp:cNvPr id="0" name=""/>
        <dsp:cNvSpPr/>
      </dsp:nvSpPr>
      <dsp:spPr>
        <a:xfrm>
          <a:off x="0" y="4325930"/>
          <a:ext cx="1357655" cy="473384"/>
        </a:xfrm>
        <a:prstGeom prst="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Merge global</a:t>
          </a:r>
        </a:p>
      </dsp:txBody>
      <dsp:txXfrm>
        <a:off x="0" y="4325930"/>
        <a:ext cx="1357655" cy="473384"/>
      </dsp:txXfrm>
    </dsp:sp>
    <dsp:sp modelId="{08CC7B77-766C-4369-A59D-E8EDAF802EB9}">
      <dsp:nvSpPr>
        <dsp:cNvPr id="0" name=""/>
        <dsp:cNvSpPr/>
      </dsp:nvSpPr>
      <dsp:spPr>
        <a:xfrm rot="10800000">
          <a:off x="0" y="3604966"/>
          <a:ext cx="1357655" cy="728064"/>
        </a:xfrm>
        <a:prstGeom prst="upArrowCallout">
          <a:avLst/>
        </a:prstGeom>
        <a:solidFill>
          <a:schemeClr val="accent5">
            <a:shade val="80000"/>
            <a:hueOff val="29946"/>
            <a:satOff val="-5381"/>
            <a:lumOff val="539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Intégration des sources secondaires</a:t>
          </a:r>
        </a:p>
      </dsp:txBody>
      <dsp:txXfrm rot="10800000">
        <a:off x="0" y="3604966"/>
        <a:ext cx="1357655" cy="473074"/>
      </dsp:txXfrm>
    </dsp:sp>
    <dsp:sp modelId="{274B9CCB-50E4-40D9-9558-3633E313F402}">
      <dsp:nvSpPr>
        <dsp:cNvPr id="0" name=""/>
        <dsp:cNvSpPr/>
      </dsp:nvSpPr>
      <dsp:spPr>
        <a:xfrm rot="10800000">
          <a:off x="0" y="2884002"/>
          <a:ext cx="1357655" cy="728064"/>
        </a:xfrm>
        <a:prstGeom prst="upArrowCallout">
          <a:avLst/>
        </a:prstGeom>
        <a:solidFill>
          <a:schemeClr val="accent5">
            <a:shade val="80000"/>
            <a:hueOff val="59891"/>
            <a:satOff val="-10762"/>
            <a:lumOff val="1079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Nettoyage des valeurs manquantes</a:t>
          </a:r>
        </a:p>
      </dsp:txBody>
      <dsp:txXfrm rot="10800000">
        <a:off x="0" y="2884002"/>
        <a:ext cx="1357655" cy="473074"/>
      </dsp:txXfrm>
    </dsp:sp>
    <dsp:sp modelId="{33935F67-8921-476C-BB28-B446FAF8545F}">
      <dsp:nvSpPr>
        <dsp:cNvPr id="0" name=""/>
        <dsp:cNvSpPr/>
      </dsp:nvSpPr>
      <dsp:spPr>
        <a:xfrm rot="10800000">
          <a:off x="0" y="2163037"/>
          <a:ext cx="1357655" cy="728064"/>
        </a:xfrm>
        <a:prstGeom prst="upArrowCallout">
          <a:avLst/>
        </a:prstGeom>
        <a:solidFill>
          <a:schemeClr val="accent5">
            <a:shade val="80000"/>
            <a:hueOff val="89837"/>
            <a:satOff val="-16143"/>
            <a:lumOff val="161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FI de base</a:t>
          </a:r>
        </a:p>
      </dsp:txBody>
      <dsp:txXfrm rot="10800000">
        <a:off x="0" y="2163037"/>
        <a:ext cx="1357655" cy="473074"/>
      </dsp:txXfrm>
    </dsp:sp>
    <dsp:sp modelId="{666322E2-DD1D-49D0-984C-2D02F2777BA6}">
      <dsp:nvSpPr>
        <dsp:cNvPr id="0" name=""/>
        <dsp:cNvSpPr/>
      </dsp:nvSpPr>
      <dsp:spPr>
        <a:xfrm rot="10800000">
          <a:off x="0" y="1442073"/>
          <a:ext cx="1357655" cy="728064"/>
        </a:xfrm>
        <a:prstGeom prst="upArrowCallout">
          <a:avLst/>
        </a:prstGeom>
        <a:solidFill>
          <a:schemeClr val="accent5">
            <a:shade val="80000"/>
            <a:hueOff val="119783"/>
            <a:satOff val="-21524"/>
            <a:lumOff val="2159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 err="1"/>
            <a:t>Ecodage</a:t>
          </a:r>
          <a:r>
            <a:rPr lang="fr-FR" sz="900" kern="1200" dirty="0"/>
            <a:t> des variables catégorielles</a:t>
          </a:r>
        </a:p>
      </dsp:txBody>
      <dsp:txXfrm rot="10800000">
        <a:off x="0" y="1442073"/>
        <a:ext cx="1357655" cy="473074"/>
      </dsp:txXfrm>
    </dsp:sp>
    <dsp:sp modelId="{CF06915D-710C-4BF5-95E2-A6E30EBDE72E}">
      <dsp:nvSpPr>
        <dsp:cNvPr id="0" name=""/>
        <dsp:cNvSpPr/>
      </dsp:nvSpPr>
      <dsp:spPr>
        <a:xfrm rot="10800000">
          <a:off x="0" y="721109"/>
          <a:ext cx="1357655" cy="728064"/>
        </a:xfrm>
        <a:prstGeom prst="upArrowCallout">
          <a:avLst/>
        </a:prstGeom>
        <a:solidFill>
          <a:schemeClr val="accent5">
            <a:shade val="80000"/>
            <a:hueOff val="149728"/>
            <a:satOff val="-26905"/>
            <a:lumOff val="269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Fusion train/test</a:t>
          </a:r>
        </a:p>
      </dsp:txBody>
      <dsp:txXfrm rot="10800000">
        <a:off x="0" y="721109"/>
        <a:ext cx="1357655" cy="473074"/>
      </dsp:txXfrm>
    </dsp:sp>
    <dsp:sp modelId="{A6DCDC7C-DE6E-4286-BB7F-607FC537C6E1}">
      <dsp:nvSpPr>
        <dsp:cNvPr id="0" name=""/>
        <dsp:cNvSpPr/>
      </dsp:nvSpPr>
      <dsp:spPr>
        <a:xfrm rot="10800000">
          <a:off x="0" y="145"/>
          <a:ext cx="1357655" cy="728064"/>
        </a:xfrm>
        <a:prstGeom prst="upArrowCallout">
          <a:avLst/>
        </a:prstGeom>
        <a:solidFill>
          <a:schemeClr val="accent5">
            <a:shade val="80000"/>
            <a:hueOff val="179674"/>
            <a:satOff val="-32286"/>
            <a:lumOff val="3239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Nettoyage initial</a:t>
          </a:r>
        </a:p>
      </dsp:txBody>
      <dsp:txXfrm rot="10800000">
        <a:off x="0" y="145"/>
        <a:ext cx="1357655" cy="4730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6853A-42AD-4FA6-8661-FB98FB30E5F6}">
      <dsp:nvSpPr>
        <dsp:cNvPr id="0" name=""/>
        <dsp:cNvSpPr/>
      </dsp:nvSpPr>
      <dsp:spPr>
        <a:xfrm>
          <a:off x="0" y="4325930"/>
          <a:ext cx="1357655" cy="473384"/>
        </a:xfrm>
        <a:prstGeom prst="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Merge global</a:t>
          </a:r>
        </a:p>
      </dsp:txBody>
      <dsp:txXfrm>
        <a:off x="0" y="4325930"/>
        <a:ext cx="1357655" cy="473384"/>
      </dsp:txXfrm>
    </dsp:sp>
    <dsp:sp modelId="{08CC7B77-766C-4369-A59D-E8EDAF802EB9}">
      <dsp:nvSpPr>
        <dsp:cNvPr id="0" name=""/>
        <dsp:cNvSpPr/>
      </dsp:nvSpPr>
      <dsp:spPr>
        <a:xfrm rot="10800000">
          <a:off x="0" y="3604966"/>
          <a:ext cx="1357655" cy="728064"/>
        </a:xfrm>
        <a:prstGeom prst="upArrowCallout">
          <a:avLst/>
        </a:prstGeom>
        <a:solidFill>
          <a:schemeClr val="accent5">
            <a:shade val="80000"/>
            <a:hueOff val="29946"/>
            <a:satOff val="-5381"/>
            <a:lumOff val="539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Intégration des sources secondaires</a:t>
          </a:r>
        </a:p>
      </dsp:txBody>
      <dsp:txXfrm rot="10800000">
        <a:off x="0" y="3604966"/>
        <a:ext cx="1357655" cy="473074"/>
      </dsp:txXfrm>
    </dsp:sp>
    <dsp:sp modelId="{274B9CCB-50E4-40D9-9558-3633E313F402}">
      <dsp:nvSpPr>
        <dsp:cNvPr id="0" name=""/>
        <dsp:cNvSpPr/>
      </dsp:nvSpPr>
      <dsp:spPr>
        <a:xfrm rot="10800000">
          <a:off x="0" y="2884002"/>
          <a:ext cx="1357655" cy="728064"/>
        </a:xfrm>
        <a:prstGeom prst="upArrowCallout">
          <a:avLst/>
        </a:prstGeom>
        <a:solidFill>
          <a:schemeClr val="accent5">
            <a:shade val="80000"/>
            <a:hueOff val="59891"/>
            <a:satOff val="-10762"/>
            <a:lumOff val="1079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Nettoyage des valeurs manquantes</a:t>
          </a:r>
        </a:p>
      </dsp:txBody>
      <dsp:txXfrm rot="10800000">
        <a:off x="0" y="2884002"/>
        <a:ext cx="1357655" cy="473074"/>
      </dsp:txXfrm>
    </dsp:sp>
    <dsp:sp modelId="{33935F67-8921-476C-BB28-B446FAF8545F}">
      <dsp:nvSpPr>
        <dsp:cNvPr id="0" name=""/>
        <dsp:cNvSpPr/>
      </dsp:nvSpPr>
      <dsp:spPr>
        <a:xfrm rot="10800000">
          <a:off x="0" y="2163037"/>
          <a:ext cx="1357655" cy="728064"/>
        </a:xfrm>
        <a:prstGeom prst="upArrowCallout">
          <a:avLst/>
        </a:prstGeom>
        <a:solidFill>
          <a:schemeClr val="accent5">
            <a:shade val="80000"/>
            <a:hueOff val="89837"/>
            <a:satOff val="-16143"/>
            <a:lumOff val="161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FI de base</a:t>
          </a:r>
        </a:p>
      </dsp:txBody>
      <dsp:txXfrm rot="10800000">
        <a:off x="0" y="2163037"/>
        <a:ext cx="1357655" cy="473074"/>
      </dsp:txXfrm>
    </dsp:sp>
    <dsp:sp modelId="{666322E2-DD1D-49D0-984C-2D02F2777BA6}">
      <dsp:nvSpPr>
        <dsp:cNvPr id="0" name=""/>
        <dsp:cNvSpPr/>
      </dsp:nvSpPr>
      <dsp:spPr>
        <a:xfrm rot="10800000">
          <a:off x="0" y="1442073"/>
          <a:ext cx="1357655" cy="728064"/>
        </a:xfrm>
        <a:prstGeom prst="upArrowCallout">
          <a:avLst/>
        </a:prstGeom>
        <a:solidFill>
          <a:schemeClr val="accent5">
            <a:shade val="80000"/>
            <a:hueOff val="119783"/>
            <a:satOff val="-21524"/>
            <a:lumOff val="2159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 err="1"/>
            <a:t>Ecodage</a:t>
          </a:r>
          <a:r>
            <a:rPr lang="fr-FR" sz="900" kern="1200" dirty="0"/>
            <a:t> des variables catégorielles</a:t>
          </a:r>
        </a:p>
      </dsp:txBody>
      <dsp:txXfrm rot="10800000">
        <a:off x="0" y="1442073"/>
        <a:ext cx="1357655" cy="473074"/>
      </dsp:txXfrm>
    </dsp:sp>
    <dsp:sp modelId="{CF06915D-710C-4BF5-95E2-A6E30EBDE72E}">
      <dsp:nvSpPr>
        <dsp:cNvPr id="0" name=""/>
        <dsp:cNvSpPr/>
      </dsp:nvSpPr>
      <dsp:spPr>
        <a:xfrm rot="10800000">
          <a:off x="0" y="721109"/>
          <a:ext cx="1357655" cy="728064"/>
        </a:xfrm>
        <a:prstGeom prst="upArrowCallout">
          <a:avLst/>
        </a:prstGeom>
        <a:solidFill>
          <a:schemeClr val="accent5">
            <a:shade val="80000"/>
            <a:hueOff val="149728"/>
            <a:satOff val="-26905"/>
            <a:lumOff val="269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Fusion train/test</a:t>
          </a:r>
        </a:p>
      </dsp:txBody>
      <dsp:txXfrm rot="10800000">
        <a:off x="0" y="721109"/>
        <a:ext cx="1357655" cy="473074"/>
      </dsp:txXfrm>
    </dsp:sp>
    <dsp:sp modelId="{A6DCDC7C-DE6E-4286-BB7F-607FC537C6E1}">
      <dsp:nvSpPr>
        <dsp:cNvPr id="0" name=""/>
        <dsp:cNvSpPr/>
      </dsp:nvSpPr>
      <dsp:spPr>
        <a:xfrm rot="10800000">
          <a:off x="0" y="145"/>
          <a:ext cx="1357655" cy="728064"/>
        </a:xfrm>
        <a:prstGeom prst="upArrowCallout">
          <a:avLst/>
        </a:prstGeom>
        <a:solidFill>
          <a:schemeClr val="accent5">
            <a:shade val="80000"/>
            <a:hueOff val="179674"/>
            <a:satOff val="-32286"/>
            <a:lumOff val="3239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Nettoyage initial</a:t>
          </a:r>
        </a:p>
      </dsp:txBody>
      <dsp:txXfrm rot="10800000">
        <a:off x="0" y="145"/>
        <a:ext cx="1357655" cy="4730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6853A-42AD-4FA6-8661-FB98FB30E5F6}">
      <dsp:nvSpPr>
        <dsp:cNvPr id="0" name=""/>
        <dsp:cNvSpPr/>
      </dsp:nvSpPr>
      <dsp:spPr>
        <a:xfrm>
          <a:off x="0" y="4325930"/>
          <a:ext cx="1357655" cy="473384"/>
        </a:xfrm>
        <a:prstGeom prst="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Merge global</a:t>
          </a:r>
        </a:p>
      </dsp:txBody>
      <dsp:txXfrm>
        <a:off x="0" y="4325930"/>
        <a:ext cx="1357655" cy="473384"/>
      </dsp:txXfrm>
    </dsp:sp>
    <dsp:sp modelId="{08CC7B77-766C-4369-A59D-E8EDAF802EB9}">
      <dsp:nvSpPr>
        <dsp:cNvPr id="0" name=""/>
        <dsp:cNvSpPr/>
      </dsp:nvSpPr>
      <dsp:spPr>
        <a:xfrm rot="10800000">
          <a:off x="0" y="3604966"/>
          <a:ext cx="1357655" cy="728064"/>
        </a:xfrm>
        <a:prstGeom prst="upArrowCallout">
          <a:avLst/>
        </a:prstGeom>
        <a:solidFill>
          <a:schemeClr val="accent5">
            <a:shade val="80000"/>
            <a:hueOff val="29946"/>
            <a:satOff val="-5381"/>
            <a:lumOff val="539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Intégration des sources secondaires</a:t>
          </a:r>
        </a:p>
      </dsp:txBody>
      <dsp:txXfrm rot="10800000">
        <a:off x="0" y="3604966"/>
        <a:ext cx="1357655" cy="473074"/>
      </dsp:txXfrm>
    </dsp:sp>
    <dsp:sp modelId="{274B9CCB-50E4-40D9-9558-3633E313F402}">
      <dsp:nvSpPr>
        <dsp:cNvPr id="0" name=""/>
        <dsp:cNvSpPr/>
      </dsp:nvSpPr>
      <dsp:spPr>
        <a:xfrm rot="10800000">
          <a:off x="0" y="2884002"/>
          <a:ext cx="1357655" cy="728064"/>
        </a:xfrm>
        <a:prstGeom prst="upArrowCallout">
          <a:avLst/>
        </a:prstGeom>
        <a:solidFill>
          <a:schemeClr val="accent5">
            <a:shade val="80000"/>
            <a:hueOff val="59891"/>
            <a:satOff val="-10762"/>
            <a:lumOff val="1079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Nettoyage des valeurs manquantes</a:t>
          </a:r>
        </a:p>
      </dsp:txBody>
      <dsp:txXfrm rot="10800000">
        <a:off x="0" y="2884002"/>
        <a:ext cx="1357655" cy="473074"/>
      </dsp:txXfrm>
    </dsp:sp>
    <dsp:sp modelId="{33935F67-8921-476C-BB28-B446FAF8545F}">
      <dsp:nvSpPr>
        <dsp:cNvPr id="0" name=""/>
        <dsp:cNvSpPr/>
      </dsp:nvSpPr>
      <dsp:spPr>
        <a:xfrm rot="10800000">
          <a:off x="0" y="2163037"/>
          <a:ext cx="1357655" cy="728064"/>
        </a:xfrm>
        <a:prstGeom prst="upArrowCallout">
          <a:avLst/>
        </a:prstGeom>
        <a:solidFill>
          <a:schemeClr val="accent5">
            <a:shade val="80000"/>
            <a:hueOff val="89837"/>
            <a:satOff val="-16143"/>
            <a:lumOff val="161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FI de base</a:t>
          </a:r>
        </a:p>
      </dsp:txBody>
      <dsp:txXfrm rot="10800000">
        <a:off x="0" y="2163037"/>
        <a:ext cx="1357655" cy="473074"/>
      </dsp:txXfrm>
    </dsp:sp>
    <dsp:sp modelId="{666322E2-DD1D-49D0-984C-2D02F2777BA6}">
      <dsp:nvSpPr>
        <dsp:cNvPr id="0" name=""/>
        <dsp:cNvSpPr/>
      </dsp:nvSpPr>
      <dsp:spPr>
        <a:xfrm rot="10800000">
          <a:off x="0" y="1442073"/>
          <a:ext cx="1357655" cy="728064"/>
        </a:xfrm>
        <a:prstGeom prst="upArrowCallout">
          <a:avLst/>
        </a:prstGeom>
        <a:solidFill>
          <a:schemeClr val="accent5">
            <a:shade val="80000"/>
            <a:hueOff val="119783"/>
            <a:satOff val="-21524"/>
            <a:lumOff val="2159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 err="1"/>
            <a:t>Ecodage</a:t>
          </a:r>
          <a:r>
            <a:rPr lang="fr-FR" sz="900" kern="1200" dirty="0"/>
            <a:t> des variables catégorielles</a:t>
          </a:r>
        </a:p>
      </dsp:txBody>
      <dsp:txXfrm rot="10800000">
        <a:off x="0" y="1442073"/>
        <a:ext cx="1357655" cy="473074"/>
      </dsp:txXfrm>
    </dsp:sp>
    <dsp:sp modelId="{CF06915D-710C-4BF5-95E2-A6E30EBDE72E}">
      <dsp:nvSpPr>
        <dsp:cNvPr id="0" name=""/>
        <dsp:cNvSpPr/>
      </dsp:nvSpPr>
      <dsp:spPr>
        <a:xfrm rot="10800000">
          <a:off x="0" y="721109"/>
          <a:ext cx="1357655" cy="728064"/>
        </a:xfrm>
        <a:prstGeom prst="upArrowCallout">
          <a:avLst/>
        </a:prstGeom>
        <a:solidFill>
          <a:schemeClr val="accent5">
            <a:shade val="80000"/>
            <a:hueOff val="149728"/>
            <a:satOff val="-26905"/>
            <a:lumOff val="269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Fusion train/test</a:t>
          </a:r>
        </a:p>
      </dsp:txBody>
      <dsp:txXfrm rot="10800000">
        <a:off x="0" y="721109"/>
        <a:ext cx="1357655" cy="473074"/>
      </dsp:txXfrm>
    </dsp:sp>
    <dsp:sp modelId="{A6DCDC7C-DE6E-4286-BB7F-607FC537C6E1}">
      <dsp:nvSpPr>
        <dsp:cNvPr id="0" name=""/>
        <dsp:cNvSpPr/>
      </dsp:nvSpPr>
      <dsp:spPr>
        <a:xfrm rot="10800000">
          <a:off x="0" y="145"/>
          <a:ext cx="1357655" cy="728064"/>
        </a:xfrm>
        <a:prstGeom prst="upArrowCallout">
          <a:avLst/>
        </a:prstGeom>
        <a:solidFill>
          <a:schemeClr val="accent5">
            <a:shade val="80000"/>
            <a:hueOff val="179674"/>
            <a:satOff val="-32286"/>
            <a:lumOff val="3239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Nettoyage initial</a:t>
          </a:r>
        </a:p>
      </dsp:txBody>
      <dsp:txXfrm rot="10800000">
        <a:off x="0" y="145"/>
        <a:ext cx="1357655" cy="4730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6853A-42AD-4FA6-8661-FB98FB30E5F6}">
      <dsp:nvSpPr>
        <dsp:cNvPr id="0" name=""/>
        <dsp:cNvSpPr/>
      </dsp:nvSpPr>
      <dsp:spPr>
        <a:xfrm>
          <a:off x="0" y="4325930"/>
          <a:ext cx="1357655" cy="473384"/>
        </a:xfrm>
        <a:prstGeom prst="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Merge global</a:t>
          </a:r>
        </a:p>
      </dsp:txBody>
      <dsp:txXfrm>
        <a:off x="0" y="4325930"/>
        <a:ext cx="1357655" cy="473384"/>
      </dsp:txXfrm>
    </dsp:sp>
    <dsp:sp modelId="{08CC7B77-766C-4369-A59D-E8EDAF802EB9}">
      <dsp:nvSpPr>
        <dsp:cNvPr id="0" name=""/>
        <dsp:cNvSpPr/>
      </dsp:nvSpPr>
      <dsp:spPr>
        <a:xfrm rot="10800000">
          <a:off x="0" y="3604966"/>
          <a:ext cx="1357655" cy="728064"/>
        </a:xfrm>
        <a:prstGeom prst="upArrowCallout">
          <a:avLst/>
        </a:prstGeom>
        <a:solidFill>
          <a:schemeClr val="accent5">
            <a:shade val="80000"/>
            <a:hueOff val="29946"/>
            <a:satOff val="-5381"/>
            <a:lumOff val="539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Intégration des sources secondaires</a:t>
          </a:r>
        </a:p>
      </dsp:txBody>
      <dsp:txXfrm rot="10800000">
        <a:off x="0" y="3604966"/>
        <a:ext cx="1357655" cy="473074"/>
      </dsp:txXfrm>
    </dsp:sp>
    <dsp:sp modelId="{274B9CCB-50E4-40D9-9558-3633E313F402}">
      <dsp:nvSpPr>
        <dsp:cNvPr id="0" name=""/>
        <dsp:cNvSpPr/>
      </dsp:nvSpPr>
      <dsp:spPr>
        <a:xfrm rot="10800000">
          <a:off x="0" y="2884002"/>
          <a:ext cx="1357655" cy="728064"/>
        </a:xfrm>
        <a:prstGeom prst="upArrowCallout">
          <a:avLst/>
        </a:prstGeom>
        <a:solidFill>
          <a:schemeClr val="accent5">
            <a:shade val="80000"/>
            <a:hueOff val="59891"/>
            <a:satOff val="-10762"/>
            <a:lumOff val="1079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Nettoyage des valeurs manquantes</a:t>
          </a:r>
        </a:p>
      </dsp:txBody>
      <dsp:txXfrm rot="10800000">
        <a:off x="0" y="2884002"/>
        <a:ext cx="1357655" cy="473074"/>
      </dsp:txXfrm>
    </dsp:sp>
    <dsp:sp modelId="{33935F67-8921-476C-BB28-B446FAF8545F}">
      <dsp:nvSpPr>
        <dsp:cNvPr id="0" name=""/>
        <dsp:cNvSpPr/>
      </dsp:nvSpPr>
      <dsp:spPr>
        <a:xfrm rot="10800000">
          <a:off x="0" y="2163037"/>
          <a:ext cx="1357655" cy="728064"/>
        </a:xfrm>
        <a:prstGeom prst="upArrowCallout">
          <a:avLst/>
        </a:prstGeom>
        <a:solidFill>
          <a:schemeClr val="accent5">
            <a:shade val="80000"/>
            <a:hueOff val="89837"/>
            <a:satOff val="-16143"/>
            <a:lumOff val="161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FI de base</a:t>
          </a:r>
        </a:p>
      </dsp:txBody>
      <dsp:txXfrm rot="10800000">
        <a:off x="0" y="2163037"/>
        <a:ext cx="1357655" cy="473074"/>
      </dsp:txXfrm>
    </dsp:sp>
    <dsp:sp modelId="{666322E2-DD1D-49D0-984C-2D02F2777BA6}">
      <dsp:nvSpPr>
        <dsp:cNvPr id="0" name=""/>
        <dsp:cNvSpPr/>
      </dsp:nvSpPr>
      <dsp:spPr>
        <a:xfrm rot="10800000">
          <a:off x="0" y="1442073"/>
          <a:ext cx="1357655" cy="728064"/>
        </a:xfrm>
        <a:prstGeom prst="upArrowCallout">
          <a:avLst/>
        </a:prstGeom>
        <a:solidFill>
          <a:schemeClr val="accent5">
            <a:shade val="80000"/>
            <a:hueOff val="119783"/>
            <a:satOff val="-21524"/>
            <a:lumOff val="2159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 err="1"/>
            <a:t>Ecodage</a:t>
          </a:r>
          <a:r>
            <a:rPr lang="fr-FR" sz="900" kern="1200" dirty="0"/>
            <a:t> des variables catégorielles</a:t>
          </a:r>
        </a:p>
      </dsp:txBody>
      <dsp:txXfrm rot="10800000">
        <a:off x="0" y="1442073"/>
        <a:ext cx="1357655" cy="473074"/>
      </dsp:txXfrm>
    </dsp:sp>
    <dsp:sp modelId="{CF06915D-710C-4BF5-95E2-A6E30EBDE72E}">
      <dsp:nvSpPr>
        <dsp:cNvPr id="0" name=""/>
        <dsp:cNvSpPr/>
      </dsp:nvSpPr>
      <dsp:spPr>
        <a:xfrm rot="10800000">
          <a:off x="0" y="721109"/>
          <a:ext cx="1357655" cy="728064"/>
        </a:xfrm>
        <a:prstGeom prst="upArrowCallout">
          <a:avLst/>
        </a:prstGeom>
        <a:solidFill>
          <a:schemeClr val="accent5">
            <a:shade val="80000"/>
            <a:hueOff val="149728"/>
            <a:satOff val="-26905"/>
            <a:lumOff val="269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Fusion train/test</a:t>
          </a:r>
        </a:p>
      </dsp:txBody>
      <dsp:txXfrm rot="10800000">
        <a:off x="0" y="721109"/>
        <a:ext cx="1357655" cy="473074"/>
      </dsp:txXfrm>
    </dsp:sp>
    <dsp:sp modelId="{A6DCDC7C-DE6E-4286-BB7F-607FC537C6E1}">
      <dsp:nvSpPr>
        <dsp:cNvPr id="0" name=""/>
        <dsp:cNvSpPr/>
      </dsp:nvSpPr>
      <dsp:spPr>
        <a:xfrm rot="10800000">
          <a:off x="0" y="145"/>
          <a:ext cx="1357655" cy="728064"/>
        </a:xfrm>
        <a:prstGeom prst="upArrowCallout">
          <a:avLst/>
        </a:prstGeom>
        <a:solidFill>
          <a:schemeClr val="accent5">
            <a:shade val="80000"/>
            <a:hueOff val="179674"/>
            <a:satOff val="-32286"/>
            <a:lumOff val="3239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Nettoyage initial</a:t>
          </a:r>
        </a:p>
      </dsp:txBody>
      <dsp:txXfrm rot="10800000">
        <a:off x="0" y="145"/>
        <a:ext cx="1357655" cy="4730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6853A-42AD-4FA6-8661-FB98FB30E5F6}">
      <dsp:nvSpPr>
        <dsp:cNvPr id="0" name=""/>
        <dsp:cNvSpPr/>
      </dsp:nvSpPr>
      <dsp:spPr>
        <a:xfrm>
          <a:off x="0" y="4325930"/>
          <a:ext cx="1357655" cy="473384"/>
        </a:xfrm>
        <a:prstGeom prst="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Merge global</a:t>
          </a:r>
        </a:p>
      </dsp:txBody>
      <dsp:txXfrm>
        <a:off x="0" y="4325930"/>
        <a:ext cx="1357655" cy="473384"/>
      </dsp:txXfrm>
    </dsp:sp>
    <dsp:sp modelId="{08CC7B77-766C-4369-A59D-E8EDAF802EB9}">
      <dsp:nvSpPr>
        <dsp:cNvPr id="0" name=""/>
        <dsp:cNvSpPr/>
      </dsp:nvSpPr>
      <dsp:spPr>
        <a:xfrm rot="10800000">
          <a:off x="0" y="3604966"/>
          <a:ext cx="1357655" cy="728064"/>
        </a:xfrm>
        <a:prstGeom prst="upArrowCallout">
          <a:avLst/>
        </a:prstGeom>
        <a:solidFill>
          <a:schemeClr val="accent5">
            <a:shade val="80000"/>
            <a:hueOff val="29946"/>
            <a:satOff val="-5381"/>
            <a:lumOff val="539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Intégration des sources secondaires</a:t>
          </a:r>
        </a:p>
      </dsp:txBody>
      <dsp:txXfrm rot="10800000">
        <a:off x="0" y="3604966"/>
        <a:ext cx="1357655" cy="473074"/>
      </dsp:txXfrm>
    </dsp:sp>
    <dsp:sp modelId="{274B9CCB-50E4-40D9-9558-3633E313F402}">
      <dsp:nvSpPr>
        <dsp:cNvPr id="0" name=""/>
        <dsp:cNvSpPr/>
      </dsp:nvSpPr>
      <dsp:spPr>
        <a:xfrm rot="10800000">
          <a:off x="0" y="2884002"/>
          <a:ext cx="1357655" cy="728064"/>
        </a:xfrm>
        <a:prstGeom prst="upArrowCallout">
          <a:avLst/>
        </a:prstGeom>
        <a:solidFill>
          <a:schemeClr val="accent5">
            <a:shade val="80000"/>
            <a:hueOff val="59891"/>
            <a:satOff val="-10762"/>
            <a:lumOff val="1079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Nettoyage des valeurs manquantes</a:t>
          </a:r>
        </a:p>
      </dsp:txBody>
      <dsp:txXfrm rot="10800000">
        <a:off x="0" y="2884002"/>
        <a:ext cx="1357655" cy="473074"/>
      </dsp:txXfrm>
    </dsp:sp>
    <dsp:sp modelId="{33935F67-8921-476C-BB28-B446FAF8545F}">
      <dsp:nvSpPr>
        <dsp:cNvPr id="0" name=""/>
        <dsp:cNvSpPr/>
      </dsp:nvSpPr>
      <dsp:spPr>
        <a:xfrm rot="10800000">
          <a:off x="0" y="2163037"/>
          <a:ext cx="1357655" cy="728064"/>
        </a:xfrm>
        <a:prstGeom prst="upArrowCallout">
          <a:avLst/>
        </a:prstGeom>
        <a:solidFill>
          <a:schemeClr val="accent5">
            <a:shade val="80000"/>
            <a:hueOff val="89837"/>
            <a:satOff val="-16143"/>
            <a:lumOff val="161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FI de base</a:t>
          </a:r>
        </a:p>
      </dsp:txBody>
      <dsp:txXfrm rot="10800000">
        <a:off x="0" y="2163037"/>
        <a:ext cx="1357655" cy="473074"/>
      </dsp:txXfrm>
    </dsp:sp>
    <dsp:sp modelId="{666322E2-DD1D-49D0-984C-2D02F2777BA6}">
      <dsp:nvSpPr>
        <dsp:cNvPr id="0" name=""/>
        <dsp:cNvSpPr/>
      </dsp:nvSpPr>
      <dsp:spPr>
        <a:xfrm rot="10800000">
          <a:off x="0" y="1442073"/>
          <a:ext cx="1357655" cy="728064"/>
        </a:xfrm>
        <a:prstGeom prst="upArrowCallout">
          <a:avLst/>
        </a:prstGeom>
        <a:solidFill>
          <a:schemeClr val="accent5">
            <a:shade val="80000"/>
            <a:hueOff val="119783"/>
            <a:satOff val="-21524"/>
            <a:lumOff val="2159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 err="1"/>
            <a:t>Ecodage</a:t>
          </a:r>
          <a:r>
            <a:rPr lang="fr-FR" sz="900" kern="1200" dirty="0"/>
            <a:t> des variables catégorielles</a:t>
          </a:r>
        </a:p>
      </dsp:txBody>
      <dsp:txXfrm rot="10800000">
        <a:off x="0" y="1442073"/>
        <a:ext cx="1357655" cy="473074"/>
      </dsp:txXfrm>
    </dsp:sp>
    <dsp:sp modelId="{CF06915D-710C-4BF5-95E2-A6E30EBDE72E}">
      <dsp:nvSpPr>
        <dsp:cNvPr id="0" name=""/>
        <dsp:cNvSpPr/>
      </dsp:nvSpPr>
      <dsp:spPr>
        <a:xfrm rot="10800000">
          <a:off x="0" y="721109"/>
          <a:ext cx="1357655" cy="728064"/>
        </a:xfrm>
        <a:prstGeom prst="upArrowCallout">
          <a:avLst/>
        </a:prstGeom>
        <a:solidFill>
          <a:schemeClr val="accent5">
            <a:shade val="80000"/>
            <a:hueOff val="149728"/>
            <a:satOff val="-26905"/>
            <a:lumOff val="269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Fusion train/test</a:t>
          </a:r>
        </a:p>
      </dsp:txBody>
      <dsp:txXfrm rot="10800000">
        <a:off x="0" y="721109"/>
        <a:ext cx="1357655" cy="473074"/>
      </dsp:txXfrm>
    </dsp:sp>
    <dsp:sp modelId="{A6DCDC7C-DE6E-4286-BB7F-607FC537C6E1}">
      <dsp:nvSpPr>
        <dsp:cNvPr id="0" name=""/>
        <dsp:cNvSpPr/>
      </dsp:nvSpPr>
      <dsp:spPr>
        <a:xfrm rot="10800000">
          <a:off x="0" y="145"/>
          <a:ext cx="1357655" cy="728064"/>
        </a:xfrm>
        <a:prstGeom prst="upArrowCallout">
          <a:avLst/>
        </a:prstGeom>
        <a:solidFill>
          <a:schemeClr val="accent5">
            <a:shade val="80000"/>
            <a:hueOff val="179674"/>
            <a:satOff val="-32286"/>
            <a:lumOff val="3239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900" kern="1200" dirty="0"/>
            <a:t>Nettoyage initial</a:t>
          </a:r>
        </a:p>
      </dsp:txBody>
      <dsp:txXfrm rot="10800000">
        <a:off x="0" y="145"/>
        <a:ext cx="1357655" cy="4730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D5BFC-2653-4201-9EDB-0CD77135D465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B7E0A-8574-4C33-8659-0E3D6202A75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9619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lang="fr-FR" dirty="0"/>
              <a:t>Bonjour, je m’appelle Margaux Dupeyron, et je vais vous présenter mon projet de modélisation d’un score de risque crédit dans le cadre du parcours Data </a:t>
            </a:r>
            <a:r>
              <a:rPr lang="fr-FR" dirty="0" err="1"/>
              <a:t>Scientist</a:t>
            </a:r>
            <a:r>
              <a:rPr lang="fr-FR" dirty="0"/>
              <a:t> </a:t>
            </a:r>
            <a:r>
              <a:rPr lang="fr-FR" dirty="0" err="1"/>
              <a:t>OpenClassrooms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Ce projet consiste à construire un modèle capable de prédire la probabilité qu’un client rembourse ou non son crédit, tout en intégrant les enjeux métier liés au risque financier.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594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6168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EC26DB6C-CD6C-BE4F-E66A-87D4174C4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AFEF695F-1806-41AB-EFBE-7F9B577A34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EE65CC94-9316-5553-68C3-3CC15E19B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81E9B602-6B98-8483-970B-6B37070602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6295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CC506F32-4CF5-B534-7AC3-71502CE3E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3FE2FCEF-6666-A244-5AD0-F2EB880B5B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2F6D3BFC-5E41-5091-371A-1BA5451559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E78D53C5-932D-D06A-741F-20DBFF9867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0502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879777B4-0ACE-2D35-4A53-992EDB7F6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668D1CCE-7CF3-4410-F4EE-A169CFD24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772CF21B-353B-A8C8-165B-D5095F9754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fr-FR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03FCE3E9-1A92-AD9D-6226-39DA943802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5624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BAA8944D-5D5B-3528-F45D-D2E21620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B04A92A8-7675-86B4-4C90-804FF116EE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BD233001-54B7-D34F-600D-FDC7E6AA81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dirty="0"/>
              <a:t>Certaines professions sont sur-représentées parmi les défauts :</a:t>
            </a:r>
          </a:p>
          <a:p>
            <a:r>
              <a:rPr lang="fr-FR" b="1" dirty="0"/>
              <a:t>Low-</a:t>
            </a:r>
            <a:r>
              <a:rPr lang="fr-FR" b="1" dirty="0" err="1"/>
              <a:t>skill</a:t>
            </a:r>
            <a:r>
              <a:rPr lang="fr-FR" b="1" dirty="0"/>
              <a:t> </a:t>
            </a:r>
            <a:r>
              <a:rPr lang="fr-FR" b="1" dirty="0" err="1"/>
              <a:t>Laborers</a:t>
            </a:r>
            <a:r>
              <a:rPr lang="fr-FR" dirty="0"/>
              <a:t>, </a:t>
            </a:r>
            <a:r>
              <a:rPr lang="fr-FR" b="1" dirty="0"/>
              <a:t>Drivers</a:t>
            </a:r>
            <a:r>
              <a:rPr lang="fr-FR" dirty="0"/>
              <a:t>, </a:t>
            </a:r>
            <a:r>
              <a:rPr lang="fr-FR" b="1" dirty="0"/>
              <a:t>Sales staff</a:t>
            </a:r>
            <a:r>
              <a:rPr lang="fr-FR" dirty="0"/>
              <a:t> : jusqu’à </a:t>
            </a:r>
            <a:r>
              <a:rPr lang="fr-FR" b="1" dirty="0"/>
              <a:t>30 %</a:t>
            </a:r>
            <a:r>
              <a:rPr lang="fr-FR" dirty="0"/>
              <a:t> des défauts</a:t>
            </a:r>
          </a:p>
          <a:p>
            <a:r>
              <a:rPr lang="fr-FR" dirty="0"/>
              <a:t>À l’inverse, d’autres métiers ont un risque très faible :</a:t>
            </a:r>
          </a:p>
          <a:p>
            <a:r>
              <a:rPr lang="fr-FR" dirty="0"/>
              <a:t>Professions qualifiées : IT, HR, High-</a:t>
            </a:r>
            <a:r>
              <a:rPr lang="fr-FR" dirty="0" err="1"/>
              <a:t>skill</a:t>
            </a:r>
            <a:r>
              <a:rPr lang="fr-FR" dirty="0"/>
              <a:t> staff</a:t>
            </a:r>
          </a:p>
          <a:p>
            <a:r>
              <a:rPr lang="fr-FR" dirty="0"/>
              <a:t>👉 Le métier reflète une </a:t>
            </a:r>
            <a:r>
              <a:rPr lang="fr-FR" b="1" dirty="0"/>
              <a:t>stabilité financière structurelle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C’est un indicateur explicatif puissant du risque client, cohérent avec la logique métier.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4E391E82-3849-B885-7128-0B234FA5E1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2112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4C9054AE-3762-4D5A-5E4D-4EC1B1386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8C6A39EE-BE11-2B96-A0D2-7AC14D39E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C80C4FD9-039D-8CA4-5F53-CDF121996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45D83A2F-FEE6-8CB4-64A4-7EC65A64FA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665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D8C781E0-0CFB-DEDB-8B8D-A225D66B0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3B70DF21-74B9-C44F-33CC-40B1838517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907022A6-D0D0-7F12-D594-CDE57BF1F1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B80015E0-740A-46C2-1A6F-998D21ADA5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3396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BB80F878-5D16-0B65-E5E5-33E51397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31561299-F9A5-6403-35C6-5D64D227A5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1E0121CB-46A2-8EE7-F128-33914691CF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AA7975D8-F0D9-9383-3E67-21266B38A3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6147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81772F7A-D049-D1B3-A8AF-28B2A2C8F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EE970DA6-2CBE-8023-A3B2-CCD49FCE38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84F64139-5A06-D6A1-8629-F03F4018C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79F6723F-166A-9E6A-269A-E5965F92B9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1200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E6969456-B075-A7F1-B441-BBAF303E8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7AD1B6DD-5F97-9604-CCA8-CEF394AE8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E5862AB8-5F28-3120-018F-7400B4011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25262BB1-7E94-1875-34AF-82B327309A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0561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6F5E9E67-1DD7-A990-F26E-6DA3420CC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BF1F89FE-22C0-19B8-DA16-271F2C30E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7B109F7C-348F-A8D7-BF6D-C4EE566328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A136E166-770D-68BB-5441-E4853CEB31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669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DF749A14-7E79-D0A5-108A-B9B6E0CD6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14097648-9C2A-5FF3-B24C-45CDC2084D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4F438D71-E4E4-BD7C-914E-1C65E8DA9B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254235F2-53D3-F004-077C-07AC5A9A2E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26677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0B76D961-595A-B72F-E0AE-950505388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E3CA9580-EBD6-C468-1C92-9D8D982243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B09EE29E-2CC6-E693-EAE8-B501D3C4FE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A86DDE1F-E8C9-2A6F-5F59-7CFF520EE1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89250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4F28DEED-0DA5-06ED-1770-B2A9963FF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AE1BD750-BA6C-5104-03DF-E134126B4D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6B89F581-AE34-ACA9-24C7-9D4A99617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98FA6BEE-71E6-E780-31CE-02A9CD4432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6967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94450049-5842-010A-73B9-7AEDA72F2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1701A0A0-B9F7-672A-DB99-766AC3CF83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3A30CA4B-1E59-C9EC-59B5-5233EE8E53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 typeface="Arial"/>
              <a:buNone/>
              <a:tabLst/>
              <a:defRPr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13787F92-E019-53C6-5E0C-1DDAC6700A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5719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0712EFB2-60B4-C322-86B0-7EBC672C3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0CDC6AC6-1370-57F0-C577-897025F7A5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75D15842-A858-6915-630E-BC2E42C935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6949C15B-FC2C-4C13-C469-B02E44B7A3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35457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1B606687-29B2-3F1E-A222-36B2FB039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EA8B2296-0348-F12A-4E71-96D5151071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AA4E3637-72CB-9C47-2AED-10EC44BFC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0AA35C80-D434-1536-2899-B750106DB0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30026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B46B4537-8243-18D4-19F6-D0C49853E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023DC0C2-B708-A8C1-CB93-EB2B1CFE1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C0A29896-791E-C4FC-0299-054581061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43DC5214-A817-9583-DBB8-1AF5BB9B0B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3147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A9997842-BD5C-A6A1-388D-E70F964F1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3FA56EBF-4852-7AEE-12C5-C92857F7D1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65D9F728-2E16-915C-FC4D-B6CBC6595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3F10A5A7-D7E2-E8AA-D013-B627A3CE09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11500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2B37EF45-8D08-1EDB-60FB-36E04964B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9D50F0AA-D107-DBD3-A650-85A403DB33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274A9695-9C7F-1B1B-FC7C-FB007FB485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64EFDA54-3A88-355A-3398-4324EF5897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8975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9EEB28C6-F256-FF33-B425-56E92311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5700F238-76BF-70CE-7695-1C0372F681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7A4CC8C1-0828-9B8E-C323-778FF60C0F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BBD15A9C-5B42-676A-25B7-93911DDCB3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44460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DD3DB211-28D8-6A6C-B267-2B967D063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5D549F7B-7E94-2371-B9E9-7173051D0F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10F57257-8DEC-B2EA-1F6F-95AAF9571B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8A45AC57-2554-467C-6E13-855094DDB1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1453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FBC4D73C-E010-0079-A5FE-05A281A7A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4D855DD3-A202-F450-44E3-24BF395AE9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4BA62AB8-5650-DB3D-F344-7DBA154BC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6ABA0A82-4958-BA25-54A4-4AF93C620C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16712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F1AC8F97-E6E9-F1CB-903F-92A0F43B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BF30ECC4-8B99-6CB8-E386-293810A1D2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F1C093B9-E815-7965-D158-77A7EAAE2E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EB8CA7EB-54C6-7F8D-7320-3F14DF252A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97936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BDDD69B9-3D4F-C140-4656-5FE88ABB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410EC501-22D5-B374-7793-5A1590053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D7BA7344-CEE3-CB95-5F51-8C72789D5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7254D3CA-2B2B-0E99-5307-0D99592560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3031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1EB3741B-CBA3-2FE0-EEED-B3DE48CE7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544CE157-177F-1FF4-3B5F-78BCCE257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12F263CA-7BC5-BC40-60FB-4EFBA9CA25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269DA774-CF72-FA93-5B88-5961AE5615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82502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5864716F-907E-059D-8706-2B8B8A640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3FF9DFA6-266A-743B-209D-D6097CFCE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A1CC416A-EDB3-37C5-FF81-779A13BFB3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2738C184-AA16-BDA5-DBD9-1DF68EB53D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54314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0861CD5E-65BF-6C50-AFD3-D4D60F69F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318BEA1A-D466-3018-A254-41C5A1175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65E158FA-F0AA-29A5-BF8A-821E13AE5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E43A1B78-ED43-CE23-8986-FFDFC2169B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73280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12D42E30-FDDC-944F-C63D-E93BA9273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AF8B38E3-D733-3DEF-888E-8CFF2BEB9E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A0D33D3E-DFBF-740E-D1B5-B882F027E3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169A230D-69EC-3D19-C45B-0CF159802B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2945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D8649721-B471-9AAB-5C28-50324BA1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>
            <a:extLst>
              <a:ext uri="{FF2B5EF4-FFF2-40B4-BE49-F238E27FC236}">
                <a16:creationId xmlns:a16="http://schemas.microsoft.com/office/drawing/2014/main" id="{650355CA-4FB8-1DA1-E42C-EE93A05F38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>
            <a:extLst>
              <a:ext uri="{FF2B5EF4-FFF2-40B4-BE49-F238E27FC236}">
                <a16:creationId xmlns:a16="http://schemas.microsoft.com/office/drawing/2014/main" id="{0BCF91F7-9365-1FCD-89CE-0A3DCEE670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dirty="0"/>
              <a:t>Pour cette partie, j’ai industrialisé le modèle de </a:t>
            </a:r>
            <a:r>
              <a:rPr lang="fr-FR" dirty="0" err="1"/>
              <a:t>scoring</a:t>
            </a:r>
            <a:r>
              <a:rPr lang="fr-FR" dirty="0"/>
              <a:t> afin qu’il soit utilisable par une application ou un utilisateur métier.</a:t>
            </a:r>
            <a:br>
              <a:rPr lang="fr-FR" dirty="0"/>
            </a:br>
            <a:r>
              <a:rPr lang="fr-FR" dirty="0"/>
              <a:t>J’ai créé une API avec </a:t>
            </a:r>
            <a:r>
              <a:rPr lang="fr-FR" dirty="0" err="1"/>
              <a:t>FastAPI</a:t>
            </a:r>
            <a:r>
              <a:rPr lang="fr-FR" dirty="0"/>
              <a:t>, qui expose un </a:t>
            </a:r>
            <a:r>
              <a:rPr lang="fr-FR" dirty="0" err="1"/>
              <a:t>endpoint</a:t>
            </a:r>
            <a:r>
              <a:rPr lang="fr-FR" dirty="0"/>
              <a:t> de prédiction. Elle charge automatiquement la dernière version validée du modèle avec </a:t>
            </a:r>
            <a:r>
              <a:rPr lang="fr-FR" dirty="0" err="1"/>
              <a:t>MLflow</a:t>
            </a:r>
            <a:r>
              <a:rPr lang="fr-FR" dirty="0"/>
              <a:t>.</a:t>
            </a:r>
          </a:p>
          <a:p>
            <a:r>
              <a:rPr lang="fr-FR" dirty="0"/>
              <a:t>Ensuite j’ai conteneurisé l’API avec Docker, ce qui permet de la déployer facilement en local ou dans un environnement cloud, tout en garantissant la reproductibilité.</a:t>
            </a:r>
          </a:p>
          <a:p>
            <a:r>
              <a:rPr lang="fr-FR" dirty="0"/>
              <a:t>J’ai également développé une interface utilisateur avec </a:t>
            </a:r>
            <a:r>
              <a:rPr lang="fr-FR" dirty="0" err="1"/>
              <a:t>Streamlit</a:t>
            </a:r>
            <a:r>
              <a:rPr lang="fr-FR" dirty="0"/>
              <a:t> : c’est une petite application qui permet de saisir les données d’un client et d’obtenir en temps réel la probabilité de défaut, la décision et le score métier.</a:t>
            </a:r>
          </a:p>
          <a:p>
            <a:r>
              <a:rPr lang="fr-FR" dirty="0"/>
              <a:t>Tout le code est versionné sur GitHub, avec une architecture propre et prête pour du CI/CD si nécessaire.</a:t>
            </a:r>
            <a:br>
              <a:rPr lang="fr-FR" dirty="0"/>
            </a:br>
            <a:r>
              <a:rPr lang="fr-FR" dirty="0"/>
              <a:t>L’objectif était d’illustrer un workflow réaliste d’industrialisation, proche de ce qu’on ferait en entreprise.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>
            <a:extLst>
              <a:ext uri="{FF2B5EF4-FFF2-40B4-BE49-F238E27FC236}">
                <a16:creationId xmlns:a16="http://schemas.microsoft.com/office/drawing/2014/main" id="{EEF96E2C-6D0D-CE51-8350-E93926DC28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1977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537542aa6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3" name="Google Shape;153;g25537542aa6_0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25537542aa6_0_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178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4B29E-B7D3-3FA8-5D21-10ED0CD35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772E6-4BC9-0DA7-06C8-BBB1560F2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C2EAE-E4C2-47F3-8E40-F07C19D1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1130-84BE-400D-A83C-028E7AB681C7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1D965-F087-9909-D8DA-6A4FA0124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00E3A-F445-EA17-3C3E-AA319CD5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579FB-F245-4409-9310-CE1CC0A5A0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6356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89BC7-E666-C4AA-6C3A-8A6AFB14E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DDE2C-D0E6-F7AE-0F8B-CA6FA6CF7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EA1D3-4097-AB19-DF49-D5DA7347B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1130-84BE-400D-A83C-028E7AB681C7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21483-CAE8-17BC-C64A-F89985A81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9CCA1-D32D-13E1-701E-42D8CBDFE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579FB-F245-4409-9310-CE1CC0A5A0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003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AFDB-7BD4-E54D-12A5-EFDC31DBE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3C884-F837-951E-1775-0323DDC6D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C3996-122F-56CF-C216-80554C3A8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1130-84BE-400D-A83C-028E7AB681C7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55DF1-A6DF-D610-8EAA-6C99BA84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7C0BC-78AF-60E6-CA1E-A87FD022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579FB-F245-4409-9310-CE1CC0A5A0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231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972D-3186-1F17-9175-39B289BC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24C2C-6405-3626-3FAB-EAD9F788EF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B38CD-2A98-8D71-94A1-AADEB88BE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3FB10-8A66-657F-C283-63110E7BB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1130-84BE-400D-A83C-028E7AB681C7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85094-3BBA-7445-6102-AAF7E40CE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5ABFB-1BDC-99E6-76A2-F04939786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579FB-F245-4409-9310-CE1CC0A5A0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232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BBA91-43B5-9DB8-1B97-162A74CF8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63C2C-99D7-07ED-DCCF-56E5185EF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64B77-8437-DCF9-E5E1-B86E3BE1E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89165C-BB8B-4B0A-6FAC-91D28AFD4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65973-BE1E-EABF-AD58-7C0A933E34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D14068-DE78-3354-B9CA-8C0A89542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1130-84BE-400D-A83C-028E7AB681C7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31B2BC-23E3-55BE-6D37-98FB42132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F995D-AAF8-0418-3974-B51FA13F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579FB-F245-4409-9310-CE1CC0A5A0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4370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00E5-DDE4-3BFB-9EFF-255FB8C86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DFA428-FA9A-361D-5939-B4AF9F312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1130-84BE-400D-A83C-028E7AB681C7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ED71E-6D4D-0AD4-EAEC-C5EDE591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BA27E-BF2A-FF48-8DFB-B4CEBCB9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579FB-F245-4409-9310-CE1CC0A5A0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8321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51320D-208A-811A-4E33-DAA54CCFC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1130-84BE-400D-A83C-028E7AB681C7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8A8DAF-DCB2-A4E2-D388-25818DF30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1922E-1CF4-5F45-F32B-D77C50B4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579FB-F245-4409-9310-CE1CC0A5A0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4353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819D3-5FB8-831D-E661-55A138BF0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EB635-79D5-378B-D8CD-2B8D62027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47D06-45CA-6D85-125F-5069DE94B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BD644-7340-5898-C8E2-4478656AE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1130-84BE-400D-A83C-028E7AB681C7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39D02-6759-9E72-D878-167FDCD0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53F58-3430-322D-0C1C-2E677C6D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579FB-F245-4409-9310-CE1CC0A5A0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4050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EA834-E6F4-DDE7-3D3A-7EB3864B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C91840-18C2-393A-A0DD-639A03E356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2C431-93DB-8F86-7013-B77D13103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44D87-1E24-662B-61A8-701C1FBA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1130-84BE-400D-A83C-028E7AB681C7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FA2F5-FB8E-3BC2-3972-6D631C450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3B0BF-A00C-30C0-3AE9-0F21D38D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579FB-F245-4409-9310-CE1CC0A5A0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4727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74DAB-D3D7-E416-4355-27B88BFE8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61827-4CD2-1C0A-AD59-F9DEB3D1E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348AE-DED0-FFB0-9050-E520045CC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1130-84BE-400D-A83C-028E7AB681C7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700BC-603F-B956-6449-20A27F01F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52FBE-9D26-787F-D199-7F2B3179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579FB-F245-4409-9310-CE1CC0A5A0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010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2B3B76-7E02-B418-930A-E782DDFEA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94CBF4-094D-46EC-F4DC-0E66DC8A9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E3C8D-62CE-0FA1-E09F-895817F49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11130-84BE-400D-A83C-028E7AB681C7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D5518-B113-99FA-58A2-5A6ADC43C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D8193-319B-68D3-B61E-3C96121C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579FB-F245-4409-9310-CE1CC0A5A0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997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FDBB7C-CE34-4534-ED14-D4A21414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0B1F0-3B35-E8EA-7468-A93C0CDDA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EFCB0-469F-E48F-D19A-56A393A99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411130-84BE-400D-A83C-028E7AB681C7}" type="datetimeFigureOut">
              <a:rPr lang="fr-FR" smtClean="0"/>
              <a:t>04/12/2025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E7728-8F03-68DF-46F6-E1E1E5634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6083C-DCE6-0C5F-0010-D6E5C5E4C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579FB-F245-4409-9310-CE1CC0A5A07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849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3" Type="http://schemas.openxmlformats.org/officeDocument/2006/relationships/image" Target="../media/image1.jpeg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.jp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jpg"/><Relationship Id="rId1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3" Type="http://schemas.openxmlformats.org/officeDocument/2006/relationships/image" Target="../media/image1.jpeg"/><Relationship Id="rId21" Type="http://schemas.openxmlformats.org/officeDocument/2006/relationships/image" Target="../media/image25.png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9.jp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jpg"/><Relationship Id="rId1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3" Type="http://schemas.openxmlformats.org/officeDocument/2006/relationships/image" Target="../media/image1.jpeg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9.jp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jpg"/><Relationship Id="rId1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3" Type="http://schemas.openxmlformats.org/officeDocument/2006/relationships/image" Target="../media/image1.jpeg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9.jp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jpg"/><Relationship Id="rId1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3" Type="http://schemas.openxmlformats.org/officeDocument/2006/relationships/image" Target="../media/image1.jpeg"/><Relationship Id="rId21" Type="http://schemas.openxmlformats.org/officeDocument/2006/relationships/diagramLayout" Target="../diagrams/layout1.xml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9.jpg"/><Relationship Id="rId20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24" Type="http://schemas.microsoft.com/office/2007/relationships/diagramDrawing" Target="../diagrams/drawing1.xml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23" Type="http://schemas.openxmlformats.org/officeDocument/2006/relationships/diagramColors" Target="../diagrams/colors1.xml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3" Type="http://schemas.openxmlformats.org/officeDocument/2006/relationships/image" Target="../media/image1.jpeg"/><Relationship Id="rId21" Type="http://schemas.openxmlformats.org/officeDocument/2006/relationships/diagramLayout" Target="../diagrams/layout2.xml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9.jpg"/><Relationship Id="rId20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24" Type="http://schemas.microsoft.com/office/2007/relationships/diagramDrawing" Target="../diagrams/drawing2.xml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23" Type="http://schemas.openxmlformats.org/officeDocument/2006/relationships/diagramColors" Target="../diagrams/colors2.xml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3" Type="http://schemas.openxmlformats.org/officeDocument/2006/relationships/image" Target="../media/image1.jpeg"/><Relationship Id="rId21" Type="http://schemas.openxmlformats.org/officeDocument/2006/relationships/diagramLayout" Target="../diagrams/layout3.xml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9.jpg"/><Relationship Id="rId20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24" Type="http://schemas.microsoft.com/office/2007/relationships/diagramDrawing" Target="../diagrams/drawing3.xml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23" Type="http://schemas.openxmlformats.org/officeDocument/2006/relationships/diagramColors" Target="../diagrams/colors3.xml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3" Type="http://schemas.openxmlformats.org/officeDocument/2006/relationships/image" Target="../media/image1.jpeg"/><Relationship Id="rId21" Type="http://schemas.openxmlformats.org/officeDocument/2006/relationships/diagramLayout" Target="../diagrams/layout4.xml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9.jpg"/><Relationship Id="rId20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24" Type="http://schemas.microsoft.com/office/2007/relationships/diagramDrawing" Target="../diagrams/drawing4.xml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23" Type="http://schemas.openxmlformats.org/officeDocument/2006/relationships/diagramColors" Target="../diagrams/colors4.xml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3" Type="http://schemas.openxmlformats.org/officeDocument/2006/relationships/image" Target="../media/image1.jpeg"/><Relationship Id="rId21" Type="http://schemas.openxmlformats.org/officeDocument/2006/relationships/diagramLayout" Target="../diagrams/layout5.xml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9.jpg"/><Relationship Id="rId20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24" Type="http://schemas.microsoft.com/office/2007/relationships/diagramDrawing" Target="../diagrams/drawing5.xml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23" Type="http://schemas.openxmlformats.org/officeDocument/2006/relationships/diagramColors" Target="../diagrams/colors5.xml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3" Type="http://schemas.openxmlformats.org/officeDocument/2006/relationships/image" Target="../media/image1.jpeg"/><Relationship Id="rId21" Type="http://schemas.openxmlformats.org/officeDocument/2006/relationships/diagramLayout" Target="../diagrams/layout6.xml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9.jpg"/><Relationship Id="rId20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24" Type="http://schemas.microsoft.com/office/2007/relationships/diagramDrawing" Target="../diagrams/drawing6.xml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23" Type="http://schemas.openxmlformats.org/officeDocument/2006/relationships/diagramColors" Target="../diagrams/colors6.xml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3" Type="http://schemas.openxmlformats.org/officeDocument/2006/relationships/image" Target="../media/image1.jpeg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jpg"/><Relationship Id="rId1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3" Type="http://schemas.openxmlformats.org/officeDocument/2006/relationships/image" Target="../media/image1.jpeg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9.jp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jpg"/><Relationship Id="rId1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3" Type="http://schemas.openxmlformats.org/officeDocument/2006/relationships/image" Target="../media/image1.jpeg"/><Relationship Id="rId21" Type="http://schemas.openxmlformats.org/officeDocument/2006/relationships/image" Target="../media/image30.png"/><Relationship Id="rId7" Type="http://schemas.openxmlformats.org/officeDocument/2006/relationships/image" Target="../media/image10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9.jp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5" Type="http://schemas.openxmlformats.org/officeDocument/2006/relationships/image" Target="../media/image8.jpg"/><Relationship Id="rId15" Type="http://schemas.openxmlformats.org/officeDocument/2006/relationships/image" Target="../media/image18.jpg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3788A2D-56AD-B0CD-D8B4-A8AE15A924B1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84447A-6C7E-3429-7801-E0CF543E4A8F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542335-4CE2-C9D4-FE70-AABE94707615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B5F5D8-00C0-0E50-6DA9-B2391406CEE5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solidFill>
                <a:srgbClr val="97B9D3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5562FE-AE03-458B-07C0-94FE846959B3}"/>
              </a:ext>
            </a:extLst>
          </p:cNvPr>
          <p:cNvSpPr txBox="1"/>
          <p:nvPr/>
        </p:nvSpPr>
        <p:spPr>
          <a:xfrm>
            <a:off x="6300696" y="5864050"/>
            <a:ext cx="2148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DM Serif Text" pitchFamily="2" charset="0"/>
              </a:rPr>
              <a:t>Margaux Dupeyron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87E4D6-98BA-DFBB-9A4E-0640FC47C0DE}"/>
              </a:ext>
            </a:extLst>
          </p:cNvPr>
          <p:cNvSpPr txBox="1"/>
          <p:nvPr/>
        </p:nvSpPr>
        <p:spPr>
          <a:xfrm>
            <a:off x="2862845" y="1822249"/>
            <a:ext cx="9024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DM Serif Text" pitchFamily="2" charset="0"/>
              </a:rPr>
              <a:t>Openclassrooms</a:t>
            </a:r>
            <a:r>
              <a:rPr lang="fr-FR" dirty="0">
                <a:latin typeface="DM Serif Text" pitchFamily="2" charset="0"/>
              </a:rPr>
              <a:t> – Parcours </a:t>
            </a:r>
            <a:r>
              <a:rPr lang="fr-FR" dirty="0" err="1">
                <a:latin typeface="DM Serif Text" pitchFamily="2" charset="0"/>
              </a:rPr>
              <a:t>Datascientist</a:t>
            </a:r>
            <a:endParaRPr lang="fr-FR" dirty="0">
              <a:latin typeface="DM Serif Text" pitchFamily="2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9473789-CF4E-D58A-F9E0-4EB119971AA8}"/>
              </a:ext>
            </a:extLst>
          </p:cNvPr>
          <p:cNvSpPr/>
          <p:nvPr/>
        </p:nvSpPr>
        <p:spPr>
          <a:xfrm>
            <a:off x="3768770" y="2494283"/>
            <a:ext cx="7212563" cy="1206984"/>
          </a:xfrm>
          <a:prstGeom prst="round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37C13D-2315-C1D5-702A-169418F7FBD5}"/>
              </a:ext>
            </a:extLst>
          </p:cNvPr>
          <p:cNvSpPr txBox="1"/>
          <p:nvPr/>
        </p:nvSpPr>
        <p:spPr>
          <a:xfrm>
            <a:off x="3709559" y="2510517"/>
            <a:ext cx="7330984" cy="1231761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Soutenance Projet 7</a:t>
            </a:r>
          </a:p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r>
              <a:rPr lang="fr-FR" sz="2000" dirty="0">
                <a:latin typeface="DM Serif Text" pitchFamily="2" charset="0"/>
              </a:rPr>
              <a:t> de crédit - Home </a:t>
            </a:r>
            <a:r>
              <a:rPr lang="fr-FR" sz="2000" dirty="0" err="1">
                <a:latin typeface="DM Serif Text" pitchFamily="2" charset="0"/>
              </a:rPr>
              <a:t>Credit</a:t>
            </a:r>
            <a:r>
              <a:rPr lang="fr-FR" sz="2000" dirty="0">
                <a:latin typeface="DM Serif Text" pitchFamily="2" charset="0"/>
              </a:rPr>
              <a:t> Default Risk </a:t>
            </a:r>
          </a:p>
        </p:txBody>
      </p:sp>
      <p:pic>
        <p:nvPicPr>
          <p:cNvPr id="3" name="Picture 2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707D8909-0015-8AEC-9B60-AAA48AC00D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843" y="88406"/>
            <a:ext cx="1761738" cy="9886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DF1386-3CE0-6549-3C61-6839C6F3A489}"/>
              </a:ext>
            </a:extLst>
          </p:cNvPr>
          <p:cNvSpPr txBox="1"/>
          <p:nvPr/>
        </p:nvSpPr>
        <p:spPr>
          <a:xfrm>
            <a:off x="5606317" y="3777047"/>
            <a:ext cx="3537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DM Serif Text" pitchFamily="2" charset="0"/>
              </a:rPr>
              <a:t> Mentor : Lamine </a:t>
            </a:r>
            <a:r>
              <a:rPr lang="fr-FR" dirty="0" err="1">
                <a:latin typeface="DM Serif Text" pitchFamily="2" charset="0"/>
              </a:rPr>
              <a:t>Bendaoud</a:t>
            </a:r>
            <a:endParaRPr lang="fr-FR" dirty="0">
              <a:latin typeface="DM Serif Text" pitchFamily="2" charset="0"/>
            </a:endParaRPr>
          </a:p>
          <a:p>
            <a:pPr algn="ctr"/>
            <a:r>
              <a:rPr lang="fr-FR" dirty="0">
                <a:latin typeface="DM Serif Text" pitchFamily="2" charset="0"/>
              </a:rPr>
              <a:t>Novembre 2025</a:t>
            </a:r>
          </a:p>
        </p:txBody>
      </p:sp>
      <p:pic>
        <p:nvPicPr>
          <p:cNvPr id="7" name="Picture 6" descr="A computer monitor with a white screen&#10;&#10;Description automatically generated">
            <a:extLst>
              <a:ext uri="{FF2B5EF4-FFF2-40B4-BE49-F238E27FC236}">
                <a16:creationId xmlns:a16="http://schemas.microsoft.com/office/drawing/2014/main" id="{D65D826F-7F27-9C2D-3444-8CD5B11E5D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5716" y="4513087"/>
            <a:ext cx="3005028" cy="300502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6985D99-9539-A2C0-5259-21FCF6888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9" b="9139"/>
          <a:stretch/>
        </p:blipFill>
        <p:spPr bwMode="auto">
          <a:xfrm>
            <a:off x="10105018" y="5216236"/>
            <a:ext cx="1908000" cy="1210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DE958E-829A-DB06-A8C8-97611D55897F}"/>
              </a:ext>
            </a:extLst>
          </p:cNvPr>
          <p:cNvSpPr txBox="1"/>
          <p:nvPr/>
        </p:nvSpPr>
        <p:spPr>
          <a:xfrm>
            <a:off x="370346" y="2940036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Classification supervisée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</p:spTree>
    <p:extLst>
      <p:ext uri="{BB962C8B-B14F-4D97-AF65-F5344CB8AC3E}">
        <p14:creationId xmlns:p14="http://schemas.microsoft.com/office/powerpoint/2010/main" val="188697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3788A2D-56AD-B0CD-D8B4-A8AE15A924B1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84447A-6C7E-3429-7801-E0CF543E4A8F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542335-4CE2-C9D4-FE70-AABE94707615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B5F5D8-00C0-0E50-6DA9-B2391406CEE5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72A9AC7D-A0FF-69B2-A9D1-DE52B6AA97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BF4EAA-5133-30AC-5803-50C355BB963D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pic>
        <p:nvPicPr>
          <p:cNvPr id="15" name="Picture 14" descr="A computer monitor with a white screen&#10;&#10;Description automatically generated">
            <a:extLst>
              <a:ext uri="{FF2B5EF4-FFF2-40B4-BE49-F238E27FC236}">
                <a16:creationId xmlns:a16="http://schemas.microsoft.com/office/drawing/2014/main" id="{CE4FFBE3-1737-6032-672F-ADADE2F8E4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1" b="17818"/>
          <a:stretch>
            <a:fillRect/>
          </a:stretch>
        </p:blipFill>
        <p:spPr>
          <a:xfrm>
            <a:off x="5388960" y="1507379"/>
            <a:ext cx="4037410" cy="1996068"/>
          </a:xfrm>
          <a:prstGeom prst="rect">
            <a:avLst/>
          </a:prstGeom>
        </p:spPr>
      </p:pic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C9C1D63-E6E1-53C4-8B46-5D221C86D74B}"/>
              </a:ext>
            </a:extLst>
          </p:cNvPr>
          <p:cNvSpPr/>
          <p:nvPr/>
        </p:nvSpPr>
        <p:spPr>
          <a:xfrm>
            <a:off x="3820886" y="4027715"/>
            <a:ext cx="7511143" cy="24590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215D04-A5F4-3C59-B60A-DAD36DE231A0}"/>
              </a:ext>
            </a:extLst>
          </p:cNvPr>
          <p:cNvSpPr txBox="1"/>
          <p:nvPr/>
        </p:nvSpPr>
        <p:spPr>
          <a:xfrm>
            <a:off x="6096000" y="4473458"/>
            <a:ext cx="50340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Elaborer un modèle de </a:t>
            </a:r>
            <a:r>
              <a:rPr lang="fr-FR" dirty="0" err="1"/>
              <a:t>scoring</a:t>
            </a:r>
            <a:r>
              <a:rPr lang="fr-FR" dirty="0"/>
              <a:t> pour prédire la probabilité de remboursement d’un client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dirty="0"/>
              <a:t>Développer un </a:t>
            </a:r>
            <a:r>
              <a:rPr lang="fr-FR" dirty="0" err="1"/>
              <a:t>dashboard</a:t>
            </a:r>
            <a:r>
              <a:rPr lang="fr-FR" dirty="0"/>
              <a:t> pour les gestionnaires de crédit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Industrialiser le modèle de </a:t>
            </a:r>
            <a:r>
              <a:rPr lang="fr-FR" dirty="0" err="1"/>
              <a:t>scoring</a:t>
            </a:r>
            <a:r>
              <a:rPr lang="fr-FR" dirty="0"/>
              <a:t> via une API REST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D14F3C-1AD9-DDC4-542F-B744CAEE8E6F}"/>
              </a:ext>
            </a:extLst>
          </p:cNvPr>
          <p:cNvSpPr txBox="1"/>
          <p:nvPr/>
        </p:nvSpPr>
        <p:spPr>
          <a:xfrm>
            <a:off x="6940866" y="4065921"/>
            <a:ext cx="1317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accent3">
                    <a:lumMod val="75000"/>
                  </a:schemeClr>
                </a:solidFill>
              </a:rPr>
              <a:t>OBJECTIFS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97E016-5347-1450-F1DC-1A0890E09898}"/>
              </a:ext>
            </a:extLst>
          </p:cNvPr>
          <p:cNvSpPr txBox="1"/>
          <p:nvPr/>
        </p:nvSpPr>
        <p:spPr>
          <a:xfrm>
            <a:off x="370346" y="1416035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Classification supervisée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64809CEB-8171-5A24-B555-0D8077F0D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6" r="7006"/>
          <a:stretch/>
        </p:blipFill>
        <p:spPr bwMode="auto">
          <a:xfrm>
            <a:off x="6096000" y="1707545"/>
            <a:ext cx="2606648" cy="1210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540722B5-0D91-0F34-5F97-7FA00F870748}"/>
              </a:ext>
            </a:extLst>
          </p:cNvPr>
          <p:cNvSpPr/>
          <p:nvPr/>
        </p:nvSpPr>
        <p:spPr>
          <a:xfrm>
            <a:off x="9426370" y="1757133"/>
            <a:ext cx="2140790" cy="1100178"/>
          </a:xfrm>
          <a:prstGeom prst="wedgeRoundRectCallout">
            <a:avLst>
              <a:gd name="adj1" fmla="val -108674"/>
              <a:gd name="adj2" fmla="val 224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A6D3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46ED6E-1EAA-F37E-87C5-2CC342B3A0C0}"/>
              </a:ext>
            </a:extLst>
          </p:cNvPr>
          <p:cNvSpPr txBox="1"/>
          <p:nvPr/>
        </p:nvSpPr>
        <p:spPr>
          <a:xfrm>
            <a:off x="9426370" y="1897047"/>
            <a:ext cx="2124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Fairwater Script" panose="02000507000000020003" pitchFamily="2" charset="0"/>
              </a:rPr>
              <a:t>Société financière qui propose des crédits à la consommation</a:t>
            </a:r>
          </a:p>
        </p:txBody>
      </p:sp>
      <p:pic>
        <p:nvPicPr>
          <p:cNvPr id="7" name="Picture 6" descr="A machine with a dollar sign and a paper and check mark&#10;&#10;AI-generated content may be incorrect.">
            <a:extLst>
              <a:ext uri="{FF2B5EF4-FFF2-40B4-BE49-F238E27FC236}">
                <a16:creationId xmlns:a16="http://schemas.microsoft.com/office/drawing/2014/main" id="{F3C20D79-5A82-8526-CA7A-F481E1A08F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33" b="18430"/>
          <a:stretch>
            <a:fillRect/>
          </a:stretch>
        </p:blipFill>
        <p:spPr>
          <a:xfrm>
            <a:off x="4112366" y="4478820"/>
            <a:ext cx="1874776" cy="119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67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FE9A6DCB-EFBB-BBA0-BC91-93C1431D0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FE26618-69FF-798D-40CC-7D4938B1F390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1BA564-41DF-DC20-63FE-92B637698473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E79486-A61F-CE5E-8FC1-C4EFE857459C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E960B1-1775-BF36-B910-AE81294E7FCF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91D10916-BBEC-6C2D-37D2-0DFEA15346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CD78D55-FADE-66B0-B586-B0D1D222E7E8}"/>
              </a:ext>
            </a:extLst>
          </p:cNvPr>
          <p:cNvSpPr txBox="1"/>
          <p:nvPr/>
        </p:nvSpPr>
        <p:spPr>
          <a:xfrm>
            <a:off x="370346" y="-129738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Classification supervisée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0FF7EF1F-CA25-214A-7965-50EA26C13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075" y="1362740"/>
            <a:ext cx="6511849" cy="41325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0E0A13-2C29-AD69-46DD-3F5CE637CB93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E863C8-CD22-FEBD-0AD6-874E35D16F05}"/>
              </a:ext>
            </a:extLst>
          </p:cNvPr>
          <p:cNvSpPr txBox="1"/>
          <p:nvPr/>
        </p:nvSpPr>
        <p:spPr>
          <a:xfrm>
            <a:off x="9600581" y="1743958"/>
            <a:ext cx="240488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Composition du </a:t>
            </a:r>
            <a:r>
              <a:rPr lang="fr-FR" sz="1400" b="1" dirty="0" err="1"/>
              <a:t>dataset</a:t>
            </a:r>
            <a:endParaRPr lang="fr-F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8 fichiers principaux (application, bureau, </a:t>
            </a:r>
            <a:r>
              <a:rPr lang="fr-FR" sz="1400" dirty="0" err="1"/>
              <a:t>previous_application</a:t>
            </a:r>
            <a:r>
              <a:rPr lang="fr-FR" sz="1400" dirty="0"/>
              <a:t>, POS, </a:t>
            </a:r>
            <a:r>
              <a:rPr lang="fr-FR" sz="1400" dirty="0" err="1"/>
              <a:t>installments</a:t>
            </a:r>
            <a:r>
              <a:rPr lang="fr-FR" sz="1400" dirty="0"/>
              <a:t>, </a:t>
            </a:r>
            <a:r>
              <a:rPr lang="fr-FR" sz="1400" dirty="0" err="1"/>
              <a:t>credit_card</a:t>
            </a:r>
            <a:r>
              <a:rPr lang="fr-FR" sz="1400" dirty="0"/>
              <a:t>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356 000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120 colonnes dans la table principale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4 millions de lignes cumulées sur les tables secondaires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Variable cible : </a:t>
            </a:r>
            <a:r>
              <a:rPr lang="fr-FR" sz="1400" b="1" dirty="0"/>
              <a:t>TARGET</a:t>
            </a:r>
            <a:r>
              <a:rPr lang="fr-FR" sz="1400" dirty="0"/>
              <a:t> (0 = remboursé, 1 = défaut)</a:t>
            </a:r>
          </a:p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470952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C3ECF2ED-C100-EA13-0A8B-0D56C7A71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D574D25-59D5-2CA7-5563-691AC2D42F52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3DBE2D-EC2E-4E63-30AD-0F4ABEAD92DB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187DC7-F829-3EBA-8509-4F66905D625E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511879-74EC-BC78-8446-58A1C569E612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271B983E-D642-64F6-1C86-E21F5B8267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D23B566-48AD-D971-1E04-78AD8BF878F4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fr-FR" sz="2000" dirty="0">
                <a:latin typeface="DM Serif Text" pitchFamily="2" charset="0"/>
              </a:rPr>
              <a:t>Variable cible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1C00D4-8D84-5DED-D568-82BB56C1A6F5}"/>
              </a:ext>
            </a:extLst>
          </p:cNvPr>
          <p:cNvSpPr txBox="1"/>
          <p:nvPr/>
        </p:nvSpPr>
        <p:spPr>
          <a:xfrm>
            <a:off x="370346" y="-181049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Classification supervisée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98B431A-BAAC-7830-8AC3-CF3E71D010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2766" y="-3767597"/>
            <a:ext cx="647207" cy="6472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4AE0CD4-A20E-F8B9-9D12-6CF26300A08B}"/>
              </a:ext>
            </a:extLst>
          </p:cNvPr>
          <p:cNvSpPr txBox="1"/>
          <p:nvPr/>
        </p:nvSpPr>
        <p:spPr>
          <a:xfrm>
            <a:off x="9724606" y="-3628660"/>
            <a:ext cx="199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images </a:t>
            </a:r>
          </a:p>
        </p:txBody>
      </p:sp>
      <p:pic>
        <p:nvPicPr>
          <p:cNvPr id="23" name="Picture 22" descr="A pink leather case with a keyboard&#10;&#10;AI-generated content may be incorrect.">
            <a:extLst>
              <a:ext uri="{FF2B5EF4-FFF2-40B4-BE49-F238E27FC236}">
                <a16:creationId xmlns:a16="http://schemas.microsoft.com/office/drawing/2014/main" id="{14643F3A-9D29-9F65-E6E1-83E106E502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77" y="-5342027"/>
            <a:ext cx="690815" cy="789913"/>
          </a:xfrm>
          <a:prstGeom prst="rect">
            <a:avLst/>
          </a:prstGeom>
        </p:spPr>
      </p:pic>
      <p:pic>
        <p:nvPicPr>
          <p:cNvPr id="25" name="Picture 24" descr="A tube of face wash next to a jar of cream&#10;&#10;AI-generated content may be incorrect.">
            <a:extLst>
              <a:ext uri="{FF2B5EF4-FFF2-40B4-BE49-F238E27FC236}">
                <a16:creationId xmlns:a16="http://schemas.microsoft.com/office/drawing/2014/main" id="{50F0E85A-217A-0ECA-E8C9-9FD94495B3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22" y="-5264212"/>
            <a:ext cx="769835" cy="872110"/>
          </a:xfrm>
          <a:prstGeom prst="rect">
            <a:avLst/>
          </a:prstGeom>
        </p:spPr>
      </p:pic>
      <p:pic>
        <p:nvPicPr>
          <p:cNvPr id="26" name="Picture 25" descr="A group of light bulbs&#10;&#10;AI-generated content may be incorrect.">
            <a:extLst>
              <a:ext uri="{FF2B5EF4-FFF2-40B4-BE49-F238E27FC236}">
                <a16:creationId xmlns:a16="http://schemas.microsoft.com/office/drawing/2014/main" id="{57BAE5A0-CC0D-CE7C-09B7-DB4E41C6B8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53" y="-4874167"/>
            <a:ext cx="843313" cy="867408"/>
          </a:xfrm>
          <a:prstGeom prst="rect">
            <a:avLst/>
          </a:prstGeom>
        </p:spPr>
      </p:pic>
      <p:pic>
        <p:nvPicPr>
          <p:cNvPr id="27" name="Picture 26" descr="A close up of a watch&#10;&#10;AI-generated content may be incorrect.">
            <a:extLst>
              <a:ext uri="{FF2B5EF4-FFF2-40B4-BE49-F238E27FC236}">
                <a16:creationId xmlns:a16="http://schemas.microsoft.com/office/drawing/2014/main" id="{E67E9B1A-95CD-94BD-B5DF-6120419149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77" y="-1562541"/>
            <a:ext cx="769834" cy="867408"/>
          </a:xfrm>
          <a:prstGeom prst="rect">
            <a:avLst/>
          </a:prstGeom>
        </p:spPr>
      </p:pic>
      <p:pic>
        <p:nvPicPr>
          <p:cNvPr id="28" name="Picture 27" descr="A red pan with a lid&#10;&#10;AI-generated content may be incorrect.">
            <a:extLst>
              <a:ext uri="{FF2B5EF4-FFF2-40B4-BE49-F238E27FC236}">
                <a16:creationId xmlns:a16="http://schemas.microsoft.com/office/drawing/2014/main" id="{6F1FA7B0-A7E6-7173-49AC-880890917B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05" y="-1991822"/>
            <a:ext cx="945111" cy="429281"/>
          </a:xfrm>
          <a:prstGeom prst="rect">
            <a:avLst/>
          </a:prstGeom>
        </p:spPr>
      </p:pic>
      <p:pic>
        <p:nvPicPr>
          <p:cNvPr id="29" name="Picture 28" descr="A red coffee mug with a picture of people in a car&#10;&#10;AI-generated content may be incorrect.">
            <a:extLst>
              <a:ext uri="{FF2B5EF4-FFF2-40B4-BE49-F238E27FC236}">
                <a16:creationId xmlns:a16="http://schemas.microsoft.com/office/drawing/2014/main" id="{D283BE67-4434-E99D-60F2-1E642327A3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15" y="-1713056"/>
            <a:ext cx="818415" cy="767078"/>
          </a:xfrm>
          <a:prstGeom prst="rect">
            <a:avLst/>
          </a:prstGeom>
        </p:spPr>
      </p:pic>
      <p:pic>
        <p:nvPicPr>
          <p:cNvPr id="30" name="Picture 29" descr="A close-up of a jewelry box&#10;&#10;AI-generated content may be incorrect.">
            <a:extLst>
              <a:ext uri="{FF2B5EF4-FFF2-40B4-BE49-F238E27FC236}">
                <a16:creationId xmlns:a16="http://schemas.microsoft.com/office/drawing/2014/main" id="{88688283-8D22-75DE-3660-F84BC53FA7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77" y="-4188591"/>
            <a:ext cx="991944" cy="787243"/>
          </a:xfrm>
          <a:prstGeom prst="rect">
            <a:avLst/>
          </a:prstGeom>
        </p:spPr>
      </p:pic>
      <p:pic>
        <p:nvPicPr>
          <p:cNvPr id="31" name="Picture 30" descr="A black curtains in a room&#10;&#10;AI-generated content may be incorrect.">
            <a:extLst>
              <a:ext uri="{FF2B5EF4-FFF2-40B4-BE49-F238E27FC236}">
                <a16:creationId xmlns:a16="http://schemas.microsoft.com/office/drawing/2014/main" id="{EDBF51D5-E84B-C058-FCF1-07C36F36B61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29" y="-4782380"/>
            <a:ext cx="789542" cy="892919"/>
          </a:xfrm>
          <a:prstGeom prst="rect">
            <a:avLst/>
          </a:prstGeom>
        </p:spPr>
      </p:pic>
      <p:pic>
        <p:nvPicPr>
          <p:cNvPr id="32" name="Picture 31" descr="Several different colored baby clothes&#10;&#10;AI-generated content may be incorrect.">
            <a:extLst>
              <a:ext uri="{FF2B5EF4-FFF2-40B4-BE49-F238E27FC236}">
                <a16:creationId xmlns:a16="http://schemas.microsoft.com/office/drawing/2014/main" id="{D5A72777-6734-5C2E-D846-F4B0B77088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4" y="-4132085"/>
            <a:ext cx="683229" cy="742693"/>
          </a:xfrm>
          <a:prstGeom prst="rect">
            <a:avLst/>
          </a:prstGeom>
        </p:spPr>
      </p:pic>
      <p:pic>
        <p:nvPicPr>
          <p:cNvPr id="33" name="Picture 32" descr="A brown and gold chest of drawers&#10;&#10;AI-generated content may be incorrect.">
            <a:extLst>
              <a:ext uri="{FF2B5EF4-FFF2-40B4-BE49-F238E27FC236}">
                <a16:creationId xmlns:a16="http://schemas.microsoft.com/office/drawing/2014/main" id="{CE1648A5-1222-81CC-C8FF-3712252ECFF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25" y="-2869358"/>
            <a:ext cx="704386" cy="777726"/>
          </a:xfrm>
          <a:prstGeom prst="rect">
            <a:avLst/>
          </a:prstGeom>
        </p:spPr>
      </p:pic>
      <p:pic>
        <p:nvPicPr>
          <p:cNvPr id="34" name="Picture 33" descr="A white hat with a pink trim&#10;&#10;AI-generated content may be incorrect.">
            <a:extLst>
              <a:ext uri="{FF2B5EF4-FFF2-40B4-BE49-F238E27FC236}">
                <a16:creationId xmlns:a16="http://schemas.microsoft.com/office/drawing/2014/main" id="{6477BAD5-DAB1-9E72-A00F-5C4E7C56CFB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332" y="-2316632"/>
            <a:ext cx="1127631" cy="450000"/>
          </a:xfrm>
          <a:prstGeom prst="rect">
            <a:avLst/>
          </a:prstGeom>
        </p:spPr>
      </p:pic>
      <p:pic>
        <p:nvPicPr>
          <p:cNvPr id="35" name="Picture 34" descr="A group of black and yellow spray cans&#10;&#10;AI-generated content may be incorrect.">
            <a:extLst>
              <a:ext uri="{FF2B5EF4-FFF2-40B4-BE49-F238E27FC236}">
                <a16:creationId xmlns:a16="http://schemas.microsoft.com/office/drawing/2014/main" id="{599A6899-AD6D-9FF7-FBC5-D67CE3DFA6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91" y="-3531182"/>
            <a:ext cx="811141" cy="937243"/>
          </a:xfrm>
          <a:prstGeom prst="rect">
            <a:avLst/>
          </a:prstGeom>
        </p:spPr>
      </p:pic>
      <p:pic>
        <p:nvPicPr>
          <p:cNvPr id="36" name="Picture 35" descr="A statue of a cow and calf&#10;&#10;AI-generated content may be incorrect.">
            <a:extLst>
              <a:ext uri="{FF2B5EF4-FFF2-40B4-BE49-F238E27FC236}">
                <a16:creationId xmlns:a16="http://schemas.microsoft.com/office/drawing/2014/main" id="{1C544484-53E5-9053-29C8-2385C5CC9C3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881" y="-3205889"/>
            <a:ext cx="986559" cy="841266"/>
          </a:xfrm>
          <a:prstGeom prst="rect">
            <a:avLst/>
          </a:prstGeom>
        </p:spPr>
      </p:pic>
      <p:pic>
        <p:nvPicPr>
          <p:cNvPr id="37" name="Picture 36" descr="A yellow baby bib with a duck face&#10;&#10;AI-generated content may be incorrect.">
            <a:extLst>
              <a:ext uri="{FF2B5EF4-FFF2-40B4-BE49-F238E27FC236}">
                <a16:creationId xmlns:a16="http://schemas.microsoft.com/office/drawing/2014/main" id="{A6D68C64-D6E7-7A20-6786-4314A263585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22" y="-1755985"/>
            <a:ext cx="614696" cy="7899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0B2CC63-1BAE-9054-3156-F32BC855520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7399" y="-2906359"/>
            <a:ext cx="647207" cy="64720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99299C9-09C5-BF4D-A41B-B31B6B0EBFFE}"/>
              </a:ext>
            </a:extLst>
          </p:cNvPr>
          <p:cNvSpPr txBox="1"/>
          <p:nvPr/>
        </p:nvSpPr>
        <p:spPr>
          <a:xfrm>
            <a:off x="9788287" y="-2906359"/>
            <a:ext cx="158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lignes</a:t>
            </a:r>
          </a:p>
          <a:p>
            <a:r>
              <a:rPr lang="fr-FR" dirty="0"/>
              <a:t>15 colonnes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DBB06C-BFB5-0A77-ED89-1AF8C1FD04F5}"/>
              </a:ext>
            </a:extLst>
          </p:cNvPr>
          <p:cNvSpPr txBox="1"/>
          <p:nvPr/>
        </p:nvSpPr>
        <p:spPr>
          <a:xfrm>
            <a:off x="9325680" y="-1779850"/>
            <a:ext cx="24932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Nom produit, prix, catégorie, description, marque…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Taux de remplissage : 97.83%</a:t>
            </a:r>
          </a:p>
          <a:p>
            <a:pPr algn="ctr"/>
            <a:r>
              <a:rPr lang="fr-FR" sz="1400" dirty="0"/>
              <a:t>Aucun doublon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021F435-5C26-D6BD-BD18-B629D7776C7F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10572304" y="-2260028"/>
            <a:ext cx="7011" cy="48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A0E80D-B02C-2B8A-8B12-7F6698B4879C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00DDBE0-EC5A-BC21-A383-A457C000E57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2"/>
          <a:stretch>
            <a:fillRect/>
          </a:stretch>
        </p:blipFill>
        <p:spPr>
          <a:xfrm>
            <a:off x="3087411" y="2511364"/>
            <a:ext cx="4315913" cy="2095565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5FAAD4E-36BE-DD71-5163-FC30A3E577C5}"/>
              </a:ext>
            </a:extLst>
          </p:cNvPr>
          <p:cNvSpPr/>
          <p:nvPr/>
        </p:nvSpPr>
        <p:spPr>
          <a:xfrm>
            <a:off x="7889037" y="1802960"/>
            <a:ext cx="3929890" cy="370229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820370-B183-A632-F528-944BF137F1C0}"/>
              </a:ext>
            </a:extLst>
          </p:cNvPr>
          <p:cNvSpPr txBox="1"/>
          <p:nvPr/>
        </p:nvSpPr>
        <p:spPr>
          <a:xfrm>
            <a:off x="7942149" y="2105703"/>
            <a:ext cx="387677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TARGET : variable cible</a:t>
            </a:r>
          </a:p>
          <a:p>
            <a:pPr algn="ctr"/>
            <a:endParaRPr lang="fr-FR" sz="1400" b="1" dirty="0"/>
          </a:p>
          <a:p>
            <a:pPr marL="285750" indent="-285750" algn="just">
              <a:buFontTx/>
              <a:buChar char="-"/>
            </a:pPr>
            <a:r>
              <a:rPr lang="fr-FR" sz="1400" dirty="0"/>
              <a:t>Classe 0 : prêts remboursés à temps</a:t>
            </a:r>
          </a:p>
          <a:p>
            <a:pPr marL="285750" indent="-285750" algn="just">
              <a:buFontTx/>
              <a:buChar char="-"/>
            </a:pPr>
            <a:r>
              <a:rPr lang="fr-FR" sz="1400" dirty="0"/>
              <a:t>Classe 1 : prêts pas remboursés</a:t>
            </a:r>
          </a:p>
          <a:p>
            <a:pPr marL="285750" indent="-285750" algn="just">
              <a:buFontTx/>
              <a:buChar char="-"/>
            </a:pPr>
            <a:endParaRPr lang="fr-FR" sz="1400" dirty="0"/>
          </a:p>
          <a:p>
            <a:pPr algn="just"/>
            <a:r>
              <a:rPr lang="fr-FR" sz="1400" dirty="0"/>
              <a:t>92 % des clients remboursent vs seulement 8 % qui font défaut → déséquilibre important des classes dans notre </a:t>
            </a:r>
            <a:r>
              <a:rPr lang="fr-FR" sz="1400" dirty="0" err="1"/>
              <a:t>dataset</a:t>
            </a:r>
            <a:endParaRPr lang="fr-FR" sz="1400" dirty="0"/>
          </a:p>
          <a:p>
            <a:pPr algn="just"/>
            <a:endParaRPr lang="fr-FR" sz="1400" dirty="0"/>
          </a:p>
          <a:p>
            <a:pPr algn="just"/>
            <a:r>
              <a:rPr lang="fr-FR" sz="1400" dirty="0"/>
              <a:t>Ce déséquilibre implique des méthodes adaptées lors du </a:t>
            </a:r>
            <a:r>
              <a:rPr lang="fr-FR" sz="1400" dirty="0" err="1"/>
              <a:t>modelling</a:t>
            </a:r>
            <a:r>
              <a:rPr lang="fr-FR" sz="1400" dirty="0"/>
              <a:t>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400" dirty="0"/>
              <a:t>Pondérations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400" dirty="0"/>
              <a:t>optimisation de seuils de décision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400" dirty="0"/>
              <a:t>méthodes anti-</a:t>
            </a:r>
            <a:r>
              <a:rPr lang="fr-FR" sz="1400" dirty="0" err="1"/>
              <a:t>overfitting</a:t>
            </a:r>
            <a:endParaRPr lang="fr-FR" sz="1400" dirty="0"/>
          </a:p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89014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5C27548B-86BD-44B8-E2C5-80646192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65C654D-E988-EB4C-0BB1-58F40CBFC6A1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5C8BEA-9819-99A1-929E-5F980E6B4642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8BDD9F-E4AE-2DBC-5B0C-086A9FEEB85C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A36348-2D64-AFA0-C0B3-4E2B4E1FC26F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4A7C04BC-9F36-261D-B38F-E24FDAC8EA7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A1F8FB8-1509-23FD-16F0-D6086F3E29E7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+mj-lt"/>
              <a:buAutoNum type="arabicPeriod" startAt="2"/>
            </a:pPr>
            <a:r>
              <a:rPr lang="fr-FR" sz="2000" dirty="0">
                <a:latin typeface="DM Serif Text" pitchFamily="2" charset="0"/>
              </a:rPr>
              <a:t>Age &amp; Sexe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416756-38EF-9BED-E649-270219C6F62C}"/>
              </a:ext>
            </a:extLst>
          </p:cNvPr>
          <p:cNvSpPr txBox="1"/>
          <p:nvPr/>
        </p:nvSpPr>
        <p:spPr>
          <a:xfrm>
            <a:off x="370346" y="-181049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Classification supervisée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2D49BC4-674D-BECE-0CB6-5C13C9E5FC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2766" y="-3767597"/>
            <a:ext cx="647207" cy="6472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5166795-F1A4-A9D0-A490-5758530176CD}"/>
              </a:ext>
            </a:extLst>
          </p:cNvPr>
          <p:cNvSpPr txBox="1"/>
          <p:nvPr/>
        </p:nvSpPr>
        <p:spPr>
          <a:xfrm>
            <a:off x="9724606" y="-3628660"/>
            <a:ext cx="199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images </a:t>
            </a:r>
          </a:p>
        </p:txBody>
      </p:sp>
      <p:pic>
        <p:nvPicPr>
          <p:cNvPr id="23" name="Picture 22" descr="A pink leather case with a keyboard&#10;&#10;AI-generated content may be incorrect.">
            <a:extLst>
              <a:ext uri="{FF2B5EF4-FFF2-40B4-BE49-F238E27FC236}">
                <a16:creationId xmlns:a16="http://schemas.microsoft.com/office/drawing/2014/main" id="{E40259CF-8185-C768-EFE2-46DBF4D217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77" y="-5342027"/>
            <a:ext cx="690815" cy="789913"/>
          </a:xfrm>
          <a:prstGeom prst="rect">
            <a:avLst/>
          </a:prstGeom>
        </p:spPr>
      </p:pic>
      <p:pic>
        <p:nvPicPr>
          <p:cNvPr id="25" name="Picture 24" descr="A tube of face wash next to a jar of cream&#10;&#10;AI-generated content may be incorrect.">
            <a:extLst>
              <a:ext uri="{FF2B5EF4-FFF2-40B4-BE49-F238E27FC236}">
                <a16:creationId xmlns:a16="http://schemas.microsoft.com/office/drawing/2014/main" id="{1B84495C-3184-D4CF-5077-F25107476F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22" y="-5264212"/>
            <a:ext cx="769835" cy="872110"/>
          </a:xfrm>
          <a:prstGeom prst="rect">
            <a:avLst/>
          </a:prstGeom>
        </p:spPr>
      </p:pic>
      <p:pic>
        <p:nvPicPr>
          <p:cNvPr id="26" name="Picture 25" descr="A group of light bulbs&#10;&#10;AI-generated content may be incorrect.">
            <a:extLst>
              <a:ext uri="{FF2B5EF4-FFF2-40B4-BE49-F238E27FC236}">
                <a16:creationId xmlns:a16="http://schemas.microsoft.com/office/drawing/2014/main" id="{E55CB0A0-498E-3775-A552-A373B48B7F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53" y="-4874167"/>
            <a:ext cx="843313" cy="867408"/>
          </a:xfrm>
          <a:prstGeom prst="rect">
            <a:avLst/>
          </a:prstGeom>
        </p:spPr>
      </p:pic>
      <p:pic>
        <p:nvPicPr>
          <p:cNvPr id="27" name="Picture 26" descr="A close up of a watch&#10;&#10;AI-generated content may be incorrect.">
            <a:extLst>
              <a:ext uri="{FF2B5EF4-FFF2-40B4-BE49-F238E27FC236}">
                <a16:creationId xmlns:a16="http://schemas.microsoft.com/office/drawing/2014/main" id="{767F979D-E150-A3CA-30C1-A36218F7C2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77" y="-1562541"/>
            <a:ext cx="769834" cy="867408"/>
          </a:xfrm>
          <a:prstGeom prst="rect">
            <a:avLst/>
          </a:prstGeom>
        </p:spPr>
      </p:pic>
      <p:pic>
        <p:nvPicPr>
          <p:cNvPr id="28" name="Picture 27" descr="A red pan with a lid&#10;&#10;AI-generated content may be incorrect.">
            <a:extLst>
              <a:ext uri="{FF2B5EF4-FFF2-40B4-BE49-F238E27FC236}">
                <a16:creationId xmlns:a16="http://schemas.microsoft.com/office/drawing/2014/main" id="{C7FE7468-C5B4-B580-C72C-22B232E8F9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05" y="-1991822"/>
            <a:ext cx="945111" cy="429281"/>
          </a:xfrm>
          <a:prstGeom prst="rect">
            <a:avLst/>
          </a:prstGeom>
        </p:spPr>
      </p:pic>
      <p:pic>
        <p:nvPicPr>
          <p:cNvPr id="29" name="Picture 28" descr="A red coffee mug with a picture of people in a car&#10;&#10;AI-generated content may be incorrect.">
            <a:extLst>
              <a:ext uri="{FF2B5EF4-FFF2-40B4-BE49-F238E27FC236}">
                <a16:creationId xmlns:a16="http://schemas.microsoft.com/office/drawing/2014/main" id="{3DA8EA3C-FA6E-656F-DF58-3639F32CA25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15" y="-1713056"/>
            <a:ext cx="818415" cy="767078"/>
          </a:xfrm>
          <a:prstGeom prst="rect">
            <a:avLst/>
          </a:prstGeom>
        </p:spPr>
      </p:pic>
      <p:pic>
        <p:nvPicPr>
          <p:cNvPr id="30" name="Picture 29" descr="A close-up of a jewelry box&#10;&#10;AI-generated content may be incorrect.">
            <a:extLst>
              <a:ext uri="{FF2B5EF4-FFF2-40B4-BE49-F238E27FC236}">
                <a16:creationId xmlns:a16="http://schemas.microsoft.com/office/drawing/2014/main" id="{9BCDA19A-5C83-8BBB-1AC6-62E64C8CD9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77" y="-4188591"/>
            <a:ext cx="991944" cy="787243"/>
          </a:xfrm>
          <a:prstGeom prst="rect">
            <a:avLst/>
          </a:prstGeom>
        </p:spPr>
      </p:pic>
      <p:pic>
        <p:nvPicPr>
          <p:cNvPr id="31" name="Picture 30" descr="A black curtains in a room&#10;&#10;AI-generated content may be incorrect.">
            <a:extLst>
              <a:ext uri="{FF2B5EF4-FFF2-40B4-BE49-F238E27FC236}">
                <a16:creationId xmlns:a16="http://schemas.microsoft.com/office/drawing/2014/main" id="{B1190410-5F75-B9C5-4DDC-2BEEBB2857D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29" y="-4782380"/>
            <a:ext cx="789542" cy="892919"/>
          </a:xfrm>
          <a:prstGeom prst="rect">
            <a:avLst/>
          </a:prstGeom>
        </p:spPr>
      </p:pic>
      <p:pic>
        <p:nvPicPr>
          <p:cNvPr id="32" name="Picture 31" descr="Several different colored baby clothes&#10;&#10;AI-generated content may be incorrect.">
            <a:extLst>
              <a:ext uri="{FF2B5EF4-FFF2-40B4-BE49-F238E27FC236}">
                <a16:creationId xmlns:a16="http://schemas.microsoft.com/office/drawing/2014/main" id="{84E9A4F4-CAB3-7C03-EE5D-DA2030BFFA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4" y="-4132085"/>
            <a:ext cx="683229" cy="742693"/>
          </a:xfrm>
          <a:prstGeom prst="rect">
            <a:avLst/>
          </a:prstGeom>
        </p:spPr>
      </p:pic>
      <p:pic>
        <p:nvPicPr>
          <p:cNvPr id="33" name="Picture 32" descr="A brown and gold chest of drawers&#10;&#10;AI-generated content may be incorrect.">
            <a:extLst>
              <a:ext uri="{FF2B5EF4-FFF2-40B4-BE49-F238E27FC236}">
                <a16:creationId xmlns:a16="http://schemas.microsoft.com/office/drawing/2014/main" id="{04ED9393-D9C8-5ED6-904D-AE605F9A424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25" y="-2869358"/>
            <a:ext cx="704386" cy="777726"/>
          </a:xfrm>
          <a:prstGeom prst="rect">
            <a:avLst/>
          </a:prstGeom>
        </p:spPr>
      </p:pic>
      <p:pic>
        <p:nvPicPr>
          <p:cNvPr id="34" name="Picture 33" descr="A white hat with a pink trim&#10;&#10;AI-generated content may be incorrect.">
            <a:extLst>
              <a:ext uri="{FF2B5EF4-FFF2-40B4-BE49-F238E27FC236}">
                <a16:creationId xmlns:a16="http://schemas.microsoft.com/office/drawing/2014/main" id="{5944DA93-6124-3081-3967-B1BCB06DE2F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332" y="-2316632"/>
            <a:ext cx="1127631" cy="450000"/>
          </a:xfrm>
          <a:prstGeom prst="rect">
            <a:avLst/>
          </a:prstGeom>
        </p:spPr>
      </p:pic>
      <p:pic>
        <p:nvPicPr>
          <p:cNvPr id="35" name="Picture 34" descr="A group of black and yellow spray cans&#10;&#10;AI-generated content may be incorrect.">
            <a:extLst>
              <a:ext uri="{FF2B5EF4-FFF2-40B4-BE49-F238E27FC236}">
                <a16:creationId xmlns:a16="http://schemas.microsoft.com/office/drawing/2014/main" id="{AD46749E-9A93-A747-C217-63F47754F2B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91" y="-3531182"/>
            <a:ext cx="811141" cy="937243"/>
          </a:xfrm>
          <a:prstGeom prst="rect">
            <a:avLst/>
          </a:prstGeom>
        </p:spPr>
      </p:pic>
      <p:pic>
        <p:nvPicPr>
          <p:cNvPr id="36" name="Picture 35" descr="A statue of a cow and calf&#10;&#10;AI-generated content may be incorrect.">
            <a:extLst>
              <a:ext uri="{FF2B5EF4-FFF2-40B4-BE49-F238E27FC236}">
                <a16:creationId xmlns:a16="http://schemas.microsoft.com/office/drawing/2014/main" id="{FD2B9129-94E6-6C26-662A-0EC3803C409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881" y="-3205889"/>
            <a:ext cx="986559" cy="841266"/>
          </a:xfrm>
          <a:prstGeom prst="rect">
            <a:avLst/>
          </a:prstGeom>
        </p:spPr>
      </p:pic>
      <p:pic>
        <p:nvPicPr>
          <p:cNvPr id="37" name="Picture 36" descr="A yellow baby bib with a duck face&#10;&#10;AI-generated content may be incorrect.">
            <a:extLst>
              <a:ext uri="{FF2B5EF4-FFF2-40B4-BE49-F238E27FC236}">
                <a16:creationId xmlns:a16="http://schemas.microsoft.com/office/drawing/2014/main" id="{F3870517-D890-566E-BAC4-C57990698D9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22" y="-1755985"/>
            <a:ext cx="614696" cy="7899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47F3F88-B2DA-694A-1D25-9D67BAD9317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7399" y="-2906359"/>
            <a:ext cx="647207" cy="64720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D6FDEAD-9FFF-0C6C-2CF7-0D46322C99CF}"/>
              </a:ext>
            </a:extLst>
          </p:cNvPr>
          <p:cNvSpPr txBox="1"/>
          <p:nvPr/>
        </p:nvSpPr>
        <p:spPr>
          <a:xfrm>
            <a:off x="9788287" y="-2906359"/>
            <a:ext cx="158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lignes</a:t>
            </a:r>
          </a:p>
          <a:p>
            <a:r>
              <a:rPr lang="fr-FR" dirty="0"/>
              <a:t>15 colonnes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560BDF-126F-58AB-546A-41546187D063}"/>
              </a:ext>
            </a:extLst>
          </p:cNvPr>
          <p:cNvSpPr txBox="1"/>
          <p:nvPr/>
        </p:nvSpPr>
        <p:spPr>
          <a:xfrm>
            <a:off x="9325680" y="-1779850"/>
            <a:ext cx="24932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Nom produit, prix, catégorie, description, marque…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Taux de remplissage : 97.83%</a:t>
            </a:r>
          </a:p>
          <a:p>
            <a:pPr algn="ctr"/>
            <a:r>
              <a:rPr lang="fr-FR" sz="1400" dirty="0"/>
              <a:t>Aucun doublon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437E70D-67CF-C7FD-2DBA-2E24E2597200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10572304" y="-2260028"/>
            <a:ext cx="7011" cy="48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4B83B79-D947-0978-6BF6-54B7D15980A3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6E0DE-D22B-9BEE-6B90-B15DF37C749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250" y="1946500"/>
            <a:ext cx="3533166" cy="35377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 descr="A graph with a number of squares&#10;&#10;AI-generated content may be incorrect.">
            <a:extLst>
              <a:ext uri="{FF2B5EF4-FFF2-40B4-BE49-F238E27FC236}">
                <a16:creationId xmlns:a16="http://schemas.microsoft.com/office/drawing/2014/main" id="{7ECAC7C3-8ECD-FAD4-1916-5870974932B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41330" y="2173691"/>
            <a:ext cx="3693196" cy="3013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48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A1D2ED2F-A608-B86D-403B-B6A7BCD51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4CA74A7-3E22-DB2A-9C06-70287635FE5C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B56C6F-DBE1-C0D8-5D38-5628364E5F19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29DA4-0941-0105-DDC8-88C7F6EBAF55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7FAA8-D16A-6C4D-D7FB-86D9A2C13BA8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50CCFF11-D60C-95D5-AC69-BE3E04943AA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29D2767-0913-C2B1-9D9D-F1F52619FACD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+mj-lt"/>
              <a:buAutoNum type="arabicPeriod" startAt="3"/>
            </a:pPr>
            <a:r>
              <a:rPr lang="fr-FR" sz="2000" dirty="0">
                <a:latin typeface="DM Serif Text" pitchFamily="2" charset="0"/>
              </a:rPr>
              <a:t>Métier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F419B4-440C-5C0A-3F91-F1B954A7D649}"/>
              </a:ext>
            </a:extLst>
          </p:cNvPr>
          <p:cNvSpPr txBox="1"/>
          <p:nvPr/>
        </p:nvSpPr>
        <p:spPr>
          <a:xfrm>
            <a:off x="370346" y="-181049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Classification supervisée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D67B689-3F29-3C6A-A751-5796B59B19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2766" y="-3767597"/>
            <a:ext cx="647207" cy="6472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0070DCB-B700-BF45-C9CA-84D0BFCED2E2}"/>
              </a:ext>
            </a:extLst>
          </p:cNvPr>
          <p:cNvSpPr txBox="1"/>
          <p:nvPr/>
        </p:nvSpPr>
        <p:spPr>
          <a:xfrm>
            <a:off x="9724606" y="-3628660"/>
            <a:ext cx="199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images </a:t>
            </a:r>
          </a:p>
        </p:txBody>
      </p:sp>
      <p:pic>
        <p:nvPicPr>
          <p:cNvPr id="23" name="Picture 22" descr="A pink leather case with a keyboard&#10;&#10;AI-generated content may be incorrect.">
            <a:extLst>
              <a:ext uri="{FF2B5EF4-FFF2-40B4-BE49-F238E27FC236}">
                <a16:creationId xmlns:a16="http://schemas.microsoft.com/office/drawing/2014/main" id="{BA01F1B4-14CE-A65B-A6B6-B1C8D4A3D1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77" y="-5342027"/>
            <a:ext cx="690815" cy="789913"/>
          </a:xfrm>
          <a:prstGeom prst="rect">
            <a:avLst/>
          </a:prstGeom>
        </p:spPr>
      </p:pic>
      <p:pic>
        <p:nvPicPr>
          <p:cNvPr id="25" name="Picture 24" descr="A tube of face wash next to a jar of cream&#10;&#10;AI-generated content may be incorrect.">
            <a:extLst>
              <a:ext uri="{FF2B5EF4-FFF2-40B4-BE49-F238E27FC236}">
                <a16:creationId xmlns:a16="http://schemas.microsoft.com/office/drawing/2014/main" id="{1E38E394-7009-A9EA-9284-844610926A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22" y="-5264212"/>
            <a:ext cx="769835" cy="872110"/>
          </a:xfrm>
          <a:prstGeom prst="rect">
            <a:avLst/>
          </a:prstGeom>
        </p:spPr>
      </p:pic>
      <p:pic>
        <p:nvPicPr>
          <p:cNvPr id="26" name="Picture 25" descr="A group of light bulbs&#10;&#10;AI-generated content may be incorrect.">
            <a:extLst>
              <a:ext uri="{FF2B5EF4-FFF2-40B4-BE49-F238E27FC236}">
                <a16:creationId xmlns:a16="http://schemas.microsoft.com/office/drawing/2014/main" id="{90157DB5-37B9-C4A4-5AD0-FC19E9D2CE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53" y="-4874167"/>
            <a:ext cx="843313" cy="867408"/>
          </a:xfrm>
          <a:prstGeom prst="rect">
            <a:avLst/>
          </a:prstGeom>
        </p:spPr>
      </p:pic>
      <p:pic>
        <p:nvPicPr>
          <p:cNvPr id="27" name="Picture 26" descr="A close up of a watch&#10;&#10;AI-generated content may be incorrect.">
            <a:extLst>
              <a:ext uri="{FF2B5EF4-FFF2-40B4-BE49-F238E27FC236}">
                <a16:creationId xmlns:a16="http://schemas.microsoft.com/office/drawing/2014/main" id="{2EF32641-6559-DD99-B9C0-113E2140EA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77" y="-1562541"/>
            <a:ext cx="769834" cy="867408"/>
          </a:xfrm>
          <a:prstGeom prst="rect">
            <a:avLst/>
          </a:prstGeom>
        </p:spPr>
      </p:pic>
      <p:pic>
        <p:nvPicPr>
          <p:cNvPr id="28" name="Picture 27" descr="A red pan with a lid&#10;&#10;AI-generated content may be incorrect.">
            <a:extLst>
              <a:ext uri="{FF2B5EF4-FFF2-40B4-BE49-F238E27FC236}">
                <a16:creationId xmlns:a16="http://schemas.microsoft.com/office/drawing/2014/main" id="{9F332142-86FE-9FCB-86D2-25EE7D9885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05" y="-1991822"/>
            <a:ext cx="945111" cy="429281"/>
          </a:xfrm>
          <a:prstGeom prst="rect">
            <a:avLst/>
          </a:prstGeom>
        </p:spPr>
      </p:pic>
      <p:pic>
        <p:nvPicPr>
          <p:cNvPr id="29" name="Picture 28" descr="A red coffee mug with a picture of people in a car&#10;&#10;AI-generated content may be incorrect.">
            <a:extLst>
              <a:ext uri="{FF2B5EF4-FFF2-40B4-BE49-F238E27FC236}">
                <a16:creationId xmlns:a16="http://schemas.microsoft.com/office/drawing/2014/main" id="{15F743EE-8B31-2AB0-A88A-2AA243BEFC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15" y="-1713056"/>
            <a:ext cx="818415" cy="767078"/>
          </a:xfrm>
          <a:prstGeom prst="rect">
            <a:avLst/>
          </a:prstGeom>
        </p:spPr>
      </p:pic>
      <p:pic>
        <p:nvPicPr>
          <p:cNvPr id="30" name="Picture 29" descr="A close-up of a jewelry box&#10;&#10;AI-generated content may be incorrect.">
            <a:extLst>
              <a:ext uri="{FF2B5EF4-FFF2-40B4-BE49-F238E27FC236}">
                <a16:creationId xmlns:a16="http://schemas.microsoft.com/office/drawing/2014/main" id="{FAAC7DA4-1D62-C5F9-EE1B-6BFF43C54B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77" y="-4188591"/>
            <a:ext cx="991944" cy="787243"/>
          </a:xfrm>
          <a:prstGeom prst="rect">
            <a:avLst/>
          </a:prstGeom>
        </p:spPr>
      </p:pic>
      <p:pic>
        <p:nvPicPr>
          <p:cNvPr id="31" name="Picture 30" descr="A black curtains in a room&#10;&#10;AI-generated content may be incorrect.">
            <a:extLst>
              <a:ext uri="{FF2B5EF4-FFF2-40B4-BE49-F238E27FC236}">
                <a16:creationId xmlns:a16="http://schemas.microsoft.com/office/drawing/2014/main" id="{B646DE0C-5342-601D-6FC7-E2E39D90771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29" y="-4782380"/>
            <a:ext cx="789542" cy="892919"/>
          </a:xfrm>
          <a:prstGeom prst="rect">
            <a:avLst/>
          </a:prstGeom>
        </p:spPr>
      </p:pic>
      <p:pic>
        <p:nvPicPr>
          <p:cNvPr id="32" name="Picture 31" descr="Several different colored baby clothes&#10;&#10;AI-generated content may be incorrect.">
            <a:extLst>
              <a:ext uri="{FF2B5EF4-FFF2-40B4-BE49-F238E27FC236}">
                <a16:creationId xmlns:a16="http://schemas.microsoft.com/office/drawing/2014/main" id="{308D3899-4152-6FCC-CAD8-A3CE8D795DF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4" y="-4132085"/>
            <a:ext cx="683229" cy="742693"/>
          </a:xfrm>
          <a:prstGeom prst="rect">
            <a:avLst/>
          </a:prstGeom>
        </p:spPr>
      </p:pic>
      <p:pic>
        <p:nvPicPr>
          <p:cNvPr id="33" name="Picture 32" descr="A brown and gold chest of drawers&#10;&#10;AI-generated content may be incorrect.">
            <a:extLst>
              <a:ext uri="{FF2B5EF4-FFF2-40B4-BE49-F238E27FC236}">
                <a16:creationId xmlns:a16="http://schemas.microsoft.com/office/drawing/2014/main" id="{265CB817-7A8E-35DA-1749-C1CBFAD997E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25" y="-2869358"/>
            <a:ext cx="704386" cy="777726"/>
          </a:xfrm>
          <a:prstGeom prst="rect">
            <a:avLst/>
          </a:prstGeom>
        </p:spPr>
      </p:pic>
      <p:pic>
        <p:nvPicPr>
          <p:cNvPr id="34" name="Picture 33" descr="A white hat with a pink trim&#10;&#10;AI-generated content may be incorrect.">
            <a:extLst>
              <a:ext uri="{FF2B5EF4-FFF2-40B4-BE49-F238E27FC236}">
                <a16:creationId xmlns:a16="http://schemas.microsoft.com/office/drawing/2014/main" id="{7835EF07-90A0-7362-6EFE-94F36C3E1A2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332" y="-2316632"/>
            <a:ext cx="1127631" cy="450000"/>
          </a:xfrm>
          <a:prstGeom prst="rect">
            <a:avLst/>
          </a:prstGeom>
        </p:spPr>
      </p:pic>
      <p:pic>
        <p:nvPicPr>
          <p:cNvPr id="35" name="Picture 34" descr="A group of black and yellow spray cans&#10;&#10;AI-generated content may be incorrect.">
            <a:extLst>
              <a:ext uri="{FF2B5EF4-FFF2-40B4-BE49-F238E27FC236}">
                <a16:creationId xmlns:a16="http://schemas.microsoft.com/office/drawing/2014/main" id="{18A081CC-0730-7C37-C239-CEBA92F6E58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91" y="-3531182"/>
            <a:ext cx="811141" cy="937243"/>
          </a:xfrm>
          <a:prstGeom prst="rect">
            <a:avLst/>
          </a:prstGeom>
        </p:spPr>
      </p:pic>
      <p:pic>
        <p:nvPicPr>
          <p:cNvPr id="36" name="Picture 35" descr="A statue of a cow and calf&#10;&#10;AI-generated content may be incorrect.">
            <a:extLst>
              <a:ext uri="{FF2B5EF4-FFF2-40B4-BE49-F238E27FC236}">
                <a16:creationId xmlns:a16="http://schemas.microsoft.com/office/drawing/2014/main" id="{6486F44A-9255-F89A-EC8E-216DF3644AE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881" y="-3205889"/>
            <a:ext cx="986559" cy="841266"/>
          </a:xfrm>
          <a:prstGeom prst="rect">
            <a:avLst/>
          </a:prstGeom>
        </p:spPr>
      </p:pic>
      <p:pic>
        <p:nvPicPr>
          <p:cNvPr id="37" name="Picture 36" descr="A yellow baby bib with a duck face&#10;&#10;AI-generated content may be incorrect.">
            <a:extLst>
              <a:ext uri="{FF2B5EF4-FFF2-40B4-BE49-F238E27FC236}">
                <a16:creationId xmlns:a16="http://schemas.microsoft.com/office/drawing/2014/main" id="{53CEFD11-CBD6-DA9A-066D-17AEBECF478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22" y="-1755985"/>
            <a:ext cx="614696" cy="7899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E494085-E746-C80C-4BFF-1ABD0EAFECE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7399" y="-2906359"/>
            <a:ext cx="647207" cy="64720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40B7EA1-CD03-4DAF-8552-2433FDA8FEEF}"/>
              </a:ext>
            </a:extLst>
          </p:cNvPr>
          <p:cNvSpPr txBox="1"/>
          <p:nvPr/>
        </p:nvSpPr>
        <p:spPr>
          <a:xfrm>
            <a:off x="9788287" y="-2906359"/>
            <a:ext cx="158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lignes</a:t>
            </a:r>
          </a:p>
          <a:p>
            <a:r>
              <a:rPr lang="fr-FR" dirty="0"/>
              <a:t>15 colonnes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EC30D3-311C-B8CC-5684-43630DA9C5E4}"/>
              </a:ext>
            </a:extLst>
          </p:cNvPr>
          <p:cNvSpPr txBox="1"/>
          <p:nvPr/>
        </p:nvSpPr>
        <p:spPr>
          <a:xfrm>
            <a:off x="9325680" y="-1779850"/>
            <a:ext cx="24932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Nom produit, prix, catégorie, description, marque…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Taux de remplissage : 97.83%</a:t>
            </a:r>
          </a:p>
          <a:p>
            <a:pPr algn="ctr"/>
            <a:r>
              <a:rPr lang="fr-FR" sz="1400" dirty="0"/>
              <a:t>Aucun doublon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92F7CED-A8E9-1B05-66E7-92B2587047CB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10572304" y="-2260028"/>
            <a:ext cx="7011" cy="48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334CFB1-4F7A-E9B8-E197-42BDEEF1B6E9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pic>
        <p:nvPicPr>
          <p:cNvPr id="6" name="Picture 5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B584580E-CE11-ABB6-2780-0B65AFE1C33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01295" y="1633845"/>
            <a:ext cx="8858888" cy="39087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987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A88699A2-E185-31E6-76AA-520171B22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9131D68-2ED4-281C-34F9-0A8C12661DA6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259AC8-D32A-7FA6-6097-32A264659EE1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8F0088-1B5F-8818-7791-7A5402D4A597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9DF88E-5B33-F704-4E64-F9C37409AFB9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173B907A-B874-9B59-1F93-45B7A0B10B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F5BA2D8-D76A-FBCC-FBEA-47B19A38978A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+mj-lt"/>
              <a:buAutoNum type="arabicPeriod" startAt="4"/>
            </a:pPr>
            <a:r>
              <a:rPr lang="fr-FR" sz="2000" dirty="0">
                <a:latin typeface="DM Serif Text" pitchFamily="2" charset="0"/>
              </a:rPr>
              <a:t>Corrélations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86EE55-475F-5245-046E-93E9326F343B}"/>
              </a:ext>
            </a:extLst>
          </p:cNvPr>
          <p:cNvSpPr txBox="1"/>
          <p:nvPr/>
        </p:nvSpPr>
        <p:spPr>
          <a:xfrm>
            <a:off x="370346" y="-181049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Classification supervisée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1710E3-D07F-F484-8060-A47C1A9CD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2766" y="-3767597"/>
            <a:ext cx="647207" cy="6472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E8F1D11-FCD7-73AD-F08A-A5B9C3D23C8B}"/>
              </a:ext>
            </a:extLst>
          </p:cNvPr>
          <p:cNvSpPr txBox="1"/>
          <p:nvPr/>
        </p:nvSpPr>
        <p:spPr>
          <a:xfrm>
            <a:off x="9724606" y="-3628660"/>
            <a:ext cx="199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images </a:t>
            </a:r>
          </a:p>
        </p:txBody>
      </p:sp>
      <p:pic>
        <p:nvPicPr>
          <p:cNvPr id="23" name="Picture 22" descr="A pink leather case with a keyboard&#10;&#10;AI-generated content may be incorrect.">
            <a:extLst>
              <a:ext uri="{FF2B5EF4-FFF2-40B4-BE49-F238E27FC236}">
                <a16:creationId xmlns:a16="http://schemas.microsoft.com/office/drawing/2014/main" id="{E02549F1-6A3E-90AC-7A09-012FBEF76B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77" y="-5342027"/>
            <a:ext cx="690815" cy="789913"/>
          </a:xfrm>
          <a:prstGeom prst="rect">
            <a:avLst/>
          </a:prstGeom>
        </p:spPr>
      </p:pic>
      <p:pic>
        <p:nvPicPr>
          <p:cNvPr id="25" name="Picture 24" descr="A tube of face wash next to a jar of cream&#10;&#10;AI-generated content may be incorrect.">
            <a:extLst>
              <a:ext uri="{FF2B5EF4-FFF2-40B4-BE49-F238E27FC236}">
                <a16:creationId xmlns:a16="http://schemas.microsoft.com/office/drawing/2014/main" id="{AC464D94-4C97-295B-12CE-3D5E46EA30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22" y="-5264212"/>
            <a:ext cx="769835" cy="872110"/>
          </a:xfrm>
          <a:prstGeom prst="rect">
            <a:avLst/>
          </a:prstGeom>
        </p:spPr>
      </p:pic>
      <p:pic>
        <p:nvPicPr>
          <p:cNvPr id="26" name="Picture 25" descr="A group of light bulbs&#10;&#10;AI-generated content may be incorrect.">
            <a:extLst>
              <a:ext uri="{FF2B5EF4-FFF2-40B4-BE49-F238E27FC236}">
                <a16:creationId xmlns:a16="http://schemas.microsoft.com/office/drawing/2014/main" id="{40BEF970-36D8-182B-73AB-7A669D7193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53" y="-4874167"/>
            <a:ext cx="843313" cy="867408"/>
          </a:xfrm>
          <a:prstGeom prst="rect">
            <a:avLst/>
          </a:prstGeom>
        </p:spPr>
      </p:pic>
      <p:pic>
        <p:nvPicPr>
          <p:cNvPr id="27" name="Picture 26" descr="A close up of a watch&#10;&#10;AI-generated content may be incorrect.">
            <a:extLst>
              <a:ext uri="{FF2B5EF4-FFF2-40B4-BE49-F238E27FC236}">
                <a16:creationId xmlns:a16="http://schemas.microsoft.com/office/drawing/2014/main" id="{D8F49A40-D7F5-26A0-5B4A-5A8C3D91C6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77" y="-1562541"/>
            <a:ext cx="769834" cy="867408"/>
          </a:xfrm>
          <a:prstGeom prst="rect">
            <a:avLst/>
          </a:prstGeom>
        </p:spPr>
      </p:pic>
      <p:pic>
        <p:nvPicPr>
          <p:cNvPr id="28" name="Picture 27" descr="A red pan with a lid&#10;&#10;AI-generated content may be incorrect.">
            <a:extLst>
              <a:ext uri="{FF2B5EF4-FFF2-40B4-BE49-F238E27FC236}">
                <a16:creationId xmlns:a16="http://schemas.microsoft.com/office/drawing/2014/main" id="{1BBA2E6A-D3ED-1489-D95F-EEC49056B9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05" y="-1991822"/>
            <a:ext cx="945111" cy="429281"/>
          </a:xfrm>
          <a:prstGeom prst="rect">
            <a:avLst/>
          </a:prstGeom>
        </p:spPr>
      </p:pic>
      <p:pic>
        <p:nvPicPr>
          <p:cNvPr id="29" name="Picture 28" descr="A red coffee mug with a picture of people in a car&#10;&#10;AI-generated content may be incorrect.">
            <a:extLst>
              <a:ext uri="{FF2B5EF4-FFF2-40B4-BE49-F238E27FC236}">
                <a16:creationId xmlns:a16="http://schemas.microsoft.com/office/drawing/2014/main" id="{059FFFEB-0B26-470F-3FFD-FD618E8E46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15" y="-1713056"/>
            <a:ext cx="818415" cy="767078"/>
          </a:xfrm>
          <a:prstGeom prst="rect">
            <a:avLst/>
          </a:prstGeom>
        </p:spPr>
      </p:pic>
      <p:pic>
        <p:nvPicPr>
          <p:cNvPr id="30" name="Picture 29" descr="A close-up of a jewelry box&#10;&#10;AI-generated content may be incorrect.">
            <a:extLst>
              <a:ext uri="{FF2B5EF4-FFF2-40B4-BE49-F238E27FC236}">
                <a16:creationId xmlns:a16="http://schemas.microsoft.com/office/drawing/2014/main" id="{6725806F-5735-B7D0-89BC-B418C1B2369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77" y="-4188591"/>
            <a:ext cx="991944" cy="787243"/>
          </a:xfrm>
          <a:prstGeom prst="rect">
            <a:avLst/>
          </a:prstGeom>
        </p:spPr>
      </p:pic>
      <p:pic>
        <p:nvPicPr>
          <p:cNvPr id="31" name="Picture 30" descr="A black curtains in a room&#10;&#10;AI-generated content may be incorrect.">
            <a:extLst>
              <a:ext uri="{FF2B5EF4-FFF2-40B4-BE49-F238E27FC236}">
                <a16:creationId xmlns:a16="http://schemas.microsoft.com/office/drawing/2014/main" id="{AD823511-54D5-1FFE-286F-0ADC8EB6B28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29" y="-4782380"/>
            <a:ext cx="789542" cy="892919"/>
          </a:xfrm>
          <a:prstGeom prst="rect">
            <a:avLst/>
          </a:prstGeom>
        </p:spPr>
      </p:pic>
      <p:pic>
        <p:nvPicPr>
          <p:cNvPr id="32" name="Picture 31" descr="Several different colored baby clothes&#10;&#10;AI-generated content may be incorrect.">
            <a:extLst>
              <a:ext uri="{FF2B5EF4-FFF2-40B4-BE49-F238E27FC236}">
                <a16:creationId xmlns:a16="http://schemas.microsoft.com/office/drawing/2014/main" id="{6C735F30-E9D3-3AB8-5AB3-4FF068DDE04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4" y="-4132085"/>
            <a:ext cx="683229" cy="742693"/>
          </a:xfrm>
          <a:prstGeom prst="rect">
            <a:avLst/>
          </a:prstGeom>
        </p:spPr>
      </p:pic>
      <p:pic>
        <p:nvPicPr>
          <p:cNvPr id="33" name="Picture 32" descr="A brown and gold chest of drawers&#10;&#10;AI-generated content may be incorrect.">
            <a:extLst>
              <a:ext uri="{FF2B5EF4-FFF2-40B4-BE49-F238E27FC236}">
                <a16:creationId xmlns:a16="http://schemas.microsoft.com/office/drawing/2014/main" id="{EAB36F35-1F14-2786-1B1A-60CEE348401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25" y="-2869358"/>
            <a:ext cx="704386" cy="777726"/>
          </a:xfrm>
          <a:prstGeom prst="rect">
            <a:avLst/>
          </a:prstGeom>
        </p:spPr>
      </p:pic>
      <p:pic>
        <p:nvPicPr>
          <p:cNvPr id="34" name="Picture 33" descr="A white hat with a pink trim&#10;&#10;AI-generated content may be incorrect.">
            <a:extLst>
              <a:ext uri="{FF2B5EF4-FFF2-40B4-BE49-F238E27FC236}">
                <a16:creationId xmlns:a16="http://schemas.microsoft.com/office/drawing/2014/main" id="{4F40FD8F-2229-3462-FDBB-669F1F3DE82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332" y="-2316632"/>
            <a:ext cx="1127631" cy="450000"/>
          </a:xfrm>
          <a:prstGeom prst="rect">
            <a:avLst/>
          </a:prstGeom>
        </p:spPr>
      </p:pic>
      <p:pic>
        <p:nvPicPr>
          <p:cNvPr id="35" name="Picture 34" descr="A group of black and yellow spray cans&#10;&#10;AI-generated content may be incorrect.">
            <a:extLst>
              <a:ext uri="{FF2B5EF4-FFF2-40B4-BE49-F238E27FC236}">
                <a16:creationId xmlns:a16="http://schemas.microsoft.com/office/drawing/2014/main" id="{54CD27CD-D706-7D3A-34CE-E4FA5BE5754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91" y="-3531182"/>
            <a:ext cx="811141" cy="937243"/>
          </a:xfrm>
          <a:prstGeom prst="rect">
            <a:avLst/>
          </a:prstGeom>
        </p:spPr>
      </p:pic>
      <p:pic>
        <p:nvPicPr>
          <p:cNvPr id="36" name="Picture 35" descr="A statue of a cow and calf&#10;&#10;AI-generated content may be incorrect.">
            <a:extLst>
              <a:ext uri="{FF2B5EF4-FFF2-40B4-BE49-F238E27FC236}">
                <a16:creationId xmlns:a16="http://schemas.microsoft.com/office/drawing/2014/main" id="{11D32837-EF95-D129-6D46-8E0B700507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881" y="-3205889"/>
            <a:ext cx="986559" cy="841266"/>
          </a:xfrm>
          <a:prstGeom prst="rect">
            <a:avLst/>
          </a:prstGeom>
        </p:spPr>
      </p:pic>
      <p:pic>
        <p:nvPicPr>
          <p:cNvPr id="37" name="Picture 36" descr="A yellow baby bib with a duck face&#10;&#10;AI-generated content may be incorrect.">
            <a:extLst>
              <a:ext uri="{FF2B5EF4-FFF2-40B4-BE49-F238E27FC236}">
                <a16:creationId xmlns:a16="http://schemas.microsoft.com/office/drawing/2014/main" id="{EBEB2111-7F01-0B17-B1EF-792542C5F5D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22" y="-1755985"/>
            <a:ext cx="614696" cy="7899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0BAC48C-6690-FE4B-7DBB-9ABAE2FBDE4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7399" y="-2906359"/>
            <a:ext cx="647207" cy="64720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66A3124-7E26-0C90-9557-A6F52DC01F3E}"/>
              </a:ext>
            </a:extLst>
          </p:cNvPr>
          <p:cNvSpPr txBox="1"/>
          <p:nvPr/>
        </p:nvSpPr>
        <p:spPr>
          <a:xfrm>
            <a:off x="9788287" y="-2906359"/>
            <a:ext cx="158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lignes</a:t>
            </a:r>
          </a:p>
          <a:p>
            <a:r>
              <a:rPr lang="fr-FR" dirty="0"/>
              <a:t>15 colonnes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3E6F09-4509-1DB9-166C-0A111DE55A51}"/>
              </a:ext>
            </a:extLst>
          </p:cNvPr>
          <p:cNvSpPr txBox="1"/>
          <p:nvPr/>
        </p:nvSpPr>
        <p:spPr>
          <a:xfrm>
            <a:off x="9325680" y="-1779850"/>
            <a:ext cx="24932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Nom produit, prix, catégorie, description, marque…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Taux de remplissage : 97.83%</a:t>
            </a:r>
          </a:p>
          <a:p>
            <a:pPr algn="ctr"/>
            <a:r>
              <a:rPr lang="fr-FR" sz="1400" dirty="0"/>
              <a:t>Aucun doublon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4189B6B-DDB1-A320-5D48-612ED9AF0925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10572304" y="-2260028"/>
            <a:ext cx="7011" cy="48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BDA2590-0DA5-94E4-AACE-3056AC6DC1A3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0DD5F71-4E93-5FD6-781D-38751227DDF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1481" y="2020090"/>
            <a:ext cx="6621282" cy="31033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646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8AACEE6C-4263-9B83-154D-8ADB3F58E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88E57C3-7BC6-AC57-82FC-B1B759DE655E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6FEE13-91E7-F782-FFE0-3DB11BB86EBD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D77E80-C866-4251-CF83-250B0EC1E245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3867DF-A852-E6FC-0A31-FFDA79353FB2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323C8ED9-4985-970C-FE98-8294B1F7CA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CD63C6E-735C-C997-0FD7-F2195965F9B8}"/>
              </a:ext>
            </a:extLst>
          </p:cNvPr>
          <p:cNvSpPr txBox="1"/>
          <p:nvPr/>
        </p:nvSpPr>
        <p:spPr>
          <a:xfrm>
            <a:off x="370346" y="-341069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032826C-165E-17D9-53E6-2BD85BD51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2766" y="-3767597"/>
            <a:ext cx="647207" cy="6472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2C029A0-9F10-E703-8E94-6C8EEF48403F}"/>
              </a:ext>
            </a:extLst>
          </p:cNvPr>
          <p:cNvSpPr txBox="1"/>
          <p:nvPr/>
        </p:nvSpPr>
        <p:spPr>
          <a:xfrm>
            <a:off x="9724606" y="-3628660"/>
            <a:ext cx="199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images </a:t>
            </a:r>
          </a:p>
        </p:txBody>
      </p:sp>
      <p:pic>
        <p:nvPicPr>
          <p:cNvPr id="23" name="Picture 22" descr="A pink leather case with a keyboard&#10;&#10;AI-generated content may be incorrect.">
            <a:extLst>
              <a:ext uri="{FF2B5EF4-FFF2-40B4-BE49-F238E27FC236}">
                <a16:creationId xmlns:a16="http://schemas.microsoft.com/office/drawing/2014/main" id="{B8D25226-1E56-F162-4674-ACCAB0E275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77" y="-5342027"/>
            <a:ext cx="690815" cy="789913"/>
          </a:xfrm>
          <a:prstGeom prst="rect">
            <a:avLst/>
          </a:prstGeom>
        </p:spPr>
      </p:pic>
      <p:pic>
        <p:nvPicPr>
          <p:cNvPr id="25" name="Picture 24" descr="A tube of face wash next to a jar of cream&#10;&#10;AI-generated content may be incorrect.">
            <a:extLst>
              <a:ext uri="{FF2B5EF4-FFF2-40B4-BE49-F238E27FC236}">
                <a16:creationId xmlns:a16="http://schemas.microsoft.com/office/drawing/2014/main" id="{2D8C9683-318B-71FD-5436-FB567E6D49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22" y="-5264212"/>
            <a:ext cx="769835" cy="872110"/>
          </a:xfrm>
          <a:prstGeom prst="rect">
            <a:avLst/>
          </a:prstGeom>
        </p:spPr>
      </p:pic>
      <p:pic>
        <p:nvPicPr>
          <p:cNvPr id="26" name="Picture 25" descr="A group of light bulbs&#10;&#10;AI-generated content may be incorrect.">
            <a:extLst>
              <a:ext uri="{FF2B5EF4-FFF2-40B4-BE49-F238E27FC236}">
                <a16:creationId xmlns:a16="http://schemas.microsoft.com/office/drawing/2014/main" id="{5D5F403F-0BCE-9721-7157-F863915404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53" y="-4874167"/>
            <a:ext cx="843313" cy="867408"/>
          </a:xfrm>
          <a:prstGeom prst="rect">
            <a:avLst/>
          </a:prstGeom>
        </p:spPr>
      </p:pic>
      <p:pic>
        <p:nvPicPr>
          <p:cNvPr id="27" name="Picture 26" descr="A close up of a watch&#10;&#10;AI-generated content may be incorrect.">
            <a:extLst>
              <a:ext uri="{FF2B5EF4-FFF2-40B4-BE49-F238E27FC236}">
                <a16:creationId xmlns:a16="http://schemas.microsoft.com/office/drawing/2014/main" id="{04818EF2-E5D0-53B8-E499-CA3C5C1462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77" y="-1562541"/>
            <a:ext cx="769834" cy="867408"/>
          </a:xfrm>
          <a:prstGeom prst="rect">
            <a:avLst/>
          </a:prstGeom>
        </p:spPr>
      </p:pic>
      <p:pic>
        <p:nvPicPr>
          <p:cNvPr id="28" name="Picture 27" descr="A red pan with a lid&#10;&#10;AI-generated content may be incorrect.">
            <a:extLst>
              <a:ext uri="{FF2B5EF4-FFF2-40B4-BE49-F238E27FC236}">
                <a16:creationId xmlns:a16="http://schemas.microsoft.com/office/drawing/2014/main" id="{05AE9CCA-9876-F97F-9E16-650E789100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05" y="-1991822"/>
            <a:ext cx="945111" cy="429281"/>
          </a:xfrm>
          <a:prstGeom prst="rect">
            <a:avLst/>
          </a:prstGeom>
        </p:spPr>
      </p:pic>
      <p:pic>
        <p:nvPicPr>
          <p:cNvPr id="29" name="Picture 28" descr="A red coffee mug with a picture of people in a car&#10;&#10;AI-generated content may be incorrect.">
            <a:extLst>
              <a:ext uri="{FF2B5EF4-FFF2-40B4-BE49-F238E27FC236}">
                <a16:creationId xmlns:a16="http://schemas.microsoft.com/office/drawing/2014/main" id="{378EC9DD-6BA9-EEEA-D8D2-F443C85ED4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15" y="-1713056"/>
            <a:ext cx="818415" cy="767078"/>
          </a:xfrm>
          <a:prstGeom prst="rect">
            <a:avLst/>
          </a:prstGeom>
        </p:spPr>
      </p:pic>
      <p:pic>
        <p:nvPicPr>
          <p:cNvPr id="30" name="Picture 29" descr="A close-up of a jewelry box&#10;&#10;AI-generated content may be incorrect.">
            <a:extLst>
              <a:ext uri="{FF2B5EF4-FFF2-40B4-BE49-F238E27FC236}">
                <a16:creationId xmlns:a16="http://schemas.microsoft.com/office/drawing/2014/main" id="{1A45C194-2702-17E0-5FF7-05529C5A4E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77" y="-4188591"/>
            <a:ext cx="991944" cy="787243"/>
          </a:xfrm>
          <a:prstGeom prst="rect">
            <a:avLst/>
          </a:prstGeom>
        </p:spPr>
      </p:pic>
      <p:pic>
        <p:nvPicPr>
          <p:cNvPr id="31" name="Picture 30" descr="A black curtains in a room&#10;&#10;AI-generated content may be incorrect.">
            <a:extLst>
              <a:ext uri="{FF2B5EF4-FFF2-40B4-BE49-F238E27FC236}">
                <a16:creationId xmlns:a16="http://schemas.microsoft.com/office/drawing/2014/main" id="{3F3F0C20-7F6A-00B6-7955-378879E7A7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29" y="-4782380"/>
            <a:ext cx="789542" cy="892919"/>
          </a:xfrm>
          <a:prstGeom prst="rect">
            <a:avLst/>
          </a:prstGeom>
        </p:spPr>
      </p:pic>
      <p:pic>
        <p:nvPicPr>
          <p:cNvPr id="32" name="Picture 31" descr="Several different colored baby clothes&#10;&#10;AI-generated content may be incorrect.">
            <a:extLst>
              <a:ext uri="{FF2B5EF4-FFF2-40B4-BE49-F238E27FC236}">
                <a16:creationId xmlns:a16="http://schemas.microsoft.com/office/drawing/2014/main" id="{DECC72CF-ADED-584E-C472-4BFBA49E98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4" y="-4132085"/>
            <a:ext cx="683229" cy="742693"/>
          </a:xfrm>
          <a:prstGeom prst="rect">
            <a:avLst/>
          </a:prstGeom>
        </p:spPr>
      </p:pic>
      <p:pic>
        <p:nvPicPr>
          <p:cNvPr id="33" name="Picture 32" descr="A brown and gold chest of drawers&#10;&#10;AI-generated content may be incorrect.">
            <a:extLst>
              <a:ext uri="{FF2B5EF4-FFF2-40B4-BE49-F238E27FC236}">
                <a16:creationId xmlns:a16="http://schemas.microsoft.com/office/drawing/2014/main" id="{CE1827FE-EBBE-D5E0-BEFC-8AC6EFC3CE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25" y="-2869358"/>
            <a:ext cx="704386" cy="777726"/>
          </a:xfrm>
          <a:prstGeom prst="rect">
            <a:avLst/>
          </a:prstGeom>
        </p:spPr>
      </p:pic>
      <p:pic>
        <p:nvPicPr>
          <p:cNvPr id="34" name="Picture 33" descr="A white hat with a pink trim&#10;&#10;AI-generated content may be incorrect.">
            <a:extLst>
              <a:ext uri="{FF2B5EF4-FFF2-40B4-BE49-F238E27FC236}">
                <a16:creationId xmlns:a16="http://schemas.microsoft.com/office/drawing/2014/main" id="{89BD8678-311A-95C5-FF10-91A1CEC2C93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332" y="-2316632"/>
            <a:ext cx="1127631" cy="450000"/>
          </a:xfrm>
          <a:prstGeom prst="rect">
            <a:avLst/>
          </a:prstGeom>
        </p:spPr>
      </p:pic>
      <p:pic>
        <p:nvPicPr>
          <p:cNvPr id="35" name="Picture 34" descr="A group of black and yellow spray cans&#10;&#10;AI-generated content may be incorrect.">
            <a:extLst>
              <a:ext uri="{FF2B5EF4-FFF2-40B4-BE49-F238E27FC236}">
                <a16:creationId xmlns:a16="http://schemas.microsoft.com/office/drawing/2014/main" id="{4774B295-FA09-5DB1-C6B9-B6DDD5662CB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91" y="-3531182"/>
            <a:ext cx="811141" cy="937243"/>
          </a:xfrm>
          <a:prstGeom prst="rect">
            <a:avLst/>
          </a:prstGeom>
        </p:spPr>
      </p:pic>
      <p:pic>
        <p:nvPicPr>
          <p:cNvPr id="36" name="Picture 35" descr="A statue of a cow and calf&#10;&#10;AI-generated content may be incorrect.">
            <a:extLst>
              <a:ext uri="{FF2B5EF4-FFF2-40B4-BE49-F238E27FC236}">
                <a16:creationId xmlns:a16="http://schemas.microsoft.com/office/drawing/2014/main" id="{74F2FE36-BB2C-46E4-FF06-5E0DE05C2CD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881" y="-3205889"/>
            <a:ext cx="986559" cy="841266"/>
          </a:xfrm>
          <a:prstGeom prst="rect">
            <a:avLst/>
          </a:prstGeom>
        </p:spPr>
      </p:pic>
      <p:pic>
        <p:nvPicPr>
          <p:cNvPr id="37" name="Picture 36" descr="A yellow baby bib with a duck face&#10;&#10;AI-generated content may be incorrect.">
            <a:extLst>
              <a:ext uri="{FF2B5EF4-FFF2-40B4-BE49-F238E27FC236}">
                <a16:creationId xmlns:a16="http://schemas.microsoft.com/office/drawing/2014/main" id="{2FA8C25A-6D3D-5512-55F5-A8F2F3E63F7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22" y="-1755985"/>
            <a:ext cx="614696" cy="7899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D03DFE0-1D06-1DB7-0899-8B4A2B8F5BB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7399" y="-2906359"/>
            <a:ext cx="647207" cy="64720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F06AA41-79AB-3F23-1FAB-6639C9C67C01}"/>
              </a:ext>
            </a:extLst>
          </p:cNvPr>
          <p:cNvSpPr txBox="1"/>
          <p:nvPr/>
        </p:nvSpPr>
        <p:spPr>
          <a:xfrm>
            <a:off x="9788287" y="-2906359"/>
            <a:ext cx="158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lignes</a:t>
            </a:r>
          </a:p>
          <a:p>
            <a:r>
              <a:rPr lang="fr-FR" dirty="0"/>
              <a:t>15 colonnes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93F356-21A1-7533-9405-CB99AF1A4E97}"/>
              </a:ext>
            </a:extLst>
          </p:cNvPr>
          <p:cNvSpPr txBox="1"/>
          <p:nvPr/>
        </p:nvSpPr>
        <p:spPr>
          <a:xfrm>
            <a:off x="9325680" y="-1779850"/>
            <a:ext cx="24932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Nom produit, prix, catégorie, description, marque…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Taux de remplissage : 97.83%</a:t>
            </a:r>
          </a:p>
          <a:p>
            <a:pPr algn="ctr"/>
            <a:r>
              <a:rPr lang="fr-FR" sz="1400" dirty="0"/>
              <a:t>Aucun doublon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0B4BEAA-32F1-60A8-B14D-49CD92BE0764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10572304" y="-2260028"/>
            <a:ext cx="7011" cy="48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8708627-70F6-8018-6D9D-C2142247467A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510C681-D44C-CC99-BAEC-143E367AE6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4091501"/>
              </p:ext>
            </p:extLst>
          </p:nvPr>
        </p:nvGraphicFramePr>
        <p:xfrm>
          <a:off x="2955781" y="1274230"/>
          <a:ext cx="1357655" cy="4799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F40118-C877-38CB-5B83-D4B5347D2149}"/>
              </a:ext>
            </a:extLst>
          </p:cNvPr>
          <p:cNvSpPr txBox="1"/>
          <p:nvPr/>
        </p:nvSpPr>
        <p:spPr>
          <a:xfrm>
            <a:off x="4376444" y="1281724"/>
            <a:ext cx="7442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Suppression des </a:t>
            </a:r>
            <a:r>
              <a:rPr lang="fr-FR" sz="1200" b="1" dirty="0"/>
              <a:t>anomalies</a:t>
            </a:r>
            <a:r>
              <a:rPr lang="fr-FR" sz="1200" dirty="0"/>
              <a:t> (DAYS_EMPLOYED = 365243), des </a:t>
            </a:r>
            <a:r>
              <a:rPr lang="fr-FR" sz="1200" b="1" dirty="0"/>
              <a:t>valeurs aberrantes </a:t>
            </a:r>
            <a:r>
              <a:rPr lang="fr-FR" sz="1200" dirty="0"/>
              <a:t>(CODE_GENDER = ‘XNA’), remplacement des </a:t>
            </a:r>
            <a:r>
              <a:rPr lang="fr-FR" sz="1200" b="1" dirty="0"/>
              <a:t>infinis</a:t>
            </a:r>
            <a:r>
              <a:rPr lang="fr-FR" sz="1200" dirty="0"/>
              <a:t>, </a:t>
            </a:r>
            <a:r>
              <a:rPr lang="fr-FR" sz="1200" b="1" dirty="0"/>
              <a:t>normalisation</a:t>
            </a:r>
            <a:r>
              <a:rPr lang="fr-FR" sz="1200" dirty="0"/>
              <a:t> des types de variables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4C8D20-DB7C-59A6-1BCA-F8E1B382A105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fr-FR" sz="2000" dirty="0">
                <a:latin typeface="DM Serif Text" pitchFamily="2" charset="0"/>
              </a:rPr>
              <a:t>Pipeline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6CF586-5801-D991-3F78-FB5E19BA90E4}"/>
              </a:ext>
            </a:extLst>
          </p:cNvPr>
          <p:cNvSpPr/>
          <p:nvPr/>
        </p:nvSpPr>
        <p:spPr>
          <a:xfrm>
            <a:off x="2903826" y="1995054"/>
            <a:ext cx="1607135" cy="44301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761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33024F7A-DDFE-4C8C-6C34-9828C33EE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40B6C51-95EC-A2B0-39FF-FC3A49F513B1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8F203D-44E5-CA1D-2A74-7C11B881F52E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539CBA-2D85-C6DA-BD33-6D7AF435C46D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40A7E6-BB1E-9F7F-3096-88B242B319E2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649302F2-5077-54F9-78A7-033556DD89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19548C4-F494-4C18-5085-5B33194A3B6A}"/>
              </a:ext>
            </a:extLst>
          </p:cNvPr>
          <p:cNvSpPr txBox="1"/>
          <p:nvPr/>
        </p:nvSpPr>
        <p:spPr>
          <a:xfrm>
            <a:off x="370346" y="-341069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7EE816-F356-0FA0-2F96-3E714566F7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2766" y="-3767597"/>
            <a:ext cx="647207" cy="6472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2F0E6C6-B841-3F5F-4D2F-8A22638276BA}"/>
              </a:ext>
            </a:extLst>
          </p:cNvPr>
          <p:cNvSpPr txBox="1"/>
          <p:nvPr/>
        </p:nvSpPr>
        <p:spPr>
          <a:xfrm>
            <a:off x="9724606" y="-3628660"/>
            <a:ext cx="199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images </a:t>
            </a:r>
          </a:p>
        </p:txBody>
      </p:sp>
      <p:pic>
        <p:nvPicPr>
          <p:cNvPr id="23" name="Picture 22" descr="A pink leather case with a keyboard&#10;&#10;AI-generated content may be incorrect.">
            <a:extLst>
              <a:ext uri="{FF2B5EF4-FFF2-40B4-BE49-F238E27FC236}">
                <a16:creationId xmlns:a16="http://schemas.microsoft.com/office/drawing/2014/main" id="{B0EB10D4-EBED-8984-EAD9-2F5B31CCC1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77" y="-5342027"/>
            <a:ext cx="690815" cy="789913"/>
          </a:xfrm>
          <a:prstGeom prst="rect">
            <a:avLst/>
          </a:prstGeom>
        </p:spPr>
      </p:pic>
      <p:pic>
        <p:nvPicPr>
          <p:cNvPr id="25" name="Picture 24" descr="A tube of face wash next to a jar of cream&#10;&#10;AI-generated content may be incorrect.">
            <a:extLst>
              <a:ext uri="{FF2B5EF4-FFF2-40B4-BE49-F238E27FC236}">
                <a16:creationId xmlns:a16="http://schemas.microsoft.com/office/drawing/2014/main" id="{F062F858-28C8-0BFD-2758-D0E00F5D82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22" y="-5264212"/>
            <a:ext cx="769835" cy="872110"/>
          </a:xfrm>
          <a:prstGeom prst="rect">
            <a:avLst/>
          </a:prstGeom>
        </p:spPr>
      </p:pic>
      <p:pic>
        <p:nvPicPr>
          <p:cNvPr id="26" name="Picture 25" descr="A group of light bulbs&#10;&#10;AI-generated content may be incorrect.">
            <a:extLst>
              <a:ext uri="{FF2B5EF4-FFF2-40B4-BE49-F238E27FC236}">
                <a16:creationId xmlns:a16="http://schemas.microsoft.com/office/drawing/2014/main" id="{7FF57607-ADDC-228F-BAF8-50325D81DB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53" y="-4874167"/>
            <a:ext cx="843313" cy="867408"/>
          </a:xfrm>
          <a:prstGeom prst="rect">
            <a:avLst/>
          </a:prstGeom>
        </p:spPr>
      </p:pic>
      <p:pic>
        <p:nvPicPr>
          <p:cNvPr id="27" name="Picture 26" descr="A close up of a watch&#10;&#10;AI-generated content may be incorrect.">
            <a:extLst>
              <a:ext uri="{FF2B5EF4-FFF2-40B4-BE49-F238E27FC236}">
                <a16:creationId xmlns:a16="http://schemas.microsoft.com/office/drawing/2014/main" id="{6508E96D-4343-A796-F7FA-9F863DB3ED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77" y="-1562541"/>
            <a:ext cx="769834" cy="867408"/>
          </a:xfrm>
          <a:prstGeom prst="rect">
            <a:avLst/>
          </a:prstGeom>
        </p:spPr>
      </p:pic>
      <p:pic>
        <p:nvPicPr>
          <p:cNvPr id="28" name="Picture 27" descr="A red pan with a lid&#10;&#10;AI-generated content may be incorrect.">
            <a:extLst>
              <a:ext uri="{FF2B5EF4-FFF2-40B4-BE49-F238E27FC236}">
                <a16:creationId xmlns:a16="http://schemas.microsoft.com/office/drawing/2014/main" id="{010ED1BE-C1C5-6DF4-72F4-39C51AE682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05" y="-1991822"/>
            <a:ext cx="945111" cy="429281"/>
          </a:xfrm>
          <a:prstGeom prst="rect">
            <a:avLst/>
          </a:prstGeom>
        </p:spPr>
      </p:pic>
      <p:pic>
        <p:nvPicPr>
          <p:cNvPr id="29" name="Picture 28" descr="A red coffee mug with a picture of people in a car&#10;&#10;AI-generated content may be incorrect.">
            <a:extLst>
              <a:ext uri="{FF2B5EF4-FFF2-40B4-BE49-F238E27FC236}">
                <a16:creationId xmlns:a16="http://schemas.microsoft.com/office/drawing/2014/main" id="{56189678-CFD6-1474-D9D0-C1D4EC0ADE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15" y="-1713056"/>
            <a:ext cx="818415" cy="767078"/>
          </a:xfrm>
          <a:prstGeom prst="rect">
            <a:avLst/>
          </a:prstGeom>
        </p:spPr>
      </p:pic>
      <p:pic>
        <p:nvPicPr>
          <p:cNvPr id="30" name="Picture 29" descr="A close-up of a jewelry box&#10;&#10;AI-generated content may be incorrect.">
            <a:extLst>
              <a:ext uri="{FF2B5EF4-FFF2-40B4-BE49-F238E27FC236}">
                <a16:creationId xmlns:a16="http://schemas.microsoft.com/office/drawing/2014/main" id="{5224F3D8-8D1D-A487-8C91-8914F426DB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77" y="-4188591"/>
            <a:ext cx="991944" cy="787243"/>
          </a:xfrm>
          <a:prstGeom prst="rect">
            <a:avLst/>
          </a:prstGeom>
        </p:spPr>
      </p:pic>
      <p:pic>
        <p:nvPicPr>
          <p:cNvPr id="31" name="Picture 30" descr="A black curtains in a room&#10;&#10;AI-generated content may be incorrect.">
            <a:extLst>
              <a:ext uri="{FF2B5EF4-FFF2-40B4-BE49-F238E27FC236}">
                <a16:creationId xmlns:a16="http://schemas.microsoft.com/office/drawing/2014/main" id="{A7F66550-FDC0-A16C-EB83-BC546438B4B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29" y="-4782380"/>
            <a:ext cx="789542" cy="892919"/>
          </a:xfrm>
          <a:prstGeom prst="rect">
            <a:avLst/>
          </a:prstGeom>
        </p:spPr>
      </p:pic>
      <p:pic>
        <p:nvPicPr>
          <p:cNvPr id="32" name="Picture 31" descr="Several different colored baby clothes&#10;&#10;AI-generated content may be incorrect.">
            <a:extLst>
              <a:ext uri="{FF2B5EF4-FFF2-40B4-BE49-F238E27FC236}">
                <a16:creationId xmlns:a16="http://schemas.microsoft.com/office/drawing/2014/main" id="{12AEB3BB-F2D6-6EDE-91FF-33533973D0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4" y="-4132085"/>
            <a:ext cx="683229" cy="742693"/>
          </a:xfrm>
          <a:prstGeom prst="rect">
            <a:avLst/>
          </a:prstGeom>
        </p:spPr>
      </p:pic>
      <p:pic>
        <p:nvPicPr>
          <p:cNvPr id="33" name="Picture 32" descr="A brown and gold chest of drawers&#10;&#10;AI-generated content may be incorrect.">
            <a:extLst>
              <a:ext uri="{FF2B5EF4-FFF2-40B4-BE49-F238E27FC236}">
                <a16:creationId xmlns:a16="http://schemas.microsoft.com/office/drawing/2014/main" id="{E35BC77E-4580-E50C-7B4F-AD736EA49BD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25" y="-2869358"/>
            <a:ext cx="704386" cy="777726"/>
          </a:xfrm>
          <a:prstGeom prst="rect">
            <a:avLst/>
          </a:prstGeom>
        </p:spPr>
      </p:pic>
      <p:pic>
        <p:nvPicPr>
          <p:cNvPr id="34" name="Picture 33" descr="A white hat with a pink trim&#10;&#10;AI-generated content may be incorrect.">
            <a:extLst>
              <a:ext uri="{FF2B5EF4-FFF2-40B4-BE49-F238E27FC236}">
                <a16:creationId xmlns:a16="http://schemas.microsoft.com/office/drawing/2014/main" id="{652A8903-1EC1-BFCA-1B38-6EA2D094B2C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332" y="-2316632"/>
            <a:ext cx="1127631" cy="450000"/>
          </a:xfrm>
          <a:prstGeom prst="rect">
            <a:avLst/>
          </a:prstGeom>
        </p:spPr>
      </p:pic>
      <p:pic>
        <p:nvPicPr>
          <p:cNvPr id="35" name="Picture 34" descr="A group of black and yellow spray cans&#10;&#10;AI-generated content may be incorrect.">
            <a:extLst>
              <a:ext uri="{FF2B5EF4-FFF2-40B4-BE49-F238E27FC236}">
                <a16:creationId xmlns:a16="http://schemas.microsoft.com/office/drawing/2014/main" id="{C8F7FEA5-5671-B908-B5D4-6DF1B10B065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91" y="-3531182"/>
            <a:ext cx="811141" cy="937243"/>
          </a:xfrm>
          <a:prstGeom prst="rect">
            <a:avLst/>
          </a:prstGeom>
        </p:spPr>
      </p:pic>
      <p:pic>
        <p:nvPicPr>
          <p:cNvPr id="36" name="Picture 35" descr="A statue of a cow and calf&#10;&#10;AI-generated content may be incorrect.">
            <a:extLst>
              <a:ext uri="{FF2B5EF4-FFF2-40B4-BE49-F238E27FC236}">
                <a16:creationId xmlns:a16="http://schemas.microsoft.com/office/drawing/2014/main" id="{979C918D-A1BC-4854-4FC7-70E70CDCACB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881" y="-3205889"/>
            <a:ext cx="986559" cy="841266"/>
          </a:xfrm>
          <a:prstGeom prst="rect">
            <a:avLst/>
          </a:prstGeom>
        </p:spPr>
      </p:pic>
      <p:pic>
        <p:nvPicPr>
          <p:cNvPr id="37" name="Picture 36" descr="A yellow baby bib with a duck face&#10;&#10;AI-generated content may be incorrect.">
            <a:extLst>
              <a:ext uri="{FF2B5EF4-FFF2-40B4-BE49-F238E27FC236}">
                <a16:creationId xmlns:a16="http://schemas.microsoft.com/office/drawing/2014/main" id="{64AE0AF9-7B85-B742-4F1C-53C4DCA6416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22" y="-1755985"/>
            <a:ext cx="614696" cy="7899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A04FB93-F4EE-4893-B90B-4AAFD5F3B64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7399" y="-2906359"/>
            <a:ext cx="647207" cy="64720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7D34CDC-1BFC-931C-707A-3533F7E6F691}"/>
              </a:ext>
            </a:extLst>
          </p:cNvPr>
          <p:cNvSpPr txBox="1"/>
          <p:nvPr/>
        </p:nvSpPr>
        <p:spPr>
          <a:xfrm>
            <a:off x="9788287" y="-2906359"/>
            <a:ext cx="158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lignes</a:t>
            </a:r>
          </a:p>
          <a:p>
            <a:r>
              <a:rPr lang="fr-FR" dirty="0"/>
              <a:t>15 colonnes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A8FC74-75BE-1EAF-82AB-5F323B6E217A}"/>
              </a:ext>
            </a:extLst>
          </p:cNvPr>
          <p:cNvSpPr txBox="1"/>
          <p:nvPr/>
        </p:nvSpPr>
        <p:spPr>
          <a:xfrm>
            <a:off x="9325680" y="-1779850"/>
            <a:ext cx="24932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Nom produit, prix, catégorie, description, marque…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Taux de remplissage : 97.83%</a:t>
            </a:r>
          </a:p>
          <a:p>
            <a:pPr algn="ctr"/>
            <a:r>
              <a:rPr lang="fr-FR" sz="1400" dirty="0"/>
              <a:t>Aucun doublon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81DA7F4-72FD-930B-86C5-5BB2DA4BA673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10572304" y="-2260028"/>
            <a:ext cx="7011" cy="48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D74482F-24F3-52C3-A3B6-BE2A1A64C807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91569E3-EF67-00FD-878A-DEB5192ADFFC}"/>
              </a:ext>
            </a:extLst>
          </p:cNvPr>
          <p:cNvGraphicFramePr/>
          <p:nvPr/>
        </p:nvGraphicFramePr>
        <p:xfrm>
          <a:off x="2955781" y="1274230"/>
          <a:ext cx="1357655" cy="4799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35D65D-05AD-80C8-4191-78A44CE7E2E5}"/>
              </a:ext>
            </a:extLst>
          </p:cNvPr>
          <p:cNvSpPr txBox="1"/>
          <p:nvPr/>
        </p:nvSpPr>
        <p:spPr>
          <a:xfrm>
            <a:off x="4376444" y="1281724"/>
            <a:ext cx="7442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Suppression des </a:t>
            </a:r>
            <a:r>
              <a:rPr lang="fr-FR" sz="1200" b="1" dirty="0"/>
              <a:t>anomalies</a:t>
            </a:r>
            <a:r>
              <a:rPr lang="fr-FR" sz="1200" dirty="0"/>
              <a:t> (DAYS_EMPLOYED = 365243), des </a:t>
            </a:r>
            <a:r>
              <a:rPr lang="fr-FR" sz="1200" b="1" dirty="0"/>
              <a:t>valeurs aberrantes </a:t>
            </a:r>
            <a:r>
              <a:rPr lang="fr-FR" sz="1200" dirty="0"/>
              <a:t>(CODE_GENDER = ‘XNA’), remplacement des </a:t>
            </a:r>
            <a:r>
              <a:rPr lang="fr-FR" sz="1200" b="1" dirty="0"/>
              <a:t>infinis</a:t>
            </a:r>
            <a:r>
              <a:rPr lang="fr-FR" sz="1200" dirty="0"/>
              <a:t>, </a:t>
            </a:r>
            <a:r>
              <a:rPr lang="fr-FR" sz="1200" b="1" dirty="0"/>
              <a:t>normalisation</a:t>
            </a:r>
            <a:r>
              <a:rPr lang="fr-FR" sz="1200" dirty="0"/>
              <a:t> des types de variables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E8AB13-50B4-8304-01E5-0E96CAE36E2F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fr-FR" sz="2000" dirty="0">
                <a:latin typeface="DM Serif Text" pitchFamily="2" charset="0"/>
              </a:rPr>
              <a:t>Pipeline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4865EB-A7B2-AD29-9B9C-4482648C6FCC}"/>
              </a:ext>
            </a:extLst>
          </p:cNvPr>
          <p:cNvSpPr/>
          <p:nvPr/>
        </p:nvSpPr>
        <p:spPr>
          <a:xfrm>
            <a:off x="2903826" y="2713877"/>
            <a:ext cx="1607135" cy="37632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148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4DDC9189-1DBC-34AD-EF86-E6A5431C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BB1050-EFEE-DFBC-6820-FD7A73FEF79D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30CC4D-3365-737A-E22D-CE0D0860A2AE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59E993-5458-577C-4A22-D732B9A79BDE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31537-2C32-C3AC-4458-2FD3E987750D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C7D46140-AA1D-4E05-FEA3-A3AA4F853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5C71A08-C76D-ED2D-3C5A-8EA076C6DBBD}"/>
              </a:ext>
            </a:extLst>
          </p:cNvPr>
          <p:cNvSpPr txBox="1"/>
          <p:nvPr/>
        </p:nvSpPr>
        <p:spPr>
          <a:xfrm>
            <a:off x="370346" y="-341069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D133750-5F74-AF0E-6598-B81885A3D4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2766" y="-3767597"/>
            <a:ext cx="647207" cy="6472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C12741C-E437-2319-5414-F49B22A57945}"/>
              </a:ext>
            </a:extLst>
          </p:cNvPr>
          <p:cNvSpPr txBox="1"/>
          <p:nvPr/>
        </p:nvSpPr>
        <p:spPr>
          <a:xfrm>
            <a:off x="9724606" y="-3628660"/>
            <a:ext cx="199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images </a:t>
            </a:r>
          </a:p>
        </p:txBody>
      </p:sp>
      <p:pic>
        <p:nvPicPr>
          <p:cNvPr id="23" name="Picture 22" descr="A pink leather case with a keyboard&#10;&#10;AI-generated content may be incorrect.">
            <a:extLst>
              <a:ext uri="{FF2B5EF4-FFF2-40B4-BE49-F238E27FC236}">
                <a16:creationId xmlns:a16="http://schemas.microsoft.com/office/drawing/2014/main" id="{72781842-0974-FBEF-5CC7-E44EBEE853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77" y="-5342027"/>
            <a:ext cx="690815" cy="789913"/>
          </a:xfrm>
          <a:prstGeom prst="rect">
            <a:avLst/>
          </a:prstGeom>
        </p:spPr>
      </p:pic>
      <p:pic>
        <p:nvPicPr>
          <p:cNvPr id="25" name="Picture 24" descr="A tube of face wash next to a jar of cream&#10;&#10;AI-generated content may be incorrect.">
            <a:extLst>
              <a:ext uri="{FF2B5EF4-FFF2-40B4-BE49-F238E27FC236}">
                <a16:creationId xmlns:a16="http://schemas.microsoft.com/office/drawing/2014/main" id="{32E5CD6C-8EE3-C160-2114-6BCB81861D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22" y="-5264212"/>
            <a:ext cx="769835" cy="872110"/>
          </a:xfrm>
          <a:prstGeom prst="rect">
            <a:avLst/>
          </a:prstGeom>
        </p:spPr>
      </p:pic>
      <p:pic>
        <p:nvPicPr>
          <p:cNvPr id="26" name="Picture 25" descr="A group of light bulbs&#10;&#10;AI-generated content may be incorrect.">
            <a:extLst>
              <a:ext uri="{FF2B5EF4-FFF2-40B4-BE49-F238E27FC236}">
                <a16:creationId xmlns:a16="http://schemas.microsoft.com/office/drawing/2014/main" id="{8FECE5C3-BEC1-1EF3-A538-31EE757C4A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53" y="-4874167"/>
            <a:ext cx="843313" cy="867408"/>
          </a:xfrm>
          <a:prstGeom prst="rect">
            <a:avLst/>
          </a:prstGeom>
        </p:spPr>
      </p:pic>
      <p:pic>
        <p:nvPicPr>
          <p:cNvPr id="27" name="Picture 26" descr="A close up of a watch&#10;&#10;AI-generated content may be incorrect.">
            <a:extLst>
              <a:ext uri="{FF2B5EF4-FFF2-40B4-BE49-F238E27FC236}">
                <a16:creationId xmlns:a16="http://schemas.microsoft.com/office/drawing/2014/main" id="{475C7E1C-5C1C-7EE2-4192-1E4F83BA97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77" y="-1562541"/>
            <a:ext cx="769834" cy="867408"/>
          </a:xfrm>
          <a:prstGeom prst="rect">
            <a:avLst/>
          </a:prstGeom>
        </p:spPr>
      </p:pic>
      <p:pic>
        <p:nvPicPr>
          <p:cNvPr id="28" name="Picture 27" descr="A red pan with a lid&#10;&#10;AI-generated content may be incorrect.">
            <a:extLst>
              <a:ext uri="{FF2B5EF4-FFF2-40B4-BE49-F238E27FC236}">
                <a16:creationId xmlns:a16="http://schemas.microsoft.com/office/drawing/2014/main" id="{20D9D9AD-5DC5-D2F6-0124-0615E5682C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05" y="-1991822"/>
            <a:ext cx="945111" cy="429281"/>
          </a:xfrm>
          <a:prstGeom prst="rect">
            <a:avLst/>
          </a:prstGeom>
        </p:spPr>
      </p:pic>
      <p:pic>
        <p:nvPicPr>
          <p:cNvPr id="29" name="Picture 28" descr="A red coffee mug with a picture of people in a car&#10;&#10;AI-generated content may be incorrect.">
            <a:extLst>
              <a:ext uri="{FF2B5EF4-FFF2-40B4-BE49-F238E27FC236}">
                <a16:creationId xmlns:a16="http://schemas.microsoft.com/office/drawing/2014/main" id="{98C36713-A9C1-2ACC-18F0-927C9BFAA2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15" y="-1713056"/>
            <a:ext cx="818415" cy="767078"/>
          </a:xfrm>
          <a:prstGeom prst="rect">
            <a:avLst/>
          </a:prstGeom>
        </p:spPr>
      </p:pic>
      <p:pic>
        <p:nvPicPr>
          <p:cNvPr id="30" name="Picture 29" descr="A close-up of a jewelry box&#10;&#10;AI-generated content may be incorrect.">
            <a:extLst>
              <a:ext uri="{FF2B5EF4-FFF2-40B4-BE49-F238E27FC236}">
                <a16:creationId xmlns:a16="http://schemas.microsoft.com/office/drawing/2014/main" id="{A3159CC2-EFA6-2FBA-F243-BF5E112A57C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77" y="-4188591"/>
            <a:ext cx="991944" cy="787243"/>
          </a:xfrm>
          <a:prstGeom prst="rect">
            <a:avLst/>
          </a:prstGeom>
        </p:spPr>
      </p:pic>
      <p:pic>
        <p:nvPicPr>
          <p:cNvPr id="31" name="Picture 30" descr="A black curtains in a room&#10;&#10;AI-generated content may be incorrect.">
            <a:extLst>
              <a:ext uri="{FF2B5EF4-FFF2-40B4-BE49-F238E27FC236}">
                <a16:creationId xmlns:a16="http://schemas.microsoft.com/office/drawing/2014/main" id="{E145A7E0-2FD4-3626-9D55-07332183332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29" y="-4782380"/>
            <a:ext cx="789542" cy="892919"/>
          </a:xfrm>
          <a:prstGeom prst="rect">
            <a:avLst/>
          </a:prstGeom>
        </p:spPr>
      </p:pic>
      <p:pic>
        <p:nvPicPr>
          <p:cNvPr id="32" name="Picture 31" descr="Several different colored baby clothes&#10;&#10;AI-generated content may be incorrect.">
            <a:extLst>
              <a:ext uri="{FF2B5EF4-FFF2-40B4-BE49-F238E27FC236}">
                <a16:creationId xmlns:a16="http://schemas.microsoft.com/office/drawing/2014/main" id="{C6A690E7-3213-3791-E068-989CA6C368F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4" y="-4132085"/>
            <a:ext cx="683229" cy="742693"/>
          </a:xfrm>
          <a:prstGeom prst="rect">
            <a:avLst/>
          </a:prstGeom>
        </p:spPr>
      </p:pic>
      <p:pic>
        <p:nvPicPr>
          <p:cNvPr id="33" name="Picture 32" descr="A brown and gold chest of drawers&#10;&#10;AI-generated content may be incorrect.">
            <a:extLst>
              <a:ext uri="{FF2B5EF4-FFF2-40B4-BE49-F238E27FC236}">
                <a16:creationId xmlns:a16="http://schemas.microsoft.com/office/drawing/2014/main" id="{2903F799-027D-0666-2347-02F143FF305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25" y="-2869358"/>
            <a:ext cx="704386" cy="777726"/>
          </a:xfrm>
          <a:prstGeom prst="rect">
            <a:avLst/>
          </a:prstGeom>
        </p:spPr>
      </p:pic>
      <p:pic>
        <p:nvPicPr>
          <p:cNvPr id="34" name="Picture 33" descr="A white hat with a pink trim&#10;&#10;AI-generated content may be incorrect.">
            <a:extLst>
              <a:ext uri="{FF2B5EF4-FFF2-40B4-BE49-F238E27FC236}">
                <a16:creationId xmlns:a16="http://schemas.microsoft.com/office/drawing/2014/main" id="{CF152903-BF6B-DDCC-3376-C78ACEDC277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332" y="-2316632"/>
            <a:ext cx="1127631" cy="450000"/>
          </a:xfrm>
          <a:prstGeom prst="rect">
            <a:avLst/>
          </a:prstGeom>
        </p:spPr>
      </p:pic>
      <p:pic>
        <p:nvPicPr>
          <p:cNvPr id="35" name="Picture 34" descr="A group of black and yellow spray cans&#10;&#10;AI-generated content may be incorrect.">
            <a:extLst>
              <a:ext uri="{FF2B5EF4-FFF2-40B4-BE49-F238E27FC236}">
                <a16:creationId xmlns:a16="http://schemas.microsoft.com/office/drawing/2014/main" id="{FF4DB379-CFB2-4788-0092-B252F51066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91" y="-3531182"/>
            <a:ext cx="811141" cy="937243"/>
          </a:xfrm>
          <a:prstGeom prst="rect">
            <a:avLst/>
          </a:prstGeom>
        </p:spPr>
      </p:pic>
      <p:pic>
        <p:nvPicPr>
          <p:cNvPr id="36" name="Picture 35" descr="A statue of a cow and calf&#10;&#10;AI-generated content may be incorrect.">
            <a:extLst>
              <a:ext uri="{FF2B5EF4-FFF2-40B4-BE49-F238E27FC236}">
                <a16:creationId xmlns:a16="http://schemas.microsoft.com/office/drawing/2014/main" id="{D52FC33C-4836-ADA7-14BB-148A1C4596C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881" y="-3205889"/>
            <a:ext cx="986559" cy="841266"/>
          </a:xfrm>
          <a:prstGeom prst="rect">
            <a:avLst/>
          </a:prstGeom>
        </p:spPr>
      </p:pic>
      <p:pic>
        <p:nvPicPr>
          <p:cNvPr id="37" name="Picture 36" descr="A yellow baby bib with a duck face&#10;&#10;AI-generated content may be incorrect.">
            <a:extLst>
              <a:ext uri="{FF2B5EF4-FFF2-40B4-BE49-F238E27FC236}">
                <a16:creationId xmlns:a16="http://schemas.microsoft.com/office/drawing/2014/main" id="{14E2DB11-458C-CBF3-6266-7A00089823B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22" y="-1755985"/>
            <a:ext cx="614696" cy="7899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07F0133-AE24-BB60-D968-C0B32C9E1D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7399" y="-2906359"/>
            <a:ext cx="647207" cy="64720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7ED5ED8-E392-79A3-4605-13686237EDAB}"/>
              </a:ext>
            </a:extLst>
          </p:cNvPr>
          <p:cNvSpPr txBox="1"/>
          <p:nvPr/>
        </p:nvSpPr>
        <p:spPr>
          <a:xfrm>
            <a:off x="9788287" y="-2906359"/>
            <a:ext cx="158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lignes</a:t>
            </a:r>
          </a:p>
          <a:p>
            <a:r>
              <a:rPr lang="fr-FR" dirty="0"/>
              <a:t>15 colonnes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82D95E-98DF-16D9-F193-23361CA72E05}"/>
              </a:ext>
            </a:extLst>
          </p:cNvPr>
          <p:cNvSpPr txBox="1"/>
          <p:nvPr/>
        </p:nvSpPr>
        <p:spPr>
          <a:xfrm>
            <a:off x="9325680" y="-1779850"/>
            <a:ext cx="24932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Nom produit, prix, catégorie, description, marque…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Taux de remplissage : 97.83%</a:t>
            </a:r>
          </a:p>
          <a:p>
            <a:pPr algn="ctr"/>
            <a:r>
              <a:rPr lang="fr-FR" sz="1400" dirty="0"/>
              <a:t>Aucun doublon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06C7953-9A35-01C2-7BAA-29E178D54916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10572304" y="-2260028"/>
            <a:ext cx="7011" cy="48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63D97F6-0300-7406-0090-361579E0BE81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0436226-464E-761E-9A71-15E3C48F6B42}"/>
              </a:ext>
            </a:extLst>
          </p:cNvPr>
          <p:cNvGraphicFramePr/>
          <p:nvPr/>
        </p:nvGraphicFramePr>
        <p:xfrm>
          <a:off x="2955781" y="1274230"/>
          <a:ext cx="1357655" cy="4799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772D88C-E842-C311-E1A7-29D70E0E6E7A}"/>
              </a:ext>
            </a:extLst>
          </p:cNvPr>
          <p:cNvSpPr txBox="1"/>
          <p:nvPr/>
        </p:nvSpPr>
        <p:spPr>
          <a:xfrm>
            <a:off x="4376444" y="1281724"/>
            <a:ext cx="7442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Suppression des </a:t>
            </a:r>
            <a:r>
              <a:rPr lang="fr-FR" sz="1200" b="1" dirty="0"/>
              <a:t>anomalies</a:t>
            </a:r>
            <a:r>
              <a:rPr lang="fr-FR" sz="1200" dirty="0"/>
              <a:t> (DAYS_EMPLOYED = 365243), des </a:t>
            </a:r>
            <a:r>
              <a:rPr lang="fr-FR" sz="1200" b="1" dirty="0"/>
              <a:t>valeurs aberrantes </a:t>
            </a:r>
            <a:r>
              <a:rPr lang="fr-FR" sz="1200" dirty="0"/>
              <a:t>(CODE_GENDER = ‘XNA’), remplacement des </a:t>
            </a:r>
            <a:r>
              <a:rPr lang="fr-FR" sz="1200" b="1" dirty="0"/>
              <a:t>infinis</a:t>
            </a:r>
            <a:r>
              <a:rPr lang="fr-FR" sz="1200" dirty="0"/>
              <a:t>, </a:t>
            </a:r>
            <a:r>
              <a:rPr lang="fr-FR" sz="1200" b="1" dirty="0"/>
              <a:t>normalisation</a:t>
            </a:r>
            <a:r>
              <a:rPr lang="fr-FR" sz="1200" dirty="0"/>
              <a:t> des types de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6A1E7F-BB8A-34AB-461F-4A08302C8850}"/>
              </a:ext>
            </a:extLst>
          </p:cNvPr>
          <p:cNvSpPr txBox="1"/>
          <p:nvPr/>
        </p:nvSpPr>
        <p:spPr>
          <a:xfrm>
            <a:off x="4382732" y="2840543"/>
            <a:ext cx="7004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Factorisation des variables binaires, OHE sur les autres variables catégorielles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6005E3-7587-085E-7216-C7E9BDD3AB30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fr-FR" sz="2000" dirty="0">
                <a:latin typeface="DM Serif Text" pitchFamily="2" charset="0"/>
              </a:rPr>
              <a:t>Pipeline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43918A-D5D2-A204-66AF-9C3807873B80}"/>
              </a:ext>
            </a:extLst>
          </p:cNvPr>
          <p:cNvSpPr txBox="1"/>
          <p:nvPr/>
        </p:nvSpPr>
        <p:spPr>
          <a:xfrm>
            <a:off x="4562916" y="3022256"/>
            <a:ext cx="2185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'NAME_CONTRACT_TYPE', 'CODE_GENDER'</a:t>
            </a:r>
          </a:p>
          <a:p>
            <a:endParaRPr lang="fr-FR" sz="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7A49F9-7AC5-CEA4-C695-8A0D97EE3F73}"/>
              </a:ext>
            </a:extLst>
          </p:cNvPr>
          <p:cNvSpPr txBox="1"/>
          <p:nvPr/>
        </p:nvSpPr>
        <p:spPr>
          <a:xfrm>
            <a:off x="6985525" y="3039881"/>
            <a:ext cx="2351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‘ELEVATORS_MODE’, ‘ENTRANCES_MODE’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27A2DE-6FC9-558C-EFDB-D401E59FF219}"/>
              </a:ext>
            </a:extLst>
          </p:cNvPr>
          <p:cNvSpPr/>
          <p:nvPr/>
        </p:nvSpPr>
        <p:spPr>
          <a:xfrm>
            <a:off x="2903826" y="3428999"/>
            <a:ext cx="1607135" cy="30481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62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19744A72-EA36-0A8E-B98E-05B4FB0E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2B94DB-9CE5-FA5B-A056-45FA83F2FBE1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69D23-BD3A-30B2-F7A6-FC9BC0FF6784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B637C0-828D-2136-1107-39F2594054F5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8E4FB-40C8-F98D-1FA7-BCFFB3EEE298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7DC1B681-516D-EEBA-01D8-CCC30C9896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38418D6-5095-BD38-0167-5370245E2F23}"/>
              </a:ext>
            </a:extLst>
          </p:cNvPr>
          <p:cNvSpPr txBox="1"/>
          <p:nvPr/>
        </p:nvSpPr>
        <p:spPr>
          <a:xfrm>
            <a:off x="370346" y="-341069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7B4795-954C-9A25-637D-90D0C2B7F8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2766" y="-3767597"/>
            <a:ext cx="647207" cy="6472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C65F498-2BE5-A9D8-2F12-A480E8026DBB}"/>
              </a:ext>
            </a:extLst>
          </p:cNvPr>
          <p:cNvSpPr txBox="1"/>
          <p:nvPr/>
        </p:nvSpPr>
        <p:spPr>
          <a:xfrm>
            <a:off x="9724606" y="-3628660"/>
            <a:ext cx="199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images </a:t>
            </a:r>
          </a:p>
        </p:txBody>
      </p:sp>
      <p:pic>
        <p:nvPicPr>
          <p:cNvPr id="23" name="Picture 22" descr="A pink leather case with a keyboard&#10;&#10;AI-generated content may be incorrect.">
            <a:extLst>
              <a:ext uri="{FF2B5EF4-FFF2-40B4-BE49-F238E27FC236}">
                <a16:creationId xmlns:a16="http://schemas.microsoft.com/office/drawing/2014/main" id="{5859EAFA-283E-9742-B876-E386F8B111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77" y="-5342027"/>
            <a:ext cx="690815" cy="789913"/>
          </a:xfrm>
          <a:prstGeom prst="rect">
            <a:avLst/>
          </a:prstGeom>
        </p:spPr>
      </p:pic>
      <p:pic>
        <p:nvPicPr>
          <p:cNvPr id="25" name="Picture 24" descr="A tube of face wash next to a jar of cream&#10;&#10;AI-generated content may be incorrect.">
            <a:extLst>
              <a:ext uri="{FF2B5EF4-FFF2-40B4-BE49-F238E27FC236}">
                <a16:creationId xmlns:a16="http://schemas.microsoft.com/office/drawing/2014/main" id="{AF5A1406-7DD9-8AA7-BE8F-736B16B8DE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22" y="-5264212"/>
            <a:ext cx="769835" cy="872110"/>
          </a:xfrm>
          <a:prstGeom prst="rect">
            <a:avLst/>
          </a:prstGeom>
        </p:spPr>
      </p:pic>
      <p:pic>
        <p:nvPicPr>
          <p:cNvPr id="26" name="Picture 25" descr="A group of light bulbs&#10;&#10;AI-generated content may be incorrect.">
            <a:extLst>
              <a:ext uri="{FF2B5EF4-FFF2-40B4-BE49-F238E27FC236}">
                <a16:creationId xmlns:a16="http://schemas.microsoft.com/office/drawing/2014/main" id="{AFECA740-849E-9228-2FC7-8A2D9FC939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53" y="-4874167"/>
            <a:ext cx="843313" cy="867408"/>
          </a:xfrm>
          <a:prstGeom prst="rect">
            <a:avLst/>
          </a:prstGeom>
        </p:spPr>
      </p:pic>
      <p:pic>
        <p:nvPicPr>
          <p:cNvPr id="27" name="Picture 26" descr="A close up of a watch&#10;&#10;AI-generated content may be incorrect.">
            <a:extLst>
              <a:ext uri="{FF2B5EF4-FFF2-40B4-BE49-F238E27FC236}">
                <a16:creationId xmlns:a16="http://schemas.microsoft.com/office/drawing/2014/main" id="{D4D4E7C1-0A7F-B6ED-F1FF-5134BF6E13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77" y="-1562541"/>
            <a:ext cx="769834" cy="867408"/>
          </a:xfrm>
          <a:prstGeom prst="rect">
            <a:avLst/>
          </a:prstGeom>
        </p:spPr>
      </p:pic>
      <p:pic>
        <p:nvPicPr>
          <p:cNvPr id="28" name="Picture 27" descr="A red pan with a lid&#10;&#10;AI-generated content may be incorrect.">
            <a:extLst>
              <a:ext uri="{FF2B5EF4-FFF2-40B4-BE49-F238E27FC236}">
                <a16:creationId xmlns:a16="http://schemas.microsoft.com/office/drawing/2014/main" id="{AC9FE8CB-68EE-CCF8-9ECF-9768E647BF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05" y="-1991822"/>
            <a:ext cx="945111" cy="429281"/>
          </a:xfrm>
          <a:prstGeom prst="rect">
            <a:avLst/>
          </a:prstGeom>
        </p:spPr>
      </p:pic>
      <p:pic>
        <p:nvPicPr>
          <p:cNvPr id="29" name="Picture 28" descr="A red coffee mug with a picture of people in a car&#10;&#10;AI-generated content may be incorrect.">
            <a:extLst>
              <a:ext uri="{FF2B5EF4-FFF2-40B4-BE49-F238E27FC236}">
                <a16:creationId xmlns:a16="http://schemas.microsoft.com/office/drawing/2014/main" id="{44EC3B59-AD64-9BB8-F61D-AD9F68D3EF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15" y="-1713056"/>
            <a:ext cx="818415" cy="767078"/>
          </a:xfrm>
          <a:prstGeom prst="rect">
            <a:avLst/>
          </a:prstGeom>
        </p:spPr>
      </p:pic>
      <p:pic>
        <p:nvPicPr>
          <p:cNvPr id="30" name="Picture 29" descr="A close-up of a jewelry box&#10;&#10;AI-generated content may be incorrect.">
            <a:extLst>
              <a:ext uri="{FF2B5EF4-FFF2-40B4-BE49-F238E27FC236}">
                <a16:creationId xmlns:a16="http://schemas.microsoft.com/office/drawing/2014/main" id="{91C2D9BF-9A56-2012-B20C-130F0DFB78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77" y="-4188591"/>
            <a:ext cx="991944" cy="787243"/>
          </a:xfrm>
          <a:prstGeom prst="rect">
            <a:avLst/>
          </a:prstGeom>
        </p:spPr>
      </p:pic>
      <p:pic>
        <p:nvPicPr>
          <p:cNvPr id="31" name="Picture 30" descr="A black curtains in a room&#10;&#10;AI-generated content may be incorrect.">
            <a:extLst>
              <a:ext uri="{FF2B5EF4-FFF2-40B4-BE49-F238E27FC236}">
                <a16:creationId xmlns:a16="http://schemas.microsoft.com/office/drawing/2014/main" id="{C6E7CD18-C545-C726-8BC4-05145C61C2A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29" y="-4782380"/>
            <a:ext cx="789542" cy="892919"/>
          </a:xfrm>
          <a:prstGeom prst="rect">
            <a:avLst/>
          </a:prstGeom>
        </p:spPr>
      </p:pic>
      <p:pic>
        <p:nvPicPr>
          <p:cNvPr id="32" name="Picture 31" descr="Several different colored baby clothes&#10;&#10;AI-generated content may be incorrect.">
            <a:extLst>
              <a:ext uri="{FF2B5EF4-FFF2-40B4-BE49-F238E27FC236}">
                <a16:creationId xmlns:a16="http://schemas.microsoft.com/office/drawing/2014/main" id="{55A57748-C1DC-98F9-DC9A-7F630C3C23B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4" y="-4132085"/>
            <a:ext cx="683229" cy="742693"/>
          </a:xfrm>
          <a:prstGeom prst="rect">
            <a:avLst/>
          </a:prstGeom>
        </p:spPr>
      </p:pic>
      <p:pic>
        <p:nvPicPr>
          <p:cNvPr id="33" name="Picture 32" descr="A brown and gold chest of drawers&#10;&#10;AI-generated content may be incorrect.">
            <a:extLst>
              <a:ext uri="{FF2B5EF4-FFF2-40B4-BE49-F238E27FC236}">
                <a16:creationId xmlns:a16="http://schemas.microsoft.com/office/drawing/2014/main" id="{C3558502-3183-55F5-D83E-52E14CAD33C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25" y="-2869358"/>
            <a:ext cx="704386" cy="777726"/>
          </a:xfrm>
          <a:prstGeom prst="rect">
            <a:avLst/>
          </a:prstGeom>
        </p:spPr>
      </p:pic>
      <p:pic>
        <p:nvPicPr>
          <p:cNvPr id="34" name="Picture 33" descr="A white hat with a pink trim&#10;&#10;AI-generated content may be incorrect.">
            <a:extLst>
              <a:ext uri="{FF2B5EF4-FFF2-40B4-BE49-F238E27FC236}">
                <a16:creationId xmlns:a16="http://schemas.microsoft.com/office/drawing/2014/main" id="{FE0601BB-1A3F-4B68-65F2-231C765E851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332" y="-2316632"/>
            <a:ext cx="1127631" cy="450000"/>
          </a:xfrm>
          <a:prstGeom prst="rect">
            <a:avLst/>
          </a:prstGeom>
        </p:spPr>
      </p:pic>
      <p:pic>
        <p:nvPicPr>
          <p:cNvPr id="35" name="Picture 34" descr="A group of black and yellow spray cans&#10;&#10;AI-generated content may be incorrect.">
            <a:extLst>
              <a:ext uri="{FF2B5EF4-FFF2-40B4-BE49-F238E27FC236}">
                <a16:creationId xmlns:a16="http://schemas.microsoft.com/office/drawing/2014/main" id="{94BE39A7-E128-5DB3-CE18-1C23E9CFC64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91" y="-3531182"/>
            <a:ext cx="811141" cy="937243"/>
          </a:xfrm>
          <a:prstGeom prst="rect">
            <a:avLst/>
          </a:prstGeom>
        </p:spPr>
      </p:pic>
      <p:pic>
        <p:nvPicPr>
          <p:cNvPr id="36" name="Picture 35" descr="A statue of a cow and calf&#10;&#10;AI-generated content may be incorrect.">
            <a:extLst>
              <a:ext uri="{FF2B5EF4-FFF2-40B4-BE49-F238E27FC236}">
                <a16:creationId xmlns:a16="http://schemas.microsoft.com/office/drawing/2014/main" id="{48E05D5E-AB10-C0CD-C7DF-D80678BC3B8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881" y="-3205889"/>
            <a:ext cx="986559" cy="841266"/>
          </a:xfrm>
          <a:prstGeom prst="rect">
            <a:avLst/>
          </a:prstGeom>
        </p:spPr>
      </p:pic>
      <p:pic>
        <p:nvPicPr>
          <p:cNvPr id="37" name="Picture 36" descr="A yellow baby bib with a duck face&#10;&#10;AI-generated content may be incorrect.">
            <a:extLst>
              <a:ext uri="{FF2B5EF4-FFF2-40B4-BE49-F238E27FC236}">
                <a16:creationId xmlns:a16="http://schemas.microsoft.com/office/drawing/2014/main" id="{F846E626-0C1E-E087-6830-6DDF39DC000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22" y="-1755985"/>
            <a:ext cx="614696" cy="7899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994B133-F10B-2711-34D2-A5BDC0E4766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7399" y="-2906359"/>
            <a:ext cx="647207" cy="64720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4F7718E-F0BD-3265-AEAF-9B1CA8C855DD}"/>
              </a:ext>
            </a:extLst>
          </p:cNvPr>
          <p:cNvSpPr txBox="1"/>
          <p:nvPr/>
        </p:nvSpPr>
        <p:spPr>
          <a:xfrm>
            <a:off x="9788287" y="-2906359"/>
            <a:ext cx="158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lignes</a:t>
            </a:r>
          </a:p>
          <a:p>
            <a:r>
              <a:rPr lang="fr-FR" dirty="0"/>
              <a:t>15 colonnes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F0CA86-2958-9032-CC9E-EF9BD59B3758}"/>
              </a:ext>
            </a:extLst>
          </p:cNvPr>
          <p:cNvSpPr txBox="1"/>
          <p:nvPr/>
        </p:nvSpPr>
        <p:spPr>
          <a:xfrm>
            <a:off x="9325680" y="-1779850"/>
            <a:ext cx="24932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Nom produit, prix, catégorie, description, marque…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Taux de remplissage : 97.83%</a:t>
            </a:r>
          </a:p>
          <a:p>
            <a:pPr algn="ctr"/>
            <a:r>
              <a:rPr lang="fr-FR" sz="1400" dirty="0"/>
              <a:t>Aucun doublon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2E6E87C-19AB-6839-725C-D83B91C8419F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10572304" y="-2260028"/>
            <a:ext cx="7011" cy="48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B9B9F81-27D7-6F90-5B6F-250B0EFAE7C6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C1352A5-18C5-00DC-0618-398C0922FD5E}"/>
              </a:ext>
            </a:extLst>
          </p:cNvPr>
          <p:cNvGraphicFramePr/>
          <p:nvPr/>
        </p:nvGraphicFramePr>
        <p:xfrm>
          <a:off x="2955781" y="1274230"/>
          <a:ext cx="1357655" cy="4799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3A61EE-B632-88FF-6D73-AF1A0C6775F2}"/>
              </a:ext>
            </a:extLst>
          </p:cNvPr>
          <p:cNvSpPr txBox="1"/>
          <p:nvPr/>
        </p:nvSpPr>
        <p:spPr>
          <a:xfrm>
            <a:off x="4376444" y="1281724"/>
            <a:ext cx="7442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Suppression des </a:t>
            </a:r>
            <a:r>
              <a:rPr lang="fr-FR" sz="1200" b="1" dirty="0"/>
              <a:t>anomalies</a:t>
            </a:r>
            <a:r>
              <a:rPr lang="fr-FR" sz="1200" dirty="0"/>
              <a:t> (DAYS_EMPLOYED = 365243), des </a:t>
            </a:r>
            <a:r>
              <a:rPr lang="fr-FR" sz="1200" b="1" dirty="0"/>
              <a:t>valeurs aberrantes </a:t>
            </a:r>
            <a:r>
              <a:rPr lang="fr-FR" sz="1200" dirty="0"/>
              <a:t>(CODE_GENDER = ‘XNA’), remplacement des </a:t>
            </a:r>
            <a:r>
              <a:rPr lang="fr-FR" sz="1200" b="1" dirty="0"/>
              <a:t>infinis</a:t>
            </a:r>
            <a:r>
              <a:rPr lang="fr-FR" sz="1200" dirty="0"/>
              <a:t>, </a:t>
            </a:r>
            <a:r>
              <a:rPr lang="fr-FR" sz="1200" b="1" dirty="0"/>
              <a:t>normalisation</a:t>
            </a:r>
            <a:r>
              <a:rPr lang="fr-FR" sz="1200" dirty="0"/>
              <a:t> des types de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29C4C-EBA0-4574-3013-914AE2E9880D}"/>
              </a:ext>
            </a:extLst>
          </p:cNvPr>
          <p:cNvSpPr txBox="1"/>
          <p:nvPr/>
        </p:nvSpPr>
        <p:spPr>
          <a:xfrm>
            <a:off x="4382732" y="2840543"/>
            <a:ext cx="7004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Factorisation des variables binaires, OHE sur les autres variables catégorielles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1690A8-0AC2-55F7-2C49-D674CE78D0AE}"/>
              </a:ext>
            </a:extLst>
          </p:cNvPr>
          <p:cNvSpPr txBox="1"/>
          <p:nvPr/>
        </p:nvSpPr>
        <p:spPr>
          <a:xfrm>
            <a:off x="4379115" y="3535460"/>
            <a:ext cx="7004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Création de nouvelles variables de ratio, ajout de variables de comportement et d’âge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6A8F92-AE97-AB96-BBA2-BCEB5543FAC1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fr-FR" sz="2000" dirty="0">
                <a:latin typeface="DM Serif Text" pitchFamily="2" charset="0"/>
              </a:rPr>
              <a:t>Pipeline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428DD1-9D92-1853-FC66-FDFC1DA5F00B}"/>
              </a:ext>
            </a:extLst>
          </p:cNvPr>
          <p:cNvSpPr txBox="1"/>
          <p:nvPr/>
        </p:nvSpPr>
        <p:spPr>
          <a:xfrm>
            <a:off x="4562916" y="3022256"/>
            <a:ext cx="2185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'NAME_CONTRACT_TYPE', 'CODE_GENDER'</a:t>
            </a:r>
          </a:p>
          <a:p>
            <a:endParaRPr lang="fr-FR" sz="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19A161-190A-03BF-2D4E-D3DCC8BD1A84}"/>
              </a:ext>
            </a:extLst>
          </p:cNvPr>
          <p:cNvSpPr txBox="1"/>
          <p:nvPr/>
        </p:nvSpPr>
        <p:spPr>
          <a:xfrm>
            <a:off x="6985525" y="3039881"/>
            <a:ext cx="2351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‘ELEVATORS_MODE’, ‘ENTRANCES_MODE’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38637C-2ADA-594D-BC8D-BB1BDADCE5AF}"/>
              </a:ext>
            </a:extLst>
          </p:cNvPr>
          <p:cNvSpPr txBox="1"/>
          <p:nvPr/>
        </p:nvSpPr>
        <p:spPr>
          <a:xfrm>
            <a:off x="4331763" y="3705818"/>
            <a:ext cx="3386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/>
              <a:t>['INCOME_CREDIT_PERC'] = ['AMT_INCOME_TOTAL'] / ['AMT_CREDIT']</a:t>
            </a:r>
          </a:p>
          <a:p>
            <a:endParaRPr lang="fr-FR" sz="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1B5CAC-5183-5DDC-C49C-00B4EF4596A6}"/>
              </a:ext>
            </a:extLst>
          </p:cNvPr>
          <p:cNvSpPr/>
          <p:nvPr/>
        </p:nvSpPr>
        <p:spPr>
          <a:xfrm>
            <a:off x="2903826" y="4175722"/>
            <a:ext cx="1607135" cy="23845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9882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0E29F5AB-793A-07B3-E93D-EA133468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99715AB-B0B7-7EC0-718E-8B311ECF128A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80A494-FC07-F9E7-C7B6-315FFB0B3AAC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7AC0DA-2AF8-0FF2-6151-91B7667C1823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8E6998-EA6D-8544-9569-D492357AAF89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D7EA4010-A7E0-D265-0571-3EA5641A1F0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C437A68-0A83-F97B-46E2-1A17A42216F1}"/>
              </a:ext>
            </a:extLst>
          </p:cNvPr>
          <p:cNvSpPr txBox="1"/>
          <p:nvPr/>
        </p:nvSpPr>
        <p:spPr>
          <a:xfrm>
            <a:off x="370346" y="-341069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22C1508-A1A8-856D-216A-762CFAC842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2766" y="-3767597"/>
            <a:ext cx="647207" cy="6472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E58E5B6-DB03-2C7C-BD59-10E7F9774168}"/>
              </a:ext>
            </a:extLst>
          </p:cNvPr>
          <p:cNvSpPr txBox="1"/>
          <p:nvPr/>
        </p:nvSpPr>
        <p:spPr>
          <a:xfrm>
            <a:off x="9724606" y="-3628660"/>
            <a:ext cx="199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images </a:t>
            </a:r>
          </a:p>
        </p:txBody>
      </p:sp>
      <p:pic>
        <p:nvPicPr>
          <p:cNvPr id="23" name="Picture 22" descr="A pink leather case with a keyboard&#10;&#10;AI-generated content may be incorrect.">
            <a:extLst>
              <a:ext uri="{FF2B5EF4-FFF2-40B4-BE49-F238E27FC236}">
                <a16:creationId xmlns:a16="http://schemas.microsoft.com/office/drawing/2014/main" id="{5D87D3A5-1F08-F361-78B3-88974D233F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77" y="-5342027"/>
            <a:ext cx="690815" cy="789913"/>
          </a:xfrm>
          <a:prstGeom prst="rect">
            <a:avLst/>
          </a:prstGeom>
        </p:spPr>
      </p:pic>
      <p:pic>
        <p:nvPicPr>
          <p:cNvPr id="25" name="Picture 24" descr="A tube of face wash next to a jar of cream&#10;&#10;AI-generated content may be incorrect.">
            <a:extLst>
              <a:ext uri="{FF2B5EF4-FFF2-40B4-BE49-F238E27FC236}">
                <a16:creationId xmlns:a16="http://schemas.microsoft.com/office/drawing/2014/main" id="{1CFEB122-2CC4-5BA0-8641-BDB5AB65D9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22" y="-5264212"/>
            <a:ext cx="769835" cy="872110"/>
          </a:xfrm>
          <a:prstGeom prst="rect">
            <a:avLst/>
          </a:prstGeom>
        </p:spPr>
      </p:pic>
      <p:pic>
        <p:nvPicPr>
          <p:cNvPr id="26" name="Picture 25" descr="A group of light bulbs&#10;&#10;AI-generated content may be incorrect.">
            <a:extLst>
              <a:ext uri="{FF2B5EF4-FFF2-40B4-BE49-F238E27FC236}">
                <a16:creationId xmlns:a16="http://schemas.microsoft.com/office/drawing/2014/main" id="{3A438A88-4E37-1CC0-373C-56F0107D00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53" y="-4874167"/>
            <a:ext cx="843313" cy="867408"/>
          </a:xfrm>
          <a:prstGeom prst="rect">
            <a:avLst/>
          </a:prstGeom>
        </p:spPr>
      </p:pic>
      <p:pic>
        <p:nvPicPr>
          <p:cNvPr id="27" name="Picture 26" descr="A close up of a watch&#10;&#10;AI-generated content may be incorrect.">
            <a:extLst>
              <a:ext uri="{FF2B5EF4-FFF2-40B4-BE49-F238E27FC236}">
                <a16:creationId xmlns:a16="http://schemas.microsoft.com/office/drawing/2014/main" id="{A6AC31D0-8523-2B9A-2CE5-93D7FB2973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77" y="-1562541"/>
            <a:ext cx="769834" cy="867408"/>
          </a:xfrm>
          <a:prstGeom prst="rect">
            <a:avLst/>
          </a:prstGeom>
        </p:spPr>
      </p:pic>
      <p:pic>
        <p:nvPicPr>
          <p:cNvPr id="28" name="Picture 27" descr="A red pan with a lid&#10;&#10;AI-generated content may be incorrect.">
            <a:extLst>
              <a:ext uri="{FF2B5EF4-FFF2-40B4-BE49-F238E27FC236}">
                <a16:creationId xmlns:a16="http://schemas.microsoft.com/office/drawing/2014/main" id="{C3866B83-230F-827B-BAC8-12266C8EB4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05" y="-1991822"/>
            <a:ext cx="945111" cy="429281"/>
          </a:xfrm>
          <a:prstGeom prst="rect">
            <a:avLst/>
          </a:prstGeom>
        </p:spPr>
      </p:pic>
      <p:pic>
        <p:nvPicPr>
          <p:cNvPr id="29" name="Picture 28" descr="A red coffee mug with a picture of people in a car&#10;&#10;AI-generated content may be incorrect.">
            <a:extLst>
              <a:ext uri="{FF2B5EF4-FFF2-40B4-BE49-F238E27FC236}">
                <a16:creationId xmlns:a16="http://schemas.microsoft.com/office/drawing/2014/main" id="{D895675A-0A09-AC5B-4C0B-53C531F550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15" y="-1713056"/>
            <a:ext cx="818415" cy="767078"/>
          </a:xfrm>
          <a:prstGeom prst="rect">
            <a:avLst/>
          </a:prstGeom>
        </p:spPr>
      </p:pic>
      <p:pic>
        <p:nvPicPr>
          <p:cNvPr id="30" name="Picture 29" descr="A close-up of a jewelry box&#10;&#10;AI-generated content may be incorrect.">
            <a:extLst>
              <a:ext uri="{FF2B5EF4-FFF2-40B4-BE49-F238E27FC236}">
                <a16:creationId xmlns:a16="http://schemas.microsoft.com/office/drawing/2014/main" id="{7622D360-3AC1-54FE-677E-32B16AB075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77" y="-4188591"/>
            <a:ext cx="991944" cy="787243"/>
          </a:xfrm>
          <a:prstGeom prst="rect">
            <a:avLst/>
          </a:prstGeom>
        </p:spPr>
      </p:pic>
      <p:pic>
        <p:nvPicPr>
          <p:cNvPr id="31" name="Picture 30" descr="A black curtains in a room&#10;&#10;AI-generated content may be incorrect.">
            <a:extLst>
              <a:ext uri="{FF2B5EF4-FFF2-40B4-BE49-F238E27FC236}">
                <a16:creationId xmlns:a16="http://schemas.microsoft.com/office/drawing/2014/main" id="{64D1B5B5-8E90-2ECB-2F94-734125164A4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29" y="-4782380"/>
            <a:ext cx="789542" cy="892919"/>
          </a:xfrm>
          <a:prstGeom prst="rect">
            <a:avLst/>
          </a:prstGeom>
        </p:spPr>
      </p:pic>
      <p:pic>
        <p:nvPicPr>
          <p:cNvPr id="32" name="Picture 31" descr="Several different colored baby clothes&#10;&#10;AI-generated content may be incorrect.">
            <a:extLst>
              <a:ext uri="{FF2B5EF4-FFF2-40B4-BE49-F238E27FC236}">
                <a16:creationId xmlns:a16="http://schemas.microsoft.com/office/drawing/2014/main" id="{C9342FB1-422F-94CD-052F-E733F58257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4" y="-4132085"/>
            <a:ext cx="683229" cy="742693"/>
          </a:xfrm>
          <a:prstGeom prst="rect">
            <a:avLst/>
          </a:prstGeom>
        </p:spPr>
      </p:pic>
      <p:pic>
        <p:nvPicPr>
          <p:cNvPr id="33" name="Picture 32" descr="A brown and gold chest of drawers&#10;&#10;AI-generated content may be incorrect.">
            <a:extLst>
              <a:ext uri="{FF2B5EF4-FFF2-40B4-BE49-F238E27FC236}">
                <a16:creationId xmlns:a16="http://schemas.microsoft.com/office/drawing/2014/main" id="{0FC74EFA-ECA3-F936-6FC3-3396D38AE7B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25" y="-2869358"/>
            <a:ext cx="704386" cy="777726"/>
          </a:xfrm>
          <a:prstGeom prst="rect">
            <a:avLst/>
          </a:prstGeom>
        </p:spPr>
      </p:pic>
      <p:pic>
        <p:nvPicPr>
          <p:cNvPr id="34" name="Picture 33" descr="A white hat with a pink trim&#10;&#10;AI-generated content may be incorrect.">
            <a:extLst>
              <a:ext uri="{FF2B5EF4-FFF2-40B4-BE49-F238E27FC236}">
                <a16:creationId xmlns:a16="http://schemas.microsoft.com/office/drawing/2014/main" id="{46751935-B954-6415-28D7-16D90B98445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332" y="-2316632"/>
            <a:ext cx="1127631" cy="450000"/>
          </a:xfrm>
          <a:prstGeom prst="rect">
            <a:avLst/>
          </a:prstGeom>
        </p:spPr>
      </p:pic>
      <p:pic>
        <p:nvPicPr>
          <p:cNvPr id="35" name="Picture 34" descr="A group of black and yellow spray cans&#10;&#10;AI-generated content may be incorrect.">
            <a:extLst>
              <a:ext uri="{FF2B5EF4-FFF2-40B4-BE49-F238E27FC236}">
                <a16:creationId xmlns:a16="http://schemas.microsoft.com/office/drawing/2014/main" id="{64A450C2-2DF3-E9BD-2DFA-EB88DB872A5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91" y="-3531182"/>
            <a:ext cx="811141" cy="937243"/>
          </a:xfrm>
          <a:prstGeom prst="rect">
            <a:avLst/>
          </a:prstGeom>
        </p:spPr>
      </p:pic>
      <p:pic>
        <p:nvPicPr>
          <p:cNvPr id="36" name="Picture 35" descr="A statue of a cow and calf&#10;&#10;AI-generated content may be incorrect.">
            <a:extLst>
              <a:ext uri="{FF2B5EF4-FFF2-40B4-BE49-F238E27FC236}">
                <a16:creationId xmlns:a16="http://schemas.microsoft.com/office/drawing/2014/main" id="{B8702A4A-0951-C56E-152A-9CB68A3A435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881" y="-3205889"/>
            <a:ext cx="986559" cy="841266"/>
          </a:xfrm>
          <a:prstGeom prst="rect">
            <a:avLst/>
          </a:prstGeom>
        </p:spPr>
      </p:pic>
      <p:pic>
        <p:nvPicPr>
          <p:cNvPr id="37" name="Picture 36" descr="A yellow baby bib with a duck face&#10;&#10;AI-generated content may be incorrect.">
            <a:extLst>
              <a:ext uri="{FF2B5EF4-FFF2-40B4-BE49-F238E27FC236}">
                <a16:creationId xmlns:a16="http://schemas.microsoft.com/office/drawing/2014/main" id="{BCE2E266-0072-9364-AA7D-8D8FA871662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22" y="-1755985"/>
            <a:ext cx="614696" cy="7899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CF0012E-F9A5-963A-128F-5738AB21D8A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7399" y="-2906359"/>
            <a:ext cx="647207" cy="64720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F879CB7-3BDD-BB7A-4510-BA2E7A8519C9}"/>
              </a:ext>
            </a:extLst>
          </p:cNvPr>
          <p:cNvSpPr txBox="1"/>
          <p:nvPr/>
        </p:nvSpPr>
        <p:spPr>
          <a:xfrm>
            <a:off x="9788287" y="-2906359"/>
            <a:ext cx="158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lignes</a:t>
            </a:r>
          </a:p>
          <a:p>
            <a:r>
              <a:rPr lang="fr-FR" dirty="0"/>
              <a:t>15 colonnes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334F2F-3AD5-1B71-1505-B672F035DC17}"/>
              </a:ext>
            </a:extLst>
          </p:cNvPr>
          <p:cNvSpPr txBox="1"/>
          <p:nvPr/>
        </p:nvSpPr>
        <p:spPr>
          <a:xfrm>
            <a:off x="9325680" y="-1779850"/>
            <a:ext cx="24932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Nom produit, prix, catégorie, description, marque…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Taux de remplissage : 97.83%</a:t>
            </a:r>
          </a:p>
          <a:p>
            <a:pPr algn="ctr"/>
            <a:r>
              <a:rPr lang="fr-FR" sz="1400" dirty="0"/>
              <a:t>Aucun doublon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3BC771F-5943-DC2D-AFF0-D3AB85CB792F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10572304" y="-2260028"/>
            <a:ext cx="7011" cy="48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78CF4B3-6CC0-52BD-2E14-32B4F1DC9FEE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87B5049-A7E5-9CB6-E76B-5477335953BC}"/>
              </a:ext>
            </a:extLst>
          </p:cNvPr>
          <p:cNvGraphicFramePr/>
          <p:nvPr/>
        </p:nvGraphicFramePr>
        <p:xfrm>
          <a:off x="2955781" y="1274230"/>
          <a:ext cx="1357655" cy="4799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43F0B4C-E511-55E6-6EBA-F6DF917233FC}"/>
              </a:ext>
            </a:extLst>
          </p:cNvPr>
          <p:cNvSpPr txBox="1"/>
          <p:nvPr/>
        </p:nvSpPr>
        <p:spPr>
          <a:xfrm>
            <a:off x="4376444" y="1281724"/>
            <a:ext cx="7442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Suppression des </a:t>
            </a:r>
            <a:r>
              <a:rPr lang="fr-FR" sz="1200" b="1" dirty="0"/>
              <a:t>anomalies</a:t>
            </a:r>
            <a:r>
              <a:rPr lang="fr-FR" sz="1200" dirty="0"/>
              <a:t> (DAYS_EMPLOYED = 365243), des </a:t>
            </a:r>
            <a:r>
              <a:rPr lang="fr-FR" sz="1200" b="1" dirty="0"/>
              <a:t>valeurs aberrantes </a:t>
            </a:r>
            <a:r>
              <a:rPr lang="fr-FR" sz="1200" dirty="0"/>
              <a:t>(CODE_GENDER = ‘XNA’), remplacement des </a:t>
            </a:r>
            <a:r>
              <a:rPr lang="fr-FR" sz="1200" b="1" dirty="0"/>
              <a:t>infinis</a:t>
            </a:r>
            <a:r>
              <a:rPr lang="fr-FR" sz="1200" dirty="0"/>
              <a:t>, </a:t>
            </a:r>
            <a:r>
              <a:rPr lang="fr-FR" sz="1200" b="1" dirty="0"/>
              <a:t>normalisation</a:t>
            </a:r>
            <a:r>
              <a:rPr lang="fr-FR" sz="1200" dirty="0"/>
              <a:t> des types de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977E0D-79F2-FFFC-F439-FB0088E4F0E3}"/>
              </a:ext>
            </a:extLst>
          </p:cNvPr>
          <p:cNvSpPr txBox="1"/>
          <p:nvPr/>
        </p:nvSpPr>
        <p:spPr>
          <a:xfrm>
            <a:off x="4382732" y="2840543"/>
            <a:ext cx="7004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Factorisation des variables binaires, OHE sur les autres variables catégorielles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A6E468-5CFD-40FE-C812-42CB455799B2}"/>
              </a:ext>
            </a:extLst>
          </p:cNvPr>
          <p:cNvSpPr txBox="1"/>
          <p:nvPr/>
        </p:nvSpPr>
        <p:spPr>
          <a:xfrm>
            <a:off x="4379115" y="3535460"/>
            <a:ext cx="7004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Création de nouvelles variables de ratio, ajout de variables de comportement et d’âge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51D5D0-EA6E-A4CD-1685-0C6DAB65B92B}"/>
              </a:ext>
            </a:extLst>
          </p:cNvPr>
          <p:cNvSpPr txBox="1"/>
          <p:nvPr/>
        </p:nvSpPr>
        <p:spPr>
          <a:xfrm>
            <a:off x="4465566" y="4183003"/>
            <a:ext cx="7004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Suppression des colonnes comportant &gt;60% de valeurs manquantes, imputation par le mode (choix après plusieurs stratégies testées)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A41D5A-0402-767C-168F-56EC90B9273F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fr-FR" sz="2000" dirty="0">
                <a:latin typeface="DM Serif Text" pitchFamily="2" charset="0"/>
              </a:rPr>
              <a:t>Pipeline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3B6C9B-B420-F781-7D61-2BB071DD8638}"/>
              </a:ext>
            </a:extLst>
          </p:cNvPr>
          <p:cNvSpPr txBox="1"/>
          <p:nvPr/>
        </p:nvSpPr>
        <p:spPr>
          <a:xfrm>
            <a:off x="4562916" y="3022256"/>
            <a:ext cx="2185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'NAME_CONTRACT_TYPE', 'CODE_GENDER'</a:t>
            </a:r>
          </a:p>
          <a:p>
            <a:endParaRPr lang="fr-FR" sz="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18341A-460A-90C8-B346-C09C32837C76}"/>
              </a:ext>
            </a:extLst>
          </p:cNvPr>
          <p:cNvSpPr txBox="1"/>
          <p:nvPr/>
        </p:nvSpPr>
        <p:spPr>
          <a:xfrm>
            <a:off x="6985525" y="3039881"/>
            <a:ext cx="2351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‘ELEVATORS_MODE’, ‘ENTRANCES_MODE’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684AAD-5C0A-0E37-ECF2-C7FBC36F3F16}"/>
              </a:ext>
            </a:extLst>
          </p:cNvPr>
          <p:cNvSpPr txBox="1"/>
          <p:nvPr/>
        </p:nvSpPr>
        <p:spPr>
          <a:xfrm>
            <a:off x="4331763" y="3705818"/>
            <a:ext cx="3386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/>
              <a:t>['INCOME_CREDIT_PERC'] = ['AMT_INCOME_TOTAL'] / ['AMT_CREDIT']</a:t>
            </a:r>
          </a:p>
          <a:p>
            <a:endParaRPr lang="fr-FR" sz="800" dirty="0"/>
          </a:p>
        </p:txBody>
      </p:sp>
      <p:pic>
        <p:nvPicPr>
          <p:cNvPr id="45" name="Picture 4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26A742FA-14B1-7076-3C5D-2C9F67667E9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55440" y="4816457"/>
            <a:ext cx="2971746" cy="6728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819AAA5-C6F4-6410-DB35-0DB4DBF8A36B}"/>
              </a:ext>
            </a:extLst>
          </p:cNvPr>
          <p:cNvSpPr/>
          <p:nvPr/>
        </p:nvSpPr>
        <p:spPr>
          <a:xfrm>
            <a:off x="2903826" y="4888592"/>
            <a:ext cx="1607135" cy="16506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7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83ACD4E3-946D-0934-37EE-31FDD6942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FF359A3-B140-4402-BCCB-23D99E9A5502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E1BF6-7233-5AFE-51CC-DE72B76D44B9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FBF206-EC55-F462-0505-D1605C38A3FC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FFB0F2-5870-6857-78DC-8498E4F7B3C9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66EA4255-703C-E203-7559-8020C5AC70D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A31406D-7394-A886-8241-F3B157F0E526}"/>
              </a:ext>
            </a:extLst>
          </p:cNvPr>
          <p:cNvSpPr txBox="1"/>
          <p:nvPr/>
        </p:nvSpPr>
        <p:spPr>
          <a:xfrm>
            <a:off x="370346" y="-341069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4069911-6138-64DA-BD45-DA49A9A423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2766" y="-3767597"/>
            <a:ext cx="647207" cy="6472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690A791-4E29-28D6-9F9E-D164671F846F}"/>
              </a:ext>
            </a:extLst>
          </p:cNvPr>
          <p:cNvSpPr txBox="1"/>
          <p:nvPr/>
        </p:nvSpPr>
        <p:spPr>
          <a:xfrm>
            <a:off x="9724606" y="-3628660"/>
            <a:ext cx="199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images </a:t>
            </a:r>
          </a:p>
        </p:txBody>
      </p:sp>
      <p:pic>
        <p:nvPicPr>
          <p:cNvPr id="23" name="Picture 22" descr="A pink leather case with a keyboard&#10;&#10;AI-generated content may be incorrect.">
            <a:extLst>
              <a:ext uri="{FF2B5EF4-FFF2-40B4-BE49-F238E27FC236}">
                <a16:creationId xmlns:a16="http://schemas.microsoft.com/office/drawing/2014/main" id="{FBF40CAC-EF93-74FF-817A-B538D017DB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77" y="-5342027"/>
            <a:ext cx="690815" cy="789913"/>
          </a:xfrm>
          <a:prstGeom prst="rect">
            <a:avLst/>
          </a:prstGeom>
        </p:spPr>
      </p:pic>
      <p:pic>
        <p:nvPicPr>
          <p:cNvPr id="25" name="Picture 24" descr="A tube of face wash next to a jar of cream&#10;&#10;AI-generated content may be incorrect.">
            <a:extLst>
              <a:ext uri="{FF2B5EF4-FFF2-40B4-BE49-F238E27FC236}">
                <a16:creationId xmlns:a16="http://schemas.microsoft.com/office/drawing/2014/main" id="{D9D60343-E591-640F-242F-0B2437587B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22" y="-5264212"/>
            <a:ext cx="769835" cy="872110"/>
          </a:xfrm>
          <a:prstGeom prst="rect">
            <a:avLst/>
          </a:prstGeom>
        </p:spPr>
      </p:pic>
      <p:pic>
        <p:nvPicPr>
          <p:cNvPr id="26" name="Picture 25" descr="A group of light bulbs&#10;&#10;AI-generated content may be incorrect.">
            <a:extLst>
              <a:ext uri="{FF2B5EF4-FFF2-40B4-BE49-F238E27FC236}">
                <a16:creationId xmlns:a16="http://schemas.microsoft.com/office/drawing/2014/main" id="{DECD218F-9E90-0660-7875-0A53D73AFF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53" y="-4874167"/>
            <a:ext cx="843313" cy="867408"/>
          </a:xfrm>
          <a:prstGeom prst="rect">
            <a:avLst/>
          </a:prstGeom>
        </p:spPr>
      </p:pic>
      <p:pic>
        <p:nvPicPr>
          <p:cNvPr id="27" name="Picture 26" descr="A close up of a watch&#10;&#10;AI-generated content may be incorrect.">
            <a:extLst>
              <a:ext uri="{FF2B5EF4-FFF2-40B4-BE49-F238E27FC236}">
                <a16:creationId xmlns:a16="http://schemas.microsoft.com/office/drawing/2014/main" id="{568B285F-0669-D089-7F05-CAF0B2EA75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77" y="-1562541"/>
            <a:ext cx="769834" cy="867408"/>
          </a:xfrm>
          <a:prstGeom prst="rect">
            <a:avLst/>
          </a:prstGeom>
        </p:spPr>
      </p:pic>
      <p:pic>
        <p:nvPicPr>
          <p:cNvPr id="28" name="Picture 27" descr="A red pan with a lid&#10;&#10;AI-generated content may be incorrect.">
            <a:extLst>
              <a:ext uri="{FF2B5EF4-FFF2-40B4-BE49-F238E27FC236}">
                <a16:creationId xmlns:a16="http://schemas.microsoft.com/office/drawing/2014/main" id="{396A4E71-9F5D-FCA6-6766-387AFC2F7D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05" y="-1991822"/>
            <a:ext cx="945111" cy="429281"/>
          </a:xfrm>
          <a:prstGeom prst="rect">
            <a:avLst/>
          </a:prstGeom>
        </p:spPr>
      </p:pic>
      <p:pic>
        <p:nvPicPr>
          <p:cNvPr id="29" name="Picture 28" descr="A red coffee mug with a picture of people in a car&#10;&#10;AI-generated content may be incorrect.">
            <a:extLst>
              <a:ext uri="{FF2B5EF4-FFF2-40B4-BE49-F238E27FC236}">
                <a16:creationId xmlns:a16="http://schemas.microsoft.com/office/drawing/2014/main" id="{9E93461F-9718-F591-2616-51AF8AECC7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15" y="-1713056"/>
            <a:ext cx="818415" cy="767078"/>
          </a:xfrm>
          <a:prstGeom prst="rect">
            <a:avLst/>
          </a:prstGeom>
        </p:spPr>
      </p:pic>
      <p:pic>
        <p:nvPicPr>
          <p:cNvPr id="30" name="Picture 29" descr="A close-up of a jewelry box&#10;&#10;AI-generated content may be incorrect.">
            <a:extLst>
              <a:ext uri="{FF2B5EF4-FFF2-40B4-BE49-F238E27FC236}">
                <a16:creationId xmlns:a16="http://schemas.microsoft.com/office/drawing/2014/main" id="{918EB7C0-5D0D-458F-073C-8273567DB9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77" y="-4188591"/>
            <a:ext cx="991944" cy="787243"/>
          </a:xfrm>
          <a:prstGeom prst="rect">
            <a:avLst/>
          </a:prstGeom>
        </p:spPr>
      </p:pic>
      <p:pic>
        <p:nvPicPr>
          <p:cNvPr id="31" name="Picture 30" descr="A black curtains in a room&#10;&#10;AI-generated content may be incorrect.">
            <a:extLst>
              <a:ext uri="{FF2B5EF4-FFF2-40B4-BE49-F238E27FC236}">
                <a16:creationId xmlns:a16="http://schemas.microsoft.com/office/drawing/2014/main" id="{B2697EAC-3E1D-3DB3-93F6-FEF859FD43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29" y="-4782380"/>
            <a:ext cx="789542" cy="892919"/>
          </a:xfrm>
          <a:prstGeom prst="rect">
            <a:avLst/>
          </a:prstGeom>
        </p:spPr>
      </p:pic>
      <p:pic>
        <p:nvPicPr>
          <p:cNvPr id="32" name="Picture 31" descr="Several different colored baby clothes&#10;&#10;AI-generated content may be incorrect.">
            <a:extLst>
              <a:ext uri="{FF2B5EF4-FFF2-40B4-BE49-F238E27FC236}">
                <a16:creationId xmlns:a16="http://schemas.microsoft.com/office/drawing/2014/main" id="{3B9DCC2F-B0F9-C490-C463-56A8F14CAB5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4" y="-4132085"/>
            <a:ext cx="683229" cy="742693"/>
          </a:xfrm>
          <a:prstGeom prst="rect">
            <a:avLst/>
          </a:prstGeom>
        </p:spPr>
      </p:pic>
      <p:pic>
        <p:nvPicPr>
          <p:cNvPr id="33" name="Picture 32" descr="A brown and gold chest of drawers&#10;&#10;AI-generated content may be incorrect.">
            <a:extLst>
              <a:ext uri="{FF2B5EF4-FFF2-40B4-BE49-F238E27FC236}">
                <a16:creationId xmlns:a16="http://schemas.microsoft.com/office/drawing/2014/main" id="{07623B54-38E6-D24B-F447-10C1FD65C5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25" y="-2869358"/>
            <a:ext cx="704386" cy="777726"/>
          </a:xfrm>
          <a:prstGeom prst="rect">
            <a:avLst/>
          </a:prstGeom>
        </p:spPr>
      </p:pic>
      <p:pic>
        <p:nvPicPr>
          <p:cNvPr id="34" name="Picture 33" descr="A white hat with a pink trim&#10;&#10;AI-generated content may be incorrect.">
            <a:extLst>
              <a:ext uri="{FF2B5EF4-FFF2-40B4-BE49-F238E27FC236}">
                <a16:creationId xmlns:a16="http://schemas.microsoft.com/office/drawing/2014/main" id="{AE4648D1-D6DD-63CF-0481-6919F63A731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332" y="-2316632"/>
            <a:ext cx="1127631" cy="450000"/>
          </a:xfrm>
          <a:prstGeom prst="rect">
            <a:avLst/>
          </a:prstGeom>
        </p:spPr>
      </p:pic>
      <p:pic>
        <p:nvPicPr>
          <p:cNvPr id="35" name="Picture 34" descr="A group of black and yellow spray cans&#10;&#10;AI-generated content may be incorrect.">
            <a:extLst>
              <a:ext uri="{FF2B5EF4-FFF2-40B4-BE49-F238E27FC236}">
                <a16:creationId xmlns:a16="http://schemas.microsoft.com/office/drawing/2014/main" id="{33F43645-1EA0-746D-F634-C0E0659ACF4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91" y="-3531182"/>
            <a:ext cx="811141" cy="937243"/>
          </a:xfrm>
          <a:prstGeom prst="rect">
            <a:avLst/>
          </a:prstGeom>
        </p:spPr>
      </p:pic>
      <p:pic>
        <p:nvPicPr>
          <p:cNvPr id="36" name="Picture 35" descr="A statue of a cow and calf&#10;&#10;AI-generated content may be incorrect.">
            <a:extLst>
              <a:ext uri="{FF2B5EF4-FFF2-40B4-BE49-F238E27FC236}">
                <a16:creationId xmlns:a16="http://schemas.microsoft.com/office/drawing/2014/main" id="{1E2DC719-DF54-EF41-B731-863B312BA74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881" y="-3205889"/>
            <a:ext cx="986559" cy="841266"/>
          </a:xfrm>
          <a:prstGeom prst="rect">
            <a:avLst/>
          </a:prstGeom>
        </p:spPr>
      </p:pic>
      <p:pic>
        <p:nvPicPr>
          <p:cNvPr id="37" name="Picture 36" descr="A yellow baby bib with a duck face&#10;&#10;AI-generated content may be incorrect.">
            <a:extLst>
              <a:ext uri="{FF2B5EF4-FFF2-40B4-BE49-F238E27FC236}">
                <a16:creationId xmlns:a16="http://schemas.microsoft.com/office/drawing/2014/main" id="{DA1A5B22-AA6C-F33D-8EE9-9E2083EA9AE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22" y="-1755985"/>
            <a:ext cx="614696" cy="7899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F0B8B5E-CE35-7BEE-9287-2A9D34DD8A5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7399" y="-2906359"/>
            <a:ext cx="647207" cy="64720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67AB584-63FA-18AA-6F1B-6410ABE26F10}"/>
              </a:ext>
            </a:extLst>
          </p:cNvPr>
          <p:cNvSpPr txBox="1"/>
          <p:nvPr/>
        </p:nvSpPr>
        <p:spPr>
          <a:xfrm>
            <a:off x="9788287" y="-2906359"/>
            <a:ext cx="158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lignes</a:t>
            </a:r>
          </a:p>
          <a:p>
            <a:r>
              <a:rPr lang="fr-FR" dirty="0"/>
              <a:t>15 colonnes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11397B-9DC4-A078-E048-A8A7D78860A7}"/>
              </a:ext>
            </a:extLst>
          </p:cNvPr>
          <p:cNvSpPr txBox="1"/>
          <p:nvPr/>
        </p:nvSpPr>
        <p:spPr>
          <a:xfrm>
            <a:off x="9325680" y="-1779850"/>
            <a:ext cx="24932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Nom produit, prix, catégorie, description, marque…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Taux de remplissage : 97.83%</a:t>
            </a:r>
          </a:p>
          <a:p>
            <a:pPr algn="ctr"/>
            <a:r>
              <a:rPr lang="fr-FR" sz="1400" dirty="0"/>
              <a:t>Aucun doublon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74AD7AE-6CBE-C40D-F15C-AFA770F4EB0B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10572304" y="-2260028"/>
            <a:ext cx="7011" cy="48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8AE3656-4CBF-8390-9EFE-0D0527F26593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E0998EF-B767-31FD-7C26-4CA548D5933F}"/>
              </a:ext>
            </a:extLst>
          </p:cNvPr>
          <p:cNvGraphicFramePr/>
          <p:nvPr/>
        </p:nvGraphicFramePr>
        <p:xfrm>
          <a:off x="2955781" y="1274230"/>
          <a:ext cx="1357655" cy="4799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3C833E6-D75B-2777-1F69-C916242D9A51}"/>
              </a:ext>
            </a:extLst>
          </p:cNvPr>
          <p:cNvSpPr txBox="1"/>
          <p:nvPr/>
        </p:nvSpPr>
        <p:spPr>
          <a:xfrm>
            <a:off x="4376444" y="1281724"/>
            <a:ext cx="7442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Suppression des </a:t>
            </a:r>
            <a:r>
              <a:rPr lang="fr-FR" sz="1200" b="1" dirty="0"/>
              <a:t>anomalies</a:t>
            </a:r>
            <a:r>
              <a:rPr lang="fr-FR" sz="1200" dirty="0"/>
              <a:t> (DAYS_EMPLOYED = 365243), des </a:t>
            </a:r>
            <a:r>
              <a:rPr lang="fr-FR" sz="1200" b="1" dirty="0"/>
              <a:t>valeurs aberrantes </a:t>
            </a:r>
            <a:r>
              <a:rPr lang="fr-FR" sz="1200" dirty="0"/>
              <a:t>(CODE_GENDER = ‘XNA’), remplacement des </a:t>
            </a:r>
            <a:r>
              <a:rPr lang="fr-FR" sz="1200" b="1" dirty="0"/>
              <a:t>infinis</a:t>
            </a:r>
            <a:r>
              <a:rPr lang="fr-FR" sz="1200" dirty="0"/>
              <a:t>, </a:t>
            </a:r>
            <a:r>
              <a:rPr lang="fr-FR" sz="1200" b="1" dirty="0"/>
              <a:t>normalisation</a:t>
            </a:r>
            <a:r>
              <a:rPr lang="fr-FR" sz="1200" dirty="0"/>
              <a:t> des types de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AECD49-0350-1EEC-D16F-86B72440A093}"/>
              </a:ext>
            </a:extLst>
          </p:cNvPr>
          <p:cNvSpPr txBox="1"/>
          <p:nvPr/>
        </p:nvSpPr>
        <p:spPr>
          <a:xfrm>
            <a:off x="4382732" y="2840543"/>
            <a:ext cx="7004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Factorisation des variables binaires, OHE sur les autres variables catégorielles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0B38D6-D0E1-3980-755B-28F3F922DC04}"/>
              </a:ext>
            </a:extLst>
          </p:cNvPr>
          <p:cNvSpPr txBox="1"/>
          <p:nvPr/>
        </p:nvSpPr>
        <p:spPr>
          <a:xfrm>
            <a:off x="4379115" y="3535460"/>
            <a:ext cx="7004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Création de nouvelles variables de ratio, ajout de variables de comportement et d’âge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E70A8A-8A13-D631-15DE-08B3E66B7C7F}"/>
              </a:ext>
            </a:extLst>
          </p:cNvPr>
          <p:cNvSpPr txBox="1"/>
          <p:nvPr/>
        </p:nvSpPr>
        <p:spPr>
          <a:xfrm>
            <a:off x="4465566" y="4183003"/>
            <a:ext cx="7004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Suppression des colonnes comportant &gt;60% de valeurs manquantes, imputation par le mode (choix après plusieurs stratégies testées)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CEBC0E-3FED-BF57-53BC-21BAC15F98F8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fr-FR" sz="2000" dirty="0">
                <a:latin typeface="DM Serif Text" pitchFamily="2" charset="0"/>
              </a:rPr>
              <a:t>Pipeline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24D763-3229-CBEC-7062-90BCCAE201DE}"/>
              </a:ext>
            </a:extLst>
          </p:cNvPr>
          <p:cNvSpPr txBox="1"/>
          <p:nvPr/>
        </p:nvSpPr>
        <p:spPr>
          <a:xfrm>
            <a:off x="4562916" y="3022256"/>
            <a:ext cx="2185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'NAME_CONTRACT_TYPE', 'CODE_GENDER'</a:t>
            </a:r>
          </a:p>
          <a:p>
            <a:endParaRPr lang="fr-FR" sz="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A6C849-5B64-9C97-3947-41C37949F971}"/>
              </a:ext>
            </a:extLst>
          </p:cNvPr>
          <p:cNvSpPr txBox="1"/>
          <p:nvPr/>
        </p:nvSpPr>
        <p:spPr>
          <a:xfrm>
            <a:off x="6985525" y="3039881"/>
            <a:ext cx="2351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‘ELEVATORS_MODE’, ‘ENTRANCES_MODE’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A08A8A-AF80-9159-8243-AF7E5639E63D}"/>
              </a:ext>
            </a:extLst>
          </p:cNvPr>
          <p:cNvSpPr txBox="1"/>
          <p:nvPr/>
        </p:nvSpPr>
        <p:spPr>
          <a:xfrm>
            <a:off x="4331763" y="3705818"/>
            <a:ext cx="3386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/>
              <a:t>['INCOME_CREDIT_PERC'] = ['AMT_INCOME_TOTAL'] / ['AMT_CREDIT']</a:t>
            </a:r>
          </a:p>
          <a:p>
            <a:endParaRPr lang="fr-FR" sz="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4F476B-F7D5-9457-2223-A0DAB7A58E81}"/>
              </a:ext>
            </a:extLst>
          </p:cNvPr>
          <p:cNvSpPr/>
          <p:nvPr/>
        </p:nvSpPr>
        <p:spPr>
          <a:xfrm>
            <a:off x="2903826" y="5604530"/>
            <a:ext cx="1607135" cy="9557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00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5165DDB3-32DA-DE7F-8F62-79D77168B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81F681A-DB1C-E060-872D-01F68A892E83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A97404-095B-3030-F57F-E41B89CF5804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78F93B-B594-926C-7C82-4A9BDB14C0C4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B4C24F-2D86-8CD0-5965-52B87E71AC84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09ECE73C-8BD2-AC9A-60E6-6A2C1448B0C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EFE943C-403E-09BB-E1A6-40E2F40D3F6B}"/>
              </a:ext>
            </a:extLst>
          </p:cNvPr>
          <p:cNvSpPr txBox="1"/>
          <p:nvPr/>
        </p:nvSpPr>
        <p:spPr>
          <a:xfrm>
            <a:off x="370346" y="-341069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F0199B5-6C26-9C2D-4E0F-2D50F51FE1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2766" y="-3767597"/>
            <a:ext cx="647207" cy="6472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E2C7C05-B409-6B64-AE87-222D17BDF7F7}"/>
              </a:ext>
            </a:extLst>
          </p:cNvPr>
          <p:cNvSpPr txBox="1"/>
          <p:nvPr/>
        </p:nvSpPr>
        <p:spPr>
          <a:xfrm>
            <a:off x="9724606" y="-3628660"/>
            <a:ext cx="199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images </a:t>
            </a:r>
          </a:p>
        </p:txBody>
      </p:sp>
      <p:pic>
        <p:nvPicPr>
          <p:cNvPr id="23" name="Picture 22" descr="A pink leather case with a keyboard&#10;&#10;AI-generated content may be incorrect.">
            <a:extLst>
              <a:ext uri="{FF2B5EF4-FFF2-40B4-BE49-F238E27FC236}">
                <a16:creationId xmlns:a16="http://schemas.microsoft.com/office/drawing/2014/main" id="{66B9B364-3596-33A9-BF86-D1A87C52ED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77" y="-5342027"/>
            <a:ext cx="690815" cy="789913"/>
          </a:xfrm>
          <a:prstGeom prst="rect">
            <a:avLst/>
          </a:prstGeom>
        </p:spPr>
      </p:pic>
      <p:pic>
        <p:nvPicPr>
          <p:cNvPr id="25" name="Picture 24" descr="A tube of face wash next to a jar of cream&#10;&#10;AI-generated content may be incorrect.">
            <a:extLst>
              <a:ext uri="{FF2B5EF4-FFF2-40B4-BE49-F238E27FC236}">
                <a16:creationId xmlns:a16="http://schemas.microsoft.com/office/drawing/2014/main" id="{BEED4E7D-5E56-0D40-ED85-93E63E6ADF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22" y="-5264212"/>
            <a:ext cx="769835" cy="872110"/>
          </a:xfrm>
          <a:prstGeom prst="rect">
            <a:avLst/>
          </a:prstGeom>
        </p:spPr>
      </p:pic>
      <p:pic>
        <p:nvPicPr>
          <p:cNvPr id="26" name="Picture 25" descr="A group of light bulbs&#10;&#10;AI-generated content may be incorrect.">
            <a:extLst>
              <a:ext uri="{FF2B5EF4-FFF2-40B4-BE49-F238E27FC236}">
                <a16:creationId xmlns:a16="http://schemas.microsoft.com/office/drawing/2014/main" id="{7708E0C4-D278-6613-C76D-1C124AC891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53" y="-4874167"/>
            <a:ext cx="843313" cy="867408"/>
          </a:xfrm>
          <a:prstGeom prst="rect">
            <a:avLst/>
          </a:prstGeom>
        </p:spPr>
      </p:pic>
      <p:pic>
        <p:nvPicPr>
          <p:cNvPr id="27" name="Picture 26" descr="A close up of a watch&#10;&#10;AI-generated content may be incorrect.">
            <a:extLst>
              <a:ext uri="{FF2B5EF4-FFF2-40B4-BE49-F238E27FC236}">
                <a16:creationId xmlns:a16="http://schemas.microsoft.com/office/drawing/2014/main" id="{3FE32F87-0F16-0D1F-E609-203AF89404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77" y="-1562541"/>
            <a:ext cx="769834" cy="867408"/>
          </a:xfrm>
          <a:prstGeom prst="rect">
            <a:avLst/>
          </a:prstGeom>
        </p:spPr>
      </p:pic>
      <p:pic>
        <p:nvPicPr>
          <p:cNvPr id="28" name="Picture 27" descr="A red pan with a lid&#10;&#10;AI-generated content may be incorrect.">
            <a:extLst>
              <a:ext uri="{FF2B5EF4-FFF2-40B4-BE49-F238E27FC236}">
                <a16:creationId xmlns:a16="http://schemas.microsoft.com/office/drawing/2014/main" id="{40E5BB4F-DD2C-F813-AD99-96B95FA306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05" y="-1991822"/>
            <a:ext cx="945111" cy="429281"/>
          </a:xfrm>
          <a:prstGeom prst="rect">
            <a:avLst/>
          </a:prstGeom>
        </p:spPr>
      </p:pic>
      <p:pic>
        <p:nvPicPr>
          <p:cNvPr id="29" name="Picture 28" descr="A red coffee mug with a picture of people in a car&#10;&#10;AI-generated content may be incorrect.">
            <a:extLst>
              <a:ext uri="{FF2B5EF4-FFF2-40B4-BE49-F238E27FC236}">
                <a16:creationId xmlns:a16="http://schemas.microsoft.com/office/drawing/2014/main" id="{4FCE855B-EAE1-3622-C2A8-0C9D042870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15" y="-1713056"/>
            <a:ext cx="818415" cy="767078"/>
          </a:xfrm>
          <a:prstGeom prst="rect">
            <a:avLst/>
          </a:prstGeom>
        </p:spPr>
      </p:pic>
      <p:pic>
        <p:nvPicPr>
          <p:cNvPr id="30" name="Picture 29" descr="A close-up of a jewelry box&#10;&#10;AI-generated content may be incorrect.">
            <a:extLst>
              <a:ext uri="{FF2B5EF4-FFF2-40B4-BE49-F238E27FC236}">
                <a16:creationId xmlns:a16="http://schemas.microsoft.com/office/drawing/2014/main" id="{60EF2F2F-46A3-4030-B82F-B859E8E2C2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77" y="-4188591"/>
            <a:ext cx="991944" cy="787243"/>
          </a:xfrm>
          <a:prstGeom prst="rect">
            <a:avLst/>
          </a:prstGeom>
        </p:spPr>
      </p:pic>
      <p:pic>
        <p:nvPicPr>
          <p:cNvPr id="31" name="Picture 30" descr="A black curtains in a room&#10;&#10;AI-generated content may be incorrect.">
            <a:extLst>
              <a:ext uri="{FF2B5EF4-FFF2-40B4-BE49-F238E27FC236}">
                <a16:creationId xmlns:a16="http://schemas.microsoft.com/office/drawing/2014/main" id="{CE2FB61E-7C49-75F0-633A-A285250E42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29" y="-4782380"/>
            <a:ext cx="789542" cy="892919"/>
          </a:xfrm>
          <a:prstGeom prst="rect">
            <a:avLst/>
          </a:prstGeom>
        </p:spPr>
      </p:pic>
      <p:pic>
        <p:nvPicPr>
          <p:cNvPr id="32" name="Picture 31" descr="Several different colored baby clothes&#10;&#10;AI-generated content may be incorrect.">
            <a:extLst>
              <a:ext uri="{FF2B5EF4-FFF2-40B4-BE49-F238E27FC236}">
                <a16:creationId xmlns:a16="http://schemas.microsoft.com/office/drawing/2014/main" id="{FC5F78FF-A5AE-77C6-17C6-D6A54969C9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4" y="-4132085"/>
            <a:ext cx="683229" cy="742693"/>
          </a:xfrm>
          <a:prstGeom prst="rect">
            <a:avLst/>
          </a:prstGeom>
        </p:spPr>
      </p:pic>
      <p:pic>
        <p:nvPicPr>
          <p:cNvPr id="33" name="Picture 32" descr="A brown and gold chest of drawers&#10;&#10;AI-generated content may be incorrect.">
            <a:extLst>
              <a:ext uri="{FF2B5EF4-FFF2-40B4-BE49-F238E27FC236}">
                <a16:creationId xmlns:a16="http://schemas.microsoft.com/office/drawing/2014/main" id="{69BA3E3A-8EBE-D62D-66E9-9057864EE9C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25" y="-2869358"/>
            <a:ext cx="704386" cy="777726"/>
          </a:xfrm>
          <a:prstGeom prst="rect">
            <a:avLst/>
          </a:prstGeom>
        </p:spPr>
      </p:pic>
      <p:pic>
        <p:nvPicPr>
          <p:cNvPr id="34" name="Picture 33" descr="A white hat with a pink trim&#10;&#10;AI-generated content may be incorrect.">
            <a:extLst>
              <a:ext uri="{FF2B5EF4-FFF2-40B4-BE49-F238E27FC236}">
                <a16:creationId xmlns:a16="http://schemas.microsoft.com/office/drawing/2014/main" id="{427AA171-1E98-1ADE-21F2-83047914534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332" y="-2316632"/>
            <a:ext cx="1127631" cy="450000"/>
          </a:xfrm>
          <a:prstGeom prst="rect">
            <a:avLst/>
          </a:prstGeom>
        </p:spPr>
      </p:pic>
      <p:pic>
        <p:nvPicPr>
          <p:cNvPr id="35" name="Picture 34" descr="A group of black and yellow spray cans&#10;&#10;AI-generated content may be incorrect.">
            <a:extLst>
              <a:ext uri="{FF2B5EF4-FFF2-40B4-BE49-F238E27FC236}">
                <a16:creationId xmlns:a16="http://schemas.microsoft.com/office/drawing/2014/main" id="{E55D1FFE-FE3A-BADA-BC36-1451E103253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91" y="-3531182"/>
            <a:ext cx="811141" cy="937243"/>
          </a:xfrm>
          <a:prstGeom prst="rect">
            <a:avLst/>
          </a:prstGeom>
        </p:spPr>
      </p:pic>
      <p:pic>
        <p:nvPicPr>
          <p:cNvPr id="36" name="Picture 35" descr="A statue of a cow and calf&#10;&#10;AI-generated content may be incorrect.">
            <a:extLst>
              <a:ext uri="{FF2B5EF4-FFF2-40B4-BE49-F238E27FC236}">
                <a16:creationId xmlns:a16="http://schemas.microsoft.com/office/drawing/2014/main" id="{658C26AC-A05F-E75A-DAA7-A9B3F16221A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881" y="-3205889"/>
            <a:ext cx="986559" cy="841266"/>
          </a:xfrm>
          <a:prstGeom prst="rect">
            <a:avLst/>
          </a:prstGeom>
        </p:spPr>
      </p:pic>
      <p:pic>
        <p:nvPicPr>
          <p:cNvPr id="37" name="Picture 36" descr="A yellow baby bib with a duck face&#10;&#10;AI-generated content may be incorrect.">
            <a:extLst>
              <a:ext uri="{FF2B5EF4-FFF2-40B4-BE49-F238E27FC236}">
                <a16:creationId xmlns:a16="http://schemas.microsoft.com/office/drawing/2014/main" id="{D80DC5A3-AC90-870E-03D5-919FC62D2FA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22" y="-1755985"/>
            <a:ext cx="614696" cy="7899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AD6EF03-DE66-8F91-9CC3-63387D7C496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7399" y="-2906359"/>
            <a:ext cx="647207" cy="64720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A5E814F-4910-8E7D-7F25-D23ADB71AC40}"/>
              </a:ext>
            </a:extLst>
          </p:cNvPr>
          <p:cNvSpPr txBox="1"/>
          <p:nvPr/>
        </p:nvSpPr>
        <p:spPr>
          <a:xfrm>
            <a:off x="9788287" y="-2906359"/>
            <a:ext cx="158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lignes</a:t>
            </a:r>
          </a:p>
          <a:p>
            <a:r>
              <a:rPr lang="fr-FR" dirty="0"/>
              <a:t>15 colonnes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2BA9FE-BAEC-04F7-1AE3-C0FCA06404C5}"/>
              </a:ext>
            </a:extLst>
          </p:cNvPr>
          <p:cNvSpPr txBox="1"/>
          <p:nvPr/>
        </p:nvSpPr>
        <p:spPr>
          <a:xfrm>
            <a:off x="9325680" y="-1779850"/>
            <a:ext cx="24932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Nom produit, prix, catégorie, description, marque…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Taux de remplissage : 97.83%</a:t>
            </a:r>
          </a:p>
          <a:p>
            <a:pPr algn="ctr"/>
            <a:r>
              <a:rPr lang="fr-FR" sz="1400" dirty="0"/>
              <a:t>Aucun doublon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573824C-93FD-778C-BF12-AED01635F0BB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10572304" y="-2260028"/>
            <a:ext cx="7011" cy="48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D801FE-188E-F85E-D57D-0A90A023712D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234A89-5097-CFDB-F2DA-9A5998ED4932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+mj-lt"/>
              <a:buAutoNum type="arabicPeriod" startAt="2"/>
            </a:pPr>
            <a:r>
              <a:rPr lang="fr-FR" sz="2000" dirty="0">
                <a:latin typeface="DM Serif Text" pitchFamily="2" charset="0"/>
              </a:rPr>
              <a:t>Métriques d’évaluation &amp; Gain métier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DFB569-05B4-8C56-37B8-2B14DDB74AF4}"/>
              </a:ext>
            </a:extLst>
          </p:cNvPr>
          <p:cNvSpPr txBox="1"/>
          <p:nvPr/>
        </p:nvSpPr>
        <p:spPr>
          <a:xfrm>
            <a:off x="3180084" y="1863780"/>
            <a:ext cx="3774350" cy="3240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fr-F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CA9E0C-4435-97EA-04A1-08F3A6651BFA}"/>
              </a:ext>
            </a:extLst>
          </p:cNvPr>
          <p:cNvSpPr txBox="1"/>
          <p:nvPr/>
        </p:nvSpPr>
        <p:spPr>
          <a:xfrm>
            <a:off x="7266020" y="1852570"/>
            <a:ext cx="3774350" cy="3240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D2FB6B-F281-AB4D-C79F-ACBC08106DE5}"/>
              </a:ext>
            </a:extLst>
          </p:cNvPr>
          <p:cNvSpPr txBox="1"/>
          <p:nvPr/>
        </p:nvSpPr>
        <p:spPr>
          <a:xfrm>
            <a:off x="3383399" y="2154430"/>
            <a:ext cx="3367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📊 Métriques utilisées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3A98B-1BEF-F4E3-00A7-A62F28989627}"/>
              </a:ext>
            </a:extLst>
          </p:cNvPr>
          <p:cNvSpPr txBox="1"/>
          <p:nvPr/>
        </p:nvSpPr>
        <p:spPr>
          <a:xfrm>
            <a:off x="3383400" y="3056719"/>
            <a:ext cx="33677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1400" dirty="0"/>
              <a:t>AUR ROC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AP (AUC-PR)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Seuil optimal : maximisation du gain métier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12AD94-2C17-C3C4-BC70-2A3E23D2C226}"/>
              </a:ext>
            </a:extLst>
          </p:cNvPr>
          <p:cNvSpPr txBox="1"/>
          <p:nvPr/>
        </p:nvSpPr>
        <p:spPr>
          <a:xfrm>
            <a:off x="4178901" y="5351847"/>
            <a:ext cx="6234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u="sng" dirty="0"/>
              <a:t>Objectif</a:t>
            </a:r>
            <a:r>
              <a:rPr lang="fr-FR" sz="1400" dirty="0"/>
              <a:t> : Trouver le modèle et le seuil qui maximisent la rentabilité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3F88FB-5CCD-1DF6-9831-BBA765DB63DF}"/>
              </a:ext>
            </a:extLst>
          </p:cNvPr>
          <p:cNvSpPr txBox="1"/>
          <p:nvPr/>
        </p:nvSpPr>
        <p:spPr>
          <a:xfrm>
            <a:off x="7469335" y="2121405"/>
            <a:ext cx="3367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💰 Gain métier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B47BFD-6556-8D56-1F5E-E7565A6E0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739785"/>
              </p:ext>
            </p:extLst>
          </p:nvPr>
        </p:nvGraphicFramePr>
        <p:xfrm>
          <a:off x="7469336" y="2608597"/>
          <a:ext cx="3367719" cy="22494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759">
                  <a:extLst>
                    <a:ext uri="{9D8B030D-6E8A-4147-A177-3AD203B41FA5}">
                      <a16:colId xmlns:a16="http://schemas.microsoft.com/office/drawing/2014/main" val="2346717554"/>
                    </a:ext>
                  </a:extLst>
                </a:gridCol>
                <a:gridCol w="644236">
                  <a:extLst>
                    <a:ext uri="{9D8B030D-6E8A-4147-A177-3AD203B41FA5}">
                      <a16:colId xmlns:a16="http://schemas.microsoft.com/office/drawing/2014/main" val="1278217984"/>
                    </a:ext>
                  </a:extLst>
                </a:gridCol>
                <a:gridCol w="716973">
                  <a:extLst>
                    <a:ext uri="{9D8B030D-6E8A-4147-A177-3AD203B41FA5}">
                      <a16:colId xmlns:a16="http://schemas.microsoft.com/office/drawing/2014/main" val="335626508"/>
                    </a:ext>
                  </a:extLst>
                </a:gridCol>
                <a:gridCol w="1516751">
                  <a:extLst>
                    <a:ext uri="{9D8B030D-6E8A-4147-A177-3AD203B41FA5}">
                      <a16:colId xmlns:a16="http://schemas.microsoft.com/office/drawing/2014/main" val="3683156684"/>
                    </a:ext>
                  </a:extLst>
                </a:gridCol>
              </a:tblGrid>
              <a:tr h="264948"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bg1"/>
                          </a:solidFill>
                        </a:rPr>
                        <a:t>Cas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 err="1">
                          <a:solidFill>
                            <a:schemeClr val="bg1"/>
                          </a:solidFill>
                        </a:rPr>
                        <a:t>Y_true</a:t>
                      </a:r>
                      <a:endParaRPr lang="fr-FR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 err="1">
                          <a:solidFill>
                            <a:schemeClr val="bg1"/>
                          </a:solidFill>
                        </a:rPr>
                        <a:t>Y_pred</a:t>
                      </a:r>
                      <a:endParaRPr lang="fr-FR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solidFill>
                            <a:schemeClr val="bg1"/>
                          </a:solidFill>
                        </a:rPr>
                        <a:t>Signification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668714"/>
                  </a:ext>
                </a:extLst>
              </a:tr>
              <a:tr h="61821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Mauvais client correctement refusé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409483"/>
                  </a:ext>
                </a:extLst>
              </a:tr>
              <a:tr h="441581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FP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Bon client refusé à tort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439889"/>
                  </a:ext>
                </a:extLst>
              </a:tr>
              <a:tr h="470028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solidFill>
                            <a:srgbClr val="FF0000"/>
                          </a:solidFill>
                        </a:rPr>
                        <a:t>FN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solidFill>
                            <a:srgbClr val="FF0000"/>
                          </a:solidFill>
                        </a:rPr>
                        <a:t>Mauvais client accepté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251161"/>
                  </a:ext>
                </a:extLst>
              </a:tr>
              <a:tr h="407815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Bon client accepté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7911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923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EB01B889-5CCD-C777-79AE-CF41F669A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512BD00-EA76-0AC9-A34D-4F380036A233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E40FAA-C4DE-5183-40A9-FEF60522543B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6E1A03-9860-EB06-6098-84560265EBC3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9E381E-A5ED-3FA2-6601-7290305E8B8C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891F6E71-FE33-B518-8B40-8A7429FB63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D4EF24-D404-1F0F-3BDD-1B64C7BCF193}"/>
              </a:ext>
            </a:extLst>
          </p:cNvPr>
          <p:cNvSpPr txBox="1"/>
          <p:nvPr/>
        </p:nvSpPr>
        <p:spPr>
          <a:xfrm>
            <a:off x="370346" y="-341069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F4B5D0F-4398-C003-C766-0F81B95DAD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2766" y="-3767597"/>
            <a:ext cx="647207" cy="6472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AF5B690-3B2D-38C9-674C-DF1543E53240}"/>
              </a:ext>
            </a:extLst>
          </p:cNvPr>
          <p:cNvSpPr txBox="1"/>
          <p:nvPr/>
        </p:nvSpPr>
        <p:spPr>
          <a:xfrm>
            <a:off x="9724606" y="-3628660"/>
            <a:ext cx="199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images </a:t>
            </a:r>
          </a:p>
        </p:txBody>
      </p:sp>
      <p:pic>
        <p:nvPicPr>
          <p:cNvPr id="23" name="Picture 22" descr="A pink leather case with a keyboard&#10;&#10;AI-generated content may be incorrect.">
            <a:extLst>
              <a:ext uri="{FF2B5EF4-FFF2-40B4-BE49-F238E27FC236}">
                <a16:creationId xmlns:a16="http://schemas.microsoft.com/office/drawing/2014/main" id="{16530F3C-21BE-B674-AB9A-4C54981B9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77" y="-5342027"/>
            <a:ext cx="690815" cy="789913"/>
          </a:xfrm>
          <a:prstGeom prst="rect">
            <a:avLst/>
          </a:prstGeom>
        </p:spPr>
      </p:pic>
      <p:pic>
        <p:nvPicPr>
          <p:cNvPr id="25" name="Picture 24" descr="A tube of face wash next to a jar of cream&#10;&#10;AI-generated content may be incorrect.">
            <a:extLst>
              <a:ext uri="{FF2B5EF4-FFF2-40B4-BE49-F238E27FC236}">
                <a16:creationId xmlns:a16="http://schemas.microsoft.com/office/drawing/2014/main" id="{761DE01A-85E7-64B1-9830-BF70A1B8E9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22" y="-5264212"/>
            <a:ext cx="769835" cy="872110"/>
          </a:xfrm>
          <a:prstGeom prst="rect">
            <a:avLst/>
          </a:prstGeom>
        </p:spPr>
      </p:pic>
      <p:pic>
        <p:nvPicPr>
          <p:cNvPr id="26" name="Picture 25" descr="A group of light bulbs&#10;&#10;AI-generated content may be incorrect.">
            <a:extLst>
              <a:ext uri="{FF2B5EF4-FFF2-40B4-BE49-F238E27FC236}">
                <a16:creationId xmlns:a16="http://schemas.microsoft.com/office/drawing/2014/main" id="{6CE99B20-3EE5-C1EB-AAF4-8E096F17FB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53" y="-4874167"/>
            <a:ext cx="843313" cy="867408"/>
          </a:xfrm>
          <a:prstGeom prst="rect">
            <a:avLst/>
          </a:prstGeom>
        </p:spPr>
      </p:pic>
      <p:pic>
        <p:nvPicPr>
          <p:cNvPr id="27" name="Picture 26" descr="A close up of a watch&#10;&#10;AI-generated content may be incorrect.">
            <a:extLst>
              <a:ext uri="{FF2B5EF4-FFF2-40B4-BE49-F238E27FC236}">
                <a16:creationId xmlns:a16="http://schemas.microsoft.com/office/drawing/2014/main" id="{6AF31349-5D71-0CBD-C124-34410F712F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77" y="-1562541"/>
            <a:ext cx="769834" cy="867408"/>
          </a:xfrm>
          <a:prstGeom prst="rect">
            <a:avLst/>
          </a:prstGeom>
        </p:spPr>
      </p:pic>
      <p:pic>
        <p:nvPicPr>
          <p:cNvPr id="28" name="Picture 27" descr="A red pan with a lid&#10;&#10;AI-generated content may be incorrect.">
            <a:extLst>
              <a:ext uri="{FF2B5EF4-FFF2-40B4-BE49-F238E27FC236}">
                <a16:creationId xmlns:a16="http://schemas.microsoft.com/office/drawing/2014/main" id="{225793E6-E23B-775E-FBF5-BAFA65389A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05" y="-1991822"/>
            <a:ext cx="945111" cy="429281"/>
          </a:xfrm>
          <a:prstGeom prst="rect">
            <a:avLst/>
          </a:prstGeom>
        </p:spPr>
      </p:pic>
      <p:pic>
        <p:nvPicPr>
          <p:cNvPr id="29" name="Picture 28" descr="A red coffee mug with a picture of people in a car&#10;&#10;AI-generated content may be incorrect.">
            <a:extLst>
              <a:ext uri="{FF2B5EF4-FFF2-40B4-BE49-F238E27FC236}">
                <a16:creationId xmlns:a16="http://schemas.microsoft.com/office/drawing/2014/main" id="{E198E9AC-7464-8F10-D3B1-41FE64087E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15" y="-1713056"/>
            <a:ext cx="818415" cy="767078"/>
          </a:xfrm>
          <a:prstGeom prst="rect">
            <a:avLst/>
          </a:prstGeom>
        </p:spPr>
      </p:pic>
      <p:pic>
        <p:nvPicPr>
          <p:cNvPr id="30" name="Picture 29" descr="A close-up of a jewelry box&#10;&#10;AI-generated content may be incorrect.">
            <a:extLst>
              <a:ext uri="{FF2B5EF4-FFF2-40B4-BE49-F238E27FC236}">
                <a16:creationId xmlns:a16="http://schemas.microsoft.com/office/drawing/2014/main" id="{24A2ADF8-79F4-0E34-CE45-6A7940964E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77" y="-4188591"/>
            <a:ext cx="991944" cy="787243"/>
          </a:xfrm>
          <a:prstGeom prst="rect">
            <a:avLst/>
          </a:prstGeom>
        </p:spPr>
      </p:pic>
      <p:pic>
        <p:nvPicPr>
          <p:cNvPr id="31" name="Picture 30" descr="A black curtains in a room&#10;&#10;AI-generated content may be incorrect.">
            <a:extLst>
              <a:ext uri="{FF2B5EF4-FFF2-40B4-BE49-F238E27FC236}">
                <a16:creationId xmlns:a16="http://schemas.microsoft.com/office/drawing/2014/main" id="{C0DD151D-E2ED-4EB4-FF24-4D9F72BF7D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29" y="-4782380"/>
            <a:ext cx="789542" cy="892919"/>
          </a:xfrm>
          <a:prstGeom prst="rect">
            <a:avLst/>
          </a:prstGeom>
        </p:spPr>
      </p:pic>
      <p:pic>
        <p:nvPicPr>
          <p:cNvPr id="32" name="Picture 31" descr="Several different colored baby clothes&#10;&#10;AI-generated content may be incorrect.">
            <a:extLst>
              <a:ext uri="{FF2B5EF4-FFF2-40B4-BE49-F238E27FC236}">
                <a16:creationId xmlns:a16="http://schemas.microsoft.com/office/drawing/2014/main" id="{FF35F0FD-6B62-E068-E1D4-DDE618135B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4" y="-4132085"/>
            <a:ext cx="683229" cy="742693"/>
          </a:xfrm>
          <a:prstGeom prst="rect">
            <a:avLst/>
          </a:prstGeom>
        </p:spPr>
      </p:pic>
      <p:pic>
        <p:nvPicPr>
          <p:cNvPr id="33" name="Picture 32" descr="A brown and gold chest of drawers&#10;&#10;AI-generated content may be incorrect.">
            <a:extLst>
              <a:ext uri="{FF2B5EF4-FFF2-40B4-BE49-F238E27FC236}">
                <a16:creationId xmlns:a16="http://schemas.microsoft.com/office/drawing/2014/main" id="{0D72DA44-B6AF-AD03-2A91-066FEA8068C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25" y="-2869358"/>
            <a:ext cx="704386" cy="777726"/>
          </a:xfrm>
          <a:prstGeom prst="rect">
            <a:avLst/>
          </a:prstGeom>
        </p:spPr>
      </p:pic>
      <p:pic>
        <p:nvPicPr>
          <p:cNvPr id="34" name="Picture 33" descr="A white hat with a pink trim&#10;&#10;AI-generated content may be incorrect.">
            <a:extLst>
              <a:ext uri="{FF2B5EF4-FFF2-40B4-BE49-F238E27FC236}">
                <a16:creationId xmlns:a16="http://schemas.microsoft.com/office/drawing/2014/main" id="{45FFC7B5-1884-9ED3-EBD9-F6A3F395B89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332" y="-2316632"/>
            <a:ext cx="1127631" cy="450000"/>
          </a:xfrm>
          <a:prstGeom prst="rect">
            <a:avLst/>
          </a:prstGeom>
        </p:spPr>
      </p:pic>
      <p:pic>
        <p:nvPicPr>
          <p:cNvPr id="35" name="Picture 34" descr="A group of black and yellow spray cans&#10;&#10;AI-generated content may be incorrect.">
            <a:extLst>
              <a:ext uri="{FF2B5EF4-FFF2-40B4-BE49-F238E27FC236}">
                <a16:creationId xmlns:a16="http://schemas.microsoft.com/office/drawing/2014/main" id="{75C6AAE9-CB0F-5F5E-7CCE-8A1F31B622E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91" y="-3531182"/>
            <a:ext cx="811141" cy="937243"/>
          </a:xfrm>
          <a:prstGeom prst="rect">
            <a:avLst/>
          </a:prstGeom>
        </p:spPr>
      </p:pic>
      <p:pic>
        <p:nvPicPr>
          <p:cNvPr id="36" name="Picture 35" descr="A statue of a cow and calf&#10;&#10;AI-generated content may be incorrect.">
            <a:extLst>
              <a:ext uri="{FF2B5EF4-FFF2-40B4-BE49-F238E27FC236}">
                <a16:creationId xmlns:a16="http://schemas.microsoft.com/office/drawing/2014/main" id="{5854D473-771E-8AF0-261A-841DC14B04E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881" y="-3205889"/>
            <a:ext cx="986559" cy="841266"/>
          </a:xfrm>
          <a:prstGeom prst="rect">
            <a:avLst/>
          </a:prstGeom>
        </p:spPr>
      </p:pic>
      <p:pic>
        <p:nvPicPr>
          <p:cNvPr id="37" name="Picture 36" descr="A yellow baby bib with a duck face&#10;&#10;AI-generated content may be incorrect.">
            <a:extLst>
              <a:ext uri="{FF2B5EF4-FFF2-40B4-BE49-F238E27FC236}">
                <a16:creationId xmlns:a16="http://schemas.microsoft.com/office/drawing/2014/main" id="{00A3F1B6-A917-2225-DBDC-C029371197A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22" y="-1755985"/>
            <a:ext cx="614696" cy="7899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F795BD4-3A5A-B005-B279-2248BD61049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7399" y="-2906359"/>
            <a:ext cx="647207" cy="64720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E62D24C-BC96-A024-A9F1-7BCDC20D55DC}"/>
              </a:ext>
            </a:extLst>
          </p:cNvPr>
          <p:cNvSpPr txBox="1"/>
          <p:nvPr/>
        </p:nvSpPr>
        <p:spPr>
          <a:xfrm>
            <a:off x="9788287" y="-2906359"/>
            <a:ext cx="158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lignes</a:t>
            </a:r>
          </a:p>
          <a:p>
            <a:r>
              <a:rPr lang="fr-FR" dirty="0"/>
              <a:t>15 colonnes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98D2FC-05E6-1E54-8899-79E16CA6DE76}"/>
              </a:ext>
            </a:extLst>
          </p:cNvPr>
          <p:cNvSpPr txBox="1"/>
          <p:nvPr/>
        </p:nvSpPr>
        <p:spPr>
          <a:xfrm>
            <a:off x="9325680" y="-1779850"/>
            <a:ext cx="24932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Nom produit, prix, catégorie, description, marque…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Taux de remplissage : 97.83%</a:t>
            </a:r>
          </a:p>
          <a:p>
            <a:pPr algn="ctr"/>
            <a:r>
              <a:rPr lang="fr-FR" sz="1400" dirty="0"/>
              <a:t>Aucun doublon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4739065-96C4-A809-4D98-E4D010B9172C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10572304" y="-2260028"/>
            <a:ext cx="7011" cy="48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9AF809-FD4A-71F7-0FE4-4C0507771E3F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7D570B-BE53-9A3F-DF6D-7AFC3268FF1F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+mj-lt"/>
              <a:buAutoNum type="arabicPeriod" startAt="3"/>
            </a:pPr>
            <a:r>
              <a:rPr lang="fr-FR" sz="2000" dirty="0">
                <a:latin typeface="DM Serif Text" pitchFamily="2" charset="0"/>
              </a:rPr>
              <a:t>Gestion du déséquilibre des classes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07448E6-FF8F-59AE-0259-19B3FE8DA84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68" r="2152"/>
          <a:stretch>
            <a:fillRect/>
          </a:stretch>
        </p:blipFill>
        <p:spPr>
          <a:xfrm>
            <a:off x="5687149" y="1625197"/>
            <a:ext cx="3217798" cy="133321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79C04C7-5DF3-0935-3134-380951753365}"/>
              </a:ext>
            </a:extLst>
          </p:cNvPr>
          <p:cNvSpPr txBox="1"/>
          <p:nvPr/>
        </p:nvSpPr>
        <p:spPr>
          <a:xfrm>
            <a:off x="2936934" y="3727133"/>
            <a:ext cx="2880000" cy="40862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Baseline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B57D48-A65D-62D2-9282-C1FC50BE046C}"/>
              </a:ext>
            </a:extLst>
          </p:cNvPr>
          <p:cNvSpPr txBox="1"/>
          <p:nvPr/>
        </p:nvSpPr>
        <p:spPr>
          <a:xfrm>
            <a:off x="5866071" y="3727133"/>
            <a:ext cx="2880000" cy="40862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SMOTE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CB6E6C-27B5-BA7A-E746-6E06553EA82D}"/>
              </a:ext>
            </a:extLst>
          </p:cNvPr>
          <p:cNvSpPr txBox="1"/>
          <p:nvPr/>
        </p:nvSpPr>
        <p:spPr>
          <a:xfrm>
            <a:off x="8795208" y="3727133"/>
            <a:ext cx="2880000" cy="40862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scale_pos_weight</a:t>
            </a:r>
            <a:endParaRPr lang="fr-FR" dirty="0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A3ABF026-9988-8B48-BA2F-A55882790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445509"/>
              </p:ext>
            </p:extLst>
          </p:nvPr>
        </p:nvGraphicFramePr>
        <p:xfrm>
          <a:off x="3535563" y="4592442"/>
          <a:ext cx="7568483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23736">
                  <a:extLst>
                    <a:ext uri="{9D8B030D-6E8A-4147-A177-3AD203B41FA5}">
                      <a16:colId xmlns:a16="http://schemas.microsoft.com/office/drawing/2014/main" val="3829581165"/>
                    </a:ext>
                  </a:extLst>
                </a:gridCol>
                <a:gridCol w="565608">
                  <a:extLst>
                    <a:ext uri="{9D8B030D-6E8A-4147-A177-3AD203B41FA5}">
                      <a16:colId xmlns:a16="http://schemas.microsoft.com/office/drawing/2014/main" val="1286207860"/>
                    </a:ext>
                  </a:extLst>
                </a:gridCol>
                <a:gridCol w="838986">
                  <a:extLst>
                    <a:ext uri="{9D8B030D-6E8A-4147-A177-3AD203B41FA5}">
                      <a16:colId xmlns:a16="http://schemas.microsoft.com/office/drawing/2014/main" val="2436372173"/>
                    </a:ext>
                  </a:extLst>
                </a:gridCol>
                <a:gridCol w="659876">
                  <a:extLst>
                    <a:ext uri="{9D8B030D-6E8A-4147-A177-3AD203B41FA5}">
                      <a16:colId xmlns:a16="http://schemas.microsoft.com/office/drawing/2014/main" val="3455004696"/>
                    </a:ext>
                  </a:extLst>
                </a:gridCol>
                <a:gridCol w="923827">
                  <a:extLst>
                    <a:ext uri="{9D8B030D-6E8A-4147-A177-3AD203B41FA5}">
                      <a16:colId xmlns:a16="http://schemas.microsoft.com/office/drawing/2014/main" val="2390608442"/>
                    </a:ext>
                  </a:extLst>
                </a:gridCol>
                <a:gridCol w="1432874">
                  <a:extLst>
                    <a:ext uri="{9D8B030D-6E8A-4147-A177-3AD203B41FA5}">
                      <a16:colId xmlns:a16="http://schemas.microsoft.com/office/drawing/2014/main" val="4173780478"/>
                    </a:ext>
                  </a:extLst>
                </a:gridCol>
                <a:gridCol w="1223576">
                  <a:extLst>
                    <a:ext uri="{9D8B030D-6E8A-4147-A177-3AD203B41FA5}">
                      <a16:colId xmlns:a16="http://schemas.microsoft.com/office/drawing/2014/main" val="446030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fold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auc_roc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ap_pr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best_thr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gain@best_thr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400" dirty="0">
                          <a:effectLst/>
                        </a:rPr>
                        <a:t>gain@0.5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573449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400" b="0" dirty="0">
                          <a:effectLst/>
                        </a:rPr>
                        <a:t>Baseline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3.0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0.7874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0.2803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</a:rPr>
                        <a:t>0.0826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</a:rPr>
                        <a:t>-30078.8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</a:rPr>
                        <a:t>-47587.2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752248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400" b="0" dirty="0" err="1">
                          <a:effectLst/>
                        </a:rPr>
                        <a:t>scale_pos_weight</a:t>
                      </a:r>
                      <a:endParaRPr lang="fr-FR" sz="1400" b="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3.0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0.7077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0.1808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</a:rPr>
                        <a:t>0.1084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</a:rPr>
                        <a:t>-36516.2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</a:rPr>
                        <a:t>-49650.0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491745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400" b="0">
                          <a:effectLst/>
                        </a:rPr>
                        <a:t>SMOTE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2.0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0.7850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0.2770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</a:rPr>
                        <a:t>0.0832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</a:rPr>
                        <a:t>-50455.0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</a:rPr>
                        <a:t>-79423.0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82296701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8799D02-CC5B-D673-5E22-98D14A81061E}"/>
              </a:ext>
            </a:extLst>
          </p:cNvPr>
          <p:cNvSpPr/>
          <p:nvPr/>
        </p:nvSpPr>
        <p:spPr>
          <a:xfrm>
            <a:off x="3535563" y="4981903"/>
            <a:ext cx="7568483" cy="31589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140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F5382D28-2EDF-2AE3-0F83-496958973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0D1DC1E-FDCC-6197-1152-982290FD0ACB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CEDCF-06A5-4C60-A511-9FA8404EB39A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E359DB-EDC5-75E9-82DC-63C803AD8992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30B8BB-63DC-DB52-D607-CF41472E34DD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7CAB877E-8439-AB95-A91B-ADAB8C19F7B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97AF35A-2F90-ADCE-825C-B19A710636E9}"/>
              </a:ext>
            </a:extLst>
          </p:cNvPr>
          <p:cNvSpPr txBox="1"/>
          <p:nvPr/>
        </p:nvSpPr>
        <p:spPr>
          <a:xfrm>
            <a:off x="370346" y="-341069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2862C99-2E98-5B14-CCF3-178B52A5BE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2766" y="-3767597"/>
            <a:ext cx="647207" cy="6472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EF1406A-890F-7D1B-6EE1-DC2205FAAE6F}"/>
              </a:ext>
            </a:extLst>
          </p:cNvPr>
          <p:cNvSpPr txBox="1"/>
          <p:nvPr/>
        </p:nvSpPr>
        <p:spPr>
          <a:xfrm>
            <a:off x="9724606" y="-3628660"/>
            <a:ext cx="199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images </a:t>
            </a:r>
          </a:p>
        </p:txBody>
      </p:sp>
      <p:pic>
        <p:nvPicPr>
          <p:cNvPr id="23" name="Picture 22" descr="A pink leather case with a keyboard&#10;&#10;AI-generated content may be incorrect.">
            <a:extLst>
              <a:ext uri="{FF2B5EF4-FFF2-40B4-BE49-F238E27FC236}">
                <a16:creationId xmlns:a16="http://schemas.microsoft.com/office/drawing/2014/main" id="{E23BAE2F-76AC-C501-B0D2-02273F487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477" y="-5342027"/>
            <a:ext cx="690815" cy="789913"/>
          </a:xfrm>
          <a:prstGeom prst="rect">
            <a:avLst/>
          </a:prstGeom>
        </p:spPr>
      </p:pic>
      <p:pic>
        <p:nvPicPr>
          <p:cNvPr id="25" name="Picture 24" descr="A tube of face wash next to a jar of cream&#10;&#10;AI-generated content may be incorrect.">
            <a:extLst>
              <a:ext uri="{FF2B5EF4-FFF2-40B4-BE49-F238E27FC236}">
                <a16:creationId xmlns:a16="http://schemas.microsoft.com/office/drawing/2014/main" id="{2D5A938A-4829-18AA-DAAD-4374232289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22" y="-5264212"/>
            <a:ext cx="769835" cy="872110"/>
          </a:xfrm>
          <a:prstGeom prst="rect">
            <a:avLst/>
          </a:prstGeom>
        </p:spPr>
      </p:pic>
      <p:pic>
        <p:nvPicPr>
          <p:cNvPr id="26" name="Picture 25" descr="A group of light bulbs&#10;&#10;AI-generated content may be incorrect.">
            <a:extLst>
              <a:ext uri="{FF2B5EF4-FFF2-40B4-BE49-F238E27FC236}">
                <a16:creationId xmlns:a16="http://schemas.microsoft.com/office/drawing/2014/main" id="{915B35FC-22D8-88CD-6006-E029B2B161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53" y="-4874167"/>
            <a:ext cx="843313" cy="867408"/>
          </a:xfrm>
          <a:prstGeom prst="rect">
            <a:avLst/>
          </a:prstGeom>
        </p:spPr>
      </p:pic>
      <p:pic>
        <p:nvPicPr>
          <p:cNvPr id="27" name="Picture 26" descr="A close up of a watch&#10;&#10;AI-generated content may be incorrect.">
            <a:extLst>
              <a:ext uri="{FF2B5EF4-FFF2-40B4-BE49-F238E27FC236}">
                <a16:creationId xmlns:a16="http://schemas.microsoft.com/office/drawing/2014/main" id="{F97721E2-B050-F22F-A40C-607D0E0530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77" y="-1562541"/>
            <a:ext cx="769834" cy="867408"/>
          </a:xfrm>
          <a:prstGeom prst="rect">
            <a:avLst/>
          </a:prstGeom>
        </p:spPr>
      </p:pic>
      <p:pic>
        <p:nvPicPr>
          <p:cNvPr id="28" name="Picture 27" descr="A red pan with a lid&#10;&#10;AI-generated content may be incorrect.">
            <a:extLst>
              <a:ext uri="{FF2B5EF4-FFF2-40B4-BE49-F238E27FC236}">
                <a16:creationId xmlns:a16="http://schemas.microsoft.com/office/drawing/2014/main" id="{AD5DEA7A-8A74-2684-8253-324B312271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805" y="-1991822"/>
            <a:ext cx="945111" cy="429281"/>
          </a:xfrm>
          <a:prstGeom prst="rect">
            <a:avLst/>
          </a:prstGeom>
        </p:spPr>
      </p:pic>
      <p:pic>
        <p:nvPicPr>
          <p:cNvPr id="29" name="Picture 28" descr="A red coffee mug with a picture of people in a car&#10;&#10;AI-generated content may be incorrect.">
            <a:extLst>
              <a:ext uri="{FF2B5EF4-FFF2-40B4-BE49-F238E27FC236}">
                <a16:creationId xmlns:a16="http://schemas.microsoft.com/office/drawing/2014/main" id="{590E62C5-774C-7E02-2282-A5246603A1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915" y="-1713056"/>
            <a:ext cx="818415" cy="767078"/>
          </a:xfrm>
          <a:prstGeom prst="rect">
            <a:avLst/>
          </a:prstGeom>
        </p:spPr>
      </p:pic>
      <p:pic>
        <p:nvPicPr>
          <p:cNvPr id="30" name="Picture 29" descr="A close-up of a jewelry box&#10;&#10;AI-generated content may be incorrect.">
            <a:extLst>
              <a:ext uri="{FF2B5EF4-FFF2-40B4-BE49-F238E27FC236}">
                <a16:creationId xmlns:a16="http://schemas.microsoft.com/office/drawing/2014/main" id="{2998C1D5-42DB-7FBE-3D96-FD30D49E9C6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777" y="-4188591"/>
            <a:ext cx="991944" cy="787243"/>
          </a:xfrm>
          <a:prstGeom prst="rect">
            <a:avLst/>
          </a:prstGeom>
        </p:spPr>
      </p:pic>
      <p:pic>
        <p:nvPicPr>
          <p:cNvPr id="31" name="Picture 30" descr="A black curtains in a room&#10;&#10;AI-generated content may be incorrect.">
            <a:extLst>
              <a:ext uri="{FF2B5EF4-FFF2-40B4-BE49-F238E27FC236}">
                <a16:creationId xmlns:a16="http://schemas.microsoft.com/office/drawing/2014/main" id="{86ED2CDD-0896-041F-C92F-090FA0C8D87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929" y="-4782380"/>
            <a:ext cx="789542" cy="892919"/>
          </a:xfrm>
          <a:prstGeom prst="rect">
            <a:avLst/>
          </a:prstGeom>
        </p:spPr>
      </p:pic>
      <p:pic>
        <p:nvPicPr>
          <p:cNvPr id="32" name="Picture 31" descr="Several different colored baby clothes&#10;&#10;AI-generated content may be incorrect.">
            <a:extLst>
              <a:ext uri="{FF2B5EF4-FFF2-40B4-BE49-F238E27FC236}">
                <a16:creationId xmlns:a16="http://schemas.microsoft.com/office/drawing/2014/main" id="{95DFF872-0891-9AEE-9093-DDC270B885A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34" y="-4132085"/>
            <a:ext cx="683229" cy="742693"/>
          </a:xfrm>
          <a:prstGeom prst="rect">
            <a:avLst/>
          </a:prstGeom>
        </p:spPr>
      </p:pic>
      <p:pic>
        <p:nvPicPr>
          <p:cNvPr id="33" name="Picture 32" descr="A brown and gold chest of drawers&#10;&#10;AI-generated content may be incorrect.">
            <a:extLst>
              <a:ext uri="{FF2B5EF4-FFF2-40B4-BE49-F238E27FC236}">
                <a16:creationId xmlns:a16="http://schemas.microsoft.com/office/drawing/2014/main" id="{3F175DDA-3EEE-F15C-3951-F922B35DF0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25" y="-2869358"/>
            <a:ext cx="704386" cy="777726"/>
          </a:xfrm>
          <a:prstGeom prst="rect">
            <a:avLst/>
          </a:prstGeom>
        </p:spPr>
      </p:pic>
      <p:pic>
        <p:nvPicPr>
          <p:cNvPr id="34" name="Picture 33" descr="A white hat with a pink trim&#10;&#10;AI-generated content may be incorrect.">
            <a:extLst>
              <a:ext uri="{FF2B5EF4-FFF2-40B4-BE49-F238E27FC236}">
                <a16:creationId xmlns:a16="http://schemas.microsoft.com/office/drawing/2014/main" id="{0C556380-DAF9-5911-FA22-E8F210A69A7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332" y="-2316632"/>
            <a:ext cx="1127631" cy="450000"/>
          </a:xfrm>
          <a:prstGeom prst="rect">
            <a:avLst/>
          </a:prstGeom>
        </p:spPr>
      </p:pic>
      <p:pic>
        <p:nvPicPr>
          <p:cNvPr id="35" name="Picture 34" descr="A group of black and yellow spray cans&#10;&#10;AI-generated content may be incorrect.">
            <a:extLst>
              <a:ext uri="{FF2B5EF4-FFF2-40B4-BE49-F238E27FC236}">
                <a16:creationId xmlns:a16="http://schemas.microsoft.com/office/drawing/2014/main" id="{A83FE23B-1DA5-3844-53E9-875E2F0A31B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691" y="-3531182"/>
            <a:ext cx="811141" cy="937243"/>
          </a:xfrm>
          <a:prstGeom prst="rect">
            <a:avLst/>
          </a:prstGeom>
        </p:spPr>
      </p:pic>
      <p:pic>
        <p:nvPicPr>
          <p:cNvPr id="36" name="Picture 35" descr="A statue of a cow and calf&#10;&#10;AI-generated content may be incorrect.">
            <a:extLst>
              <a:ext uri="{FF2B5EF4-FFF2-40B4-BE49-F238E27FC236}">
                <a16:creationId xmlns:a16="http://schemas.microsoft.com/office/drawing/2014/main" id="{4520803A-7CCD-B1D7-38A4-D3C92175425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881" y="-3205889"/>
            <a:ext cx="986559" cy="841266"/>
          </a:xfrm>
          <a:prstGeom prst="rect">
            <a:avLst/>
          </a:prstGeom>
        </p:spPr>
      </p:pic>
      <p:pic>
        <p:nvPicPr>
          <p:cNvPr id="37" name="Picture 36" descr="A yellow baby bib with a duck face&#10;&#10;AI-generated content may be incorrect.">
            <a:extLst>
              <a:ext uri="{FF2B5EF4-FFF2-40B4-BE49-F238E27FC236}">
                <a16:creationId xmlns:a16="http://schemas.microsoft.com/office/drawing/2014/main" id="{42C5AEDD-E5C4-9BFB-9D5E-753080FDD0C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22" y="-1755985"/>
            <a:ext cx="614696" cy="7899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BABA6E9-61AA-8500-1753-3FB8643EF6A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7399" y="-2906359"/>
            <a:ext cx="647207" cy="64720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AC057E3-5FC8-7091-22BC-B69C411A3479}"/>
              </a:ext>
            </a:extLst>
          </p:cNvPr>
          <p:cNvSpPr txBox="1"/>
          <p:nvPr/>
        </p:nvSpPr>
        <p:spPr>
          <a:xfrm>
            <a:off x="9788287" y="-2906359"/>
            <a:ext cx="158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1050 lignes</a:t>
            </a:r>
          </a:p>
          <a:p>
            <a:r>
              <a:rPr lang="fr-FR" dirty="0"/>
              <a:t>15 colonnes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45191B-4CF0-6642-7912-D750E9BAD9D5}"/>
              </a:ext>
            </a:extLst>
          </p:cNvPr>
          <p:cNvSpPr txBox="1"/>
          <p:nvPr/>
        </p:nvSpPr>
        <p:spPr>
          <a:xfrm>
            <a:off x="9325680" y="-1779850"/>
            <a:ext cx="24932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Nom produit, prix, catégorie, description, marque…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/>
              <a:t>Taux de remplissage : 97.83%</a:t>
            </a:r>
          </a:p>
          <a:p>
            <a:pPr algn="ctr"/>
            <a:r>
              <a:rPr lang="fr-FR" sz="1400" dirty="0"/>
              <a:t>Aucun doublon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D70EA21-6E06-5C44-E03E-E7156F493157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10572304" y="-2260028"/>
            <a:ext cx="7011" cy="480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B305F2C-D8B9-7E4D-CD25-852E054B7F87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E80AA5-6932-3C92-AAB1-5668CE76D8A1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+mj-lt"/>
              <a:buAutoNum type="arabicPeriod" startAt="4"/>
            </a:pPr>
            <a:r>
              <a:rPr lang="fr-FR" sz="2000" dirty="0">
                <a:latin typeface="DM Serif Text" pitchFamily="2" charset="0"/>
              </a:rPr>
              <a:t>Validation des données – Contrôle Train/Test Drift</a:t>
            </a:r>
          </a:p>
        </p:txBody>
      </p:sp>
      <p:pic>
        <p:nvPicPr>
          <p:cNvPr id="7" name="Picture 6" descr="A screenshot of a data drift&#10;&#10;AI-generated content may be incorrect.">
            <a:extLst>
              <a:ext uri="{FF2B5EF4-FFF2-40B4-BE49-F238E27FC236}">
                <a16:creationId xmlns:a16="http://schemas.microsoft.com/office/drawing/2014/main" id="{811DF2AE-FB13-E2FF-6F0D-71619FC9CE96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b="29470"/>
          <a:stretch>
            <a:fillRect/>
          </a:stretch>
        </p:blipFill>
        <p:spPr>
          <a:xfrm>
            <a:off x="3580415" y="1326077"/>
            <a:ext cx="7549678" cy="23295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4BE8B185-8D49-3598-8836-1FF4000FC52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32909" y="4155246"/>
            <a:ext cx="3316765" cy="2057234"/>
          </a:xfrm>
          <a:prstGeom prst="rect">
            <a:avLst/>
          </a:prstGeom>
        </p:spPr>
      </p:pic>
      <p:pic>
        <p:nvPicPr>
          <p:cNvPr id="15" name="Picture 14" descr="A graph of a distribution of trains&#10;&#10;AI-generated content may be incorrect.">
            <a:extLst>
              <a:ext uri="{FF2B5EF4-FFF2-40B4-BE49-F238E27FC236}">
                <a16:creationId xmlns:a16="http://schemas.microsoft.com/office/drawing/2014/main" id="{5679BFEC-853B-2FD7-4FE3-1020D8F9C7B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41330" y="4155246"/>
            <a:ext cx="3316764" cy="205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91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BAA779E7-E1D6-23B8-6BAA-00B0E9C60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5DB22F4-F6BE-9CA2-6C3B-91CE4A18F6B9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EE5020-2396-1419-81EF-E124E8168C78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092E95-E6D7-C986-F5C6-ECDC7530B746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837DB5-1470-F91A-E831-D0F3B76D6D1C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41171AF2-5804-C63E-8FD7-8F2971C3CE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414EC6-6A6E-82D3-6CD6-511F614B902B}"/>
              </a:ext>
            </a:extLst>
          </p:cNvPr>
          <p:cNvSpPr txBox="1"/>
          <p:nvPr/>
        </p:nvSpPr>
        <p:spPr>
          <a:xfrm>
            <a:off x="370346" y="-493088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3A5AFF-6C6E-5867-75D3-8783E603B072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059A29-AC5B-E347-2B44-B279DEAA8D14}"/>
              </a:ext>
            </a:extLst>
          </p:cNvPr>
          <p:cNvSpPr/>
          <p:nvPr/>
        </p:nvSpPr>
        <p:spPr>
          <a:xfrm>
            <a:off x="3497580" y="2870952"/>
            <a:ext cx="3708000" cy="46951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E880E3-FA37-9749-77B1-BE7004FD9DF0}"/>
              </a:ext>
            </a:extLst>
          </p:cNvPr>
          <p:cNvSpPr/>
          <p:nvPr/>
        </p:nvSpPr>
        <p:spPr>
          <a:xfrm>
            <a:off x="3497580" y="3472634"/>
            <a:ext cx="3708000" cy="468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306C43-B56E-F2E3-0D7D-F770BD0CC3B5}"/>
              </a:ext>
            </a:extLst>
          </p:cNvPr>
          <p:cNvSpPr/>
          <p:nvPr/>
        </p:nvSpPr>
        <p:spPr>
          <a:xfrm>
            <a:off x="7612380" y="3472632"/>
            <a:ext cx="3708000" cy="468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6C78E25-EA2F-D38A-E06B-021239F56B48}"/>
              </a:ext>
            </a:extLst>
          </p:cNvPr>
          <p:cNvSpPr/>
          <p:nvPr/>
        </p:nvSpPr>
        <p:spPr>
          <a:xfrm>
            <a:off x="7612380" y="2870953"/>
            <a:ext cx="3708000" cy="46951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16FE14-32DE-3293-ED12-E3B7A1CCF3A8}"/>
              </a:ext>
            </a:extLst>
          </p:cNvPr>
          <p:cNvSpPr txBox="1"/>
          <p:nvPr/>
        </p:nvSpPr>
        <p:spPr>
          <a:xfrm>
            <a:off x="3808265" y="2937021"/>
            <a:ext cx="291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err="1"/>
              <a:t>Dummy</a:t>
            </a:r>
            <a:r>
              <a:rPr lang="fr-FR" sz="1600" b="1" dirty="0"/>
              <a:t> Classifier</a:t>
            </a:r>
            <a:endParaRPr lang="fr-FR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2AC52B-E064-083C-ECF1-63F90BB4234E}"/>
              </a:ext>
            </a:extLst>
          </p:cNvPr>
          <p:cNvSpPr txBox="1"/>
          <p:nvPr/>
        </p:nvSpPr>
        <p:spPr>
          <a:xfrm>
            <a:off x="7969044" y="2913308"/>
            <a:ext cx="291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err="1"/>
              <a:t>Logistic</a:t>
            </a:r>
            <a:r>
              <a:rPr lang="fr-FR" sz="1600" b="1" dirty="0"/>
              <a:t> </a:t>
            </a:r>
            <a:r>
              <a:rPr lang="fr-FR" sz="1600" b="1" dirty="0" err="1"/>
              <a:t>Regression</a:t>
            </a:r>
            <a:endParaRPr lang="fr-FR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25A7DA-492B-0775-F7DE-B6218FE86275}"/>
              </a:ext>
            </a:extLst>
          </p:cNvPr>
          <p:cNvSpPr txBox="1"/>
          <p:nvPr/>
        </p:nvSpPr>
        <p:spPr>
          <a:xfrm>
            <a:off x="3808265" y="3521600"/>
            <a:ext cx="291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err="1"/>
              <a:t>LightGBM</a:t>
            </a:r>
            <a:endParaRPr lang="fr-FR" sz="16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A74D23-D152-C381-C9A3-1698BA0B9C24}"/>
              </a:ext>
            </a:extLst>
          </p:cNvPr>
          <p:cNvSpPr txBox="1"/>
          <p:nvPr/>
        </p:nvSpPr>
        <p:spPr>
          <a:xfrm>
            <a:off x="7508240" y="3533685"/>
            <a:ext cx="370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err="1"/>
              <a:t>XGBoost</a:t>
            </a:r>
            <a:endParaRPr lang="fr-FR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707EFC-73BF-3DD6-169F-75C93E183046}"/>
              </a:ext>
            </a:extLst>
          </p:cNvPr>
          <p:cNvSpPr txBox="1"/>
          <p:nvPr/>
        </p:nvSpPr>
        <p:spPr>
          <a:xfrm>
            <a:off x="3497580" y="1261961"/>
            <a:ext cx="60109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u="sng" dirty="0"/>
              <a:t>Objectifs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Prédire la probabilité qu’un client ne rembourse pas son crédit.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Trouver un modèle performant, stable et interprétable.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Maximiser le gain métier via un seuil optimisé.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292E63-B684-A983-516B-3A5F59BC0FCF}"/>
              </a:ext>
            </a:extLst>
          </p:cNvPr>
          <p:cNvSpPr txBox="1"/>
          <p:nvPr/>
        </p:nvSpPr>
        <p:spPr>
          <a:xfrm>
            <a:off x="3497580" y="2474614"/>
            <a:ext cx="2100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u="sng" dirty="0"/>
              <a:t>4 stratégies testées :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C11B48F3-2652-15FF-56EB-CA4B49EAB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084491"/>
              </p:ext>
            </p:extLst>
          </p:nvPr>
        </p:nvGraphicFramePr>
        <p:xfrm>
          <a:off x="2838424" y="4208038"/>
          <a:ext cx="9167039" cy="227872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72470">
                  <a:extLst>
                    <a:ext uri="{9D8B030D-6E8A-4147-A177-3AD203B41FA5}">
                      <a16:colId xmlns:a16="http://schemas.microsoft.com/office/drawing/2014/main" val="3372530961"/>
                    </a:ext>
                  </a:extLst>
                </a:gridCol>
                <a:gridCol w="1027461">
                  <a:extLst>
                    <a:ext uri="{9D8B030D-6E8A-4147-A177-3AD203B41FA5}">
                      <a16:colId xmlns:a16="http://schemas.microsoft.com/office/drawing/2014/main" val="4871429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506081597"/>
                    </a:ext>
                  </a:extLst>
                </a:gridCol>
                <a:gridCol w="1309254">
                  <a:extLst>
                    <a:ext uri="{9D8B030D-6E8A-4147-A177-3AD203B41FA5}">
                      <a16:colId xmlns:a16="http://schemas.microsoft.com/office/drawing/2014/main" val="4020723714"/>
                    </a:ext>
                  </a:extLst>
                </a:gridCol>
                <a:gridCol w="1226127">
                  <a:extLst>
                    <a:ext uri="{9D8B030D-6E8A-4147-A177-3AD203B41FA5}">
                      <a16:colId xmlns:a16="http://schemas.microsoft.com/office/drawing/2014/main" val="4243060666"/>
                    </a:ext>
                  </a:extLst>
                </a:gridCol>
                <a:gridCol w="1122219">
                  <a:extLst>
                    <a:ext uri="{9D8B030D-6E8A-4147-A177-3AD203B41FA5}">
                      <a16:colId xmlns:a16="http://schemas.microsoft.com/office/drawing/2014/main" val="3803429341"/>
                    </a:ext>
                  </a:extLst>
                </a:gridCol>
                <a:gridCol w="1095008">
                  <a:extLst>
                    <a:ext uri="{9D8B030D-6E8A-4147-A177-3AD203B41FA5}">
                      <a16:colId xmlns:a16="http://schemas.microsoft.com/office/drawing/2014/main" val="833484360"/>
                    </a:ext>
                  </a:extLst>
                </a:gridCol>
              </a:tblGrid>
              <a:tr h="4557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roc_auc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average_precision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accuracy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precision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recall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dirty="0">
                          <a:effectLst/>
                        </a:rPr>
                        <a:t>f1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785197254"/>
                  </a:ext>
                </a:extLst>
              </a:tr>
              <a:tr h="45574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400" b="0">
                          <a:effectLst/>
                        </a:rPr>
                        <a:t>DummyClassifier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0.500000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0.080729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0.919271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0.000000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0.000000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</a:rPr>
                        <a:t>0.000000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521022684"/>
                  </a:ext>
                </a:extLst>
              </a:tr>
              <a:tr h="45574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400" b="0">
                          <a:effectLst/>
                        </a:rPr>
                        <a:t>LogisticRegression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0.758770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0.231866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0.696611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0.167298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0.693454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0.269564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650280976"/>
                  </a:ext>
                </a:extLst>
              </a:tr>
              <a:tr h="45574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400" b="0">
                          <a:effectLst/>
                        </a:rPr>
                        <a:t>LightGBM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0.784186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0.277677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0.919742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0.541076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0.038469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0.071832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538778080"/>
                  </a:ext>
                </a:extLst>
              </a:tr>
              <a:tr h="45574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400" b="0">
                          <a:effectLst/>
                        </a:rPr>
                        <a:t>XGBoost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0.786023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0.282921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0.920198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0.577657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0.042699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</a:rPr>
                        <a:t>0.079520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435715889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897D6056-31B0-F0E9-F488-7E5C51DF75C0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AutoNum type="arabicPeriod"/>
            </a:pPr>
            <a:r>
              <a:rPr lang="fr-FR" sz="2000" dirty="0">
                <a:latin typeface="DM Serif Text" pitchFamily="2" charset="0"/>
              </a:rPr>
              <a:t>Modèles testés &amp; Résultats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5942FEB-6AAF-70EB-353E-4C61E5C30EC7}"/>
              </a:ext>
            </a:extLst>
          </p:cNvPr>
          <p:cNvSpPr/>
          <p:nvPr/>
        </p:nvSpPr>
        <p:spPr>
          <a:xfrm>
            <a:off x="2838424" y="5618004"/>
            <a:ext cx="9167040" cy="33311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6318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0DCDB182-0BCE-849B-4844-4C217D08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6EB4CDC-371B-1E9C-C9C2-42F9BDCCD942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AD881F-609F-5E64-BFC0-63C4835E59C8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E6707C-9AF4-CB1E-3DF6-79DB4B632089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BB14BE-250A-B997-262A-B3B89E1D2354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8E2756E3-D2DA-2E59-EE28-8449AED570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D309156-92CC-6630-48E4-E4D3290ADA1C}"/>
              </a:ext>
            </a:extLst>
          </p:cNvPr>
          <p:cNvSpPr txBox="1"/>
          <p:nvPr/>
        </p:nvSpPr>
        <p:spPr>
          <a:xfrm>
            <a:off x="370346" y="-493088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9768F-485C-2B92-3C32-277B88EDC82F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E27738-C4B2-2C15-0A8F-0C1295E496D2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+mj-lt"/>
              <a:buAutoNum type="arabicPeriod" startAt="2"/>
            </a:pPr>
            <a:r>
              <a:rPr lang="fr-FR" sz="2000" dirty="0">
                <a:latin typeface="DM Serif Text" pitchFamily="2" charset="0"/>
              </a:rPr>
              <a:t>Pipeline </a:t>
            </a:r>
            <a:r>
              <a:rPr lang="fr-FR" sz="2000" dirty="0" err="1">
                <a:latin typeface="DM Serif Text" pitchFamily="2" charset="0"/>
              </a:rPr>
              <a:t>Scikit-Learn</a:t>
            </a:r>
            <a:r>
              <a:rPr lang="fr-FR" sz="2000" dirty="0">
                <a:latin typeface="DM Serif Text" pitchFamily="2" charset="0"/>
              </a:rPr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C441CF-FD94-5A1C-D6AC-77F0AEADA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03215"/>
              </p:ext>
            </p:extLst>
          </p:nvPr>
        </p:nvGraphicFramePr>
        <p:xfrm>
          <a:off x="2705465" y="1309476"/>
          <a:ext cx="9167039" cy="91149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72470">
                  <a:extLst>
                    <a:ext uri="{9D8B030D-6E8A-4147-A177-3AD203B41FA5}">
                      <a16:colId xmlns:a16="http://schemas.microsoft.com/office/drawing/2014/main" val="3372530961"/>
                    </a:ext>
                  </a:extLst>
                </a:gridCol>
                <a:gridCol w="1027461">
                  <a:extLst>
                    <a:ext uri="{9D8B030D-6E8A-4147-A177-3AD203B41FA5}">
                      <a16:colId xmlns:a16="http://schemas.microsoft.com/office/drawing/2014/main" val="4871429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506081597"/>
                    </a:ext>
                  </a:extLst>
                </a:gridCol>
                <a:gridCol w="1309254">
                  <a:extLst>
                    <a:ext uri="{9D8B030D-6E8A-4147-A177-3AD203B41FA5}">
                      <a16:colId xmlns:a16="http://schemas.microsoft.com/office/drawing/2014/main" val="4020723714"/>
                    </a:ext>
                  </a:extLst>
                </a:gridCol>
                <a:gridCol w="1226127">
                  <a:extLst>
                    <a:ext uri="{9D8B030D-6E8A-4147-A177-3AD203B41FA5}">
                      <a16:colId xmlns:a16="http://schemas.microsoft.com/office/drawing/2014/main" val="4243060666"/>
                    </a:ext>
                  </a:extLst>
                </a:gridCol>
                <a:gridCol w="1122219">
                  <a:extLst>
                    <a:ext uri="{9D8B030D-6E8A-4147-A177-3AD203B41FA5}">
                      <a16:colId xmlns:a16="http://schemas.microsoft.com/office/drawing/2014/main" val="3803429341"/>
                    </a:ext>
                  </a:extLst>
                </a:gridCol>
                <a:gridCol w="1095008">
                  <a:extLst>
                    <a:ext uri="{9D8B030D-6E8A-4147-A177-3AD203B41FA5}">
                      <a16:colId xmlns:a16="http://schemas.microsoft.com/office/drawing/2014/main" val="833484360"/>
                    </a:ext>
                  </a:extLst>
                </a:gridCol>
              </a:tblGrid>
              <a:tr h="4557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roc_auc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average_precision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accuracy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precision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dirty="0" err="1">
                          <a:effectLst/>
                        </a:rPr>
                        <a:t>recall</a:t>
                      </a:r>
                      <a:endParaRPr lang="fr-FR" sz="1400" dirty="0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dirty="0">
                          <a:effectLst/>
                        </a:rPr>
                        <a:t>f1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785197254"/>
                  </a:ext>
                </a:extLst>
              </a:tr>
              <a:tr h="45574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1400" b="0">
                          <a:effectLst/>
                        </a:rPr>
                        <a:t>LightGBM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0.784186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0.277677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0.919742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0.541076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0.038469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effectLst/>
                        </a:rPr>
                        <a:t>0.071832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5387780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D45F316-D0F7-A9D8-822C-332E702F9050}"/>
              </a:ext>
            </a:extLst>
          </p:cNvPr>
          <p:cNvSpPr txBox="1"/>
          <p:nvPr/>
        </p:nvSpPr>
        <p:spPr>
          <a:xfrm>
            <a:off x="2932386" y="2444529"/>
            <a:ext cx="8713076" cy="415432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 err="1"/>
              <a:t>final_pipeline</a:t>
            </a:r>
            <a:r>
              <a:rPr lang="fr-FR" sz="1400" dirty="0"/>
              <a:t> = Pipeline([</a:t>
            </a:r>
          </a:p>
          <a:p>
            <a:r>
              <a:rPr lang="fr-FR" sz="1400" dirty="0"/>
              <a:t>    ("features", </a:t>
            </a:r>
            <a:r>
              <a:rPr lang="fr-FR" sz="1400" dirty="0" err="1"/>
              <a:t>FeatureBuilder</a:t>
            </a:r>
            <a:r>
              <a:rPr lang="fr-FR" sz="1400" dirty="0"/>
              <a:t>(</a:t>
            </a:r>
            <a:r>
              <a:rPr lang="fr-FR" sz="1400" dirty="0" err="1"/>
              <a:t>features_keep</a:t>
            </a:r>
            <a:r>
              <a:rPr lang="fr-FR" sz="1400" dirty="0"/>
              <a:t>)),</a:t>
            </a:r>
          </a:p>
          <a:p>
            <a:r>
              <a:rPr lang="fr-FR" sz="1400" dirty="0"/>
              <a:t>    ("</a:t>
            </a:r>
            <a:r>
              <a:rPr lang="fr-FR" sz="1400" dirty="0" err="1"/>
              <a:t>cleanup</a:t>
            </a:r>
            <a:r>
              <a:rPr lang="fr-FR" sz="1400" dirty="0"/>
              <a:t>", </a:t>
            </a:r>
            <a:r>
              <a:rPr lang="fr-FR" sz="1400" dirty="0" err="1"/>
              <a:t>FunctionTransformer</a:t>
            </a:r>
            <a:r>
              <a:rPr lang="fr-FR" sz="1400" dirty="0"/>
              <a:t>(</a:t>
            </a:r>
            <a:r>
              <a:rPr lang="fr-FR" sz="1400" dirty="0" err="1"/>
              <a:t>cleanup_inf_to_nan</a:t>
            </a:r>
            <a:r>
              <a:rPr lang="fr-FR" sz="1400" dirty="0"/>
              <a:t>)),</a:t>
            </a:r>
          </a:p>
          <a:p>
            <a:r>
              <a:rPr lang="fr-FR" sz="1400" dirty="0"/>
              <a:t>    ("imputer", </a:t>
            </a:r>
            <a:r>
              <a:rPr lang="fr-FR" sz="1400" dirty="0" err="1"/>
              <a:t>SimpleImputer</a:t>
            </a:r>
            <a:r>
              <a:rPr lang="fr-FR" sz="1400" dirty="0"/>
              <a:t>(</a:t>
            </a:r>
            <a:r>
              <a:rPr lang="fr-FR" sz="1400" dirty="0" err="1"/>
              <a:t>strategy</a:t>
            </a:r>
            <a:r>
              <a:rPr lang="fr-FR" sz="1400" dirty="0"/>
              <a:t>=("</a:t>
            </a:r>
            <a:r>
              <a:rPr lang="fr-FR" sz="1400" dirty="0" err="1"/>
              <a:t>most_frequent</a:t>
            </a:r>
            <a:r>
              <a:rPr lang="fr-FR" sz="1400" dirty="0"/>
              <a:t>" if BEST_IMPUTE=="mode" </a:t>
            </a:r>
            <a:r>
              <a:rPr lang="fr-FR" sz="1400" dirty="0" err="1"/>
              <a:t>else</a:t>
            </a:r>
            <a:r>
              <a:rPr lang="fr-FR" sz="1400" dirty="0"/>
              <a:t> BEST_IMPUTE))),</a:t>
            </a:r>
          </a:p>
          <a:p>
            <a:r>
              <a:rPr lang="fr-FR" sz="1400" dirty="0"/>
              <a:t>    ("model", </a:t>
            </a:r>
            <a:r>
              <a:rPr lang="fr-FR" sz="1400" dirty="0" err="1"/>
              <a:t>LGBMClassifier</a:t>
            </a:r>
            <a:r>
              <a:rPr lang="fr-FR" sz="1400" dirty="0"/>
              <a:t>(</a:t>
            </a:r>
          </a:p>
          <a:p>
            <a:r>
              <a:rPr lang="fr-FR" sz="1400" dirty="0"/>
              <a:t>        </a:t>
            </a:r>
            <a:r>
              <a:rPr lang="fr-FR" sz="1400" dirty="0" err="1"/>
              <a:t>n_estimators</a:t>
            </a:r>
            <a:r>
              <a:rPr lang="fr-FR" sz="1400" dirty="0"/>
              <a:t>=5000,</a:t>
            </a:r>
          </a:p>
          <a:p>
            <a:r>
              <a:rPr lang="fr-FR" sz="1400" dirty="0"/>
              <a:t>        </a:t>
            </a:r>
            <a:r>
              <a:rPr lang="fr-FR" sz="1400" dirty="0" err="1"/>
              <a:t>learning_rate</a:t>
            </a:r>
            <a:r>
              <a:rPr lang="fr-FR" sz="1400" dirty="0"/>
              <a:t>=0.03,</a:t>
            </a:r>
          </a:p>
          <a:p>
            <a:r>
              <a:rPr lang="fr-FR" sz="1400" dirty="0"/>
              <a:t>        </a:t>
            </a:r>
            <a:r>
              <a:rPr lang="fr-FR" sz="1400" dirty="0" err="1"/>
              <a:t>num_leaves</a:t>
            </a:r>
            <a:r>
              <a:rPr lang="fr-FR" sz="1400" dirty="0"/>
              <a:t>=48,</a:t>
            </a:r>
          </a:p>
          <a:p>
            <a:r>
              <a:rPr lang="fr-FR" sz="1400" dirty="0"/>
              <a:t>        </a:t>
            </a:r>
            <a:r>
              <a:rPr lang="fr-FR" sz="1400" dirty="0" err="1"/>
              <a:t>subsample</a:t>
            </a:r>
            <a:r>
              <a:rPr lang="fr-FR" sz="1400" dirty="0"/>
              <a:t>=0.8,</a:t>
            </a:r>
          </a:p>
          <a:p>
            <a:r>
              <a:rPr lang="fr-FR" sz="1400" dirty="0"/>
              <a:t>        </a:t>
            </a:r>
            <a:r>
              <a:rPr lang="fr-FR" sz="1400" dirty="0" err="1"/>
              <a:t>colsample_bytree</a:t>
            </a:r>
            <a:r>
              <a:rPr lang="fr-FR" sz="1400" dirty="0"/>
              <a:t>=0.8,</a:t>
            </a:r>
          </a:p>
          <a:p>
            <a:r>
              <a:rPr lang="fr-FR" sz="1400" dirty="0"/>
              <a:t>        </a:t>
            </a:r>
            <a:r>
              <a:rPr lang="fr-FR" sz="1400" dirty="0" err="1"/>
              <a:t>max_depth</a:t>
            </a:r>
            <a:r>
              <a:rPr lang="fr-FR" sz="1400" dirty="0"/>
              <a:t>=-1,</a:t>
            </a:r>
          </a:p>
          <a:p>
            <a:r>
              <a:rPr lang="fr-FR" sz="1400" dirty="0"/>
              <a:t>        </a:t>
            </a:r>
            <a:r>
              <a:rPr lang="fr-FR" sz="1400" dirty="0" err="1"/>
              <a:t>min_child_samples</a:t>
            </a:r>
            <a:r>
              <a:rPr lang="fr-FR" sz="1400" dirty="0"/>
              <a:t>=50,</a:t>
            </a:r>
          </a:p>
          <a:p>
            <a:r>
              <a:rPr lang="fr-FR" sz="1400" dirty="0"/>
              <a:t>        </a:t>
            </a:r>
            <a:r>
              <a:rPr lang="fr-FR" sz="1400" dirty="0" err="1"/>
              <a:t>n_jobs</a:t>
            </a:r>
            <a:r>
              <a:rPr lang="fr-FR" sz="1400" dirty="0"/>
              <a:t>=-1,</a:t>
            </a:r>
          </a:p>
          <a:p>
            <a:r>
              <a:rPr lang="fr-FR" sz="1400" dirty="0"/>
              <a:t>        </a:t>
            </a:r>
            <a:r>
              <a:rPr lang="fr-FR" sz="1400" dirty="0" err="1"/>
              <a:t>random_state</a:t>
            </a:r>
            <a:r>
              <a:rPr lang="fr-FR" sz="1400" dirty="0"/>
              <a:t>=42,</a:t>
            </a:r>
          </a:p>
          <a:p>
            <a:r>
              <a:rPr lang="fr-FR" sz="1400" dirty="0"/>
              <a:t>        </a:t>
            </a:r>
            <a:r>
              <a:rPr lang="fr-FR" sz="1400" dirty="0" err="1"/>
              <a:t>force_col_wise</a:t>
            </a:r>
            <a:r>
              <a:rPr lang="fr-FR" sz="1400" dirty="0"/>
              <a:t>=</a:t>
            </a:r>
            <a:r>
              <a:rPr lang="fr-FR" sz="1400" dirty="0" err="1"/>
              <a:t>True</a:t>
            </a:r>
            <a:endParaRPr lang="fr-FR" sz="1400" dirty="0"/>
          </a:p>
          <a:p>
            <a:r>
              <a:rPr lang="fr-FR" sz="1400" dirty="0"/>
              <a:t>    ))</a:t>
            </a:r>
          </a:p>
          <a:p>
            <a:r>
              <a:rPr lang="fr-FR" sz="1400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821812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12380BF3-2EA0-DCE7-97AC-136BE8700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3E72A83-959C-2DE9-A80E-B155E6162F7E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7CF15D-FD90-C5BC-FCD3-31149D2FB916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BE1B6A-F727-AC0C-B160-DB0656593E5F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754AC9-6BDB-7B0E-A7DF-21DE04F162D5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74D3E1A6-96BE-4D33-5A05-EB48466AEB7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D0215CC-27D2-E675-306C-D39DD90F2B50}"/>
              </a:ext>
            </a:extLst>
          </p:cNvPr>
          <p:cNvSpPr txBox="1"/>
          <p:nvPr/>
        </p:nvSpPr>
        <p:spPr>
          <a:xfrm>
            <a:off x="370346" y="-493088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ED3A6E-3B84-59C7-3D47-1C46666D6B3E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A0DA3F-05CB-297C-6798-ECFC095CCEDC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+mj-lt"/>
              <a:buAutoNum type="arabicPeriod" startAt="3"/>
            </a:pPr>
            <a:r>
              <a:rPr lang="fr-FR" sz="2000" dirty="0">
                <a:latin typeface="DM Serif Text" pitchFamily="2" charset="0"/>
              </a:rPr>
              <a:t>Tuning hyperparamètres et diagnostic d’</a:t>
            </a:r>
            <a:r>
              <a:rPr lang="fr-FR" sz="2000" dirty="0" err="1">
                <a:latin typeface="DM Serif Text" pitchFamily="2" charset="0"/>
              </a:rPr>
              <a:t>overfitting</a:t>
            </a:r>
            <a:endParaRPr lang="fr-FR" sz="2000" dirty="0">
              <a:latin typeface="DM Serif Text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A86C8A4-BC07-AC30-6A97-3C5E6BF4F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429574"/>
              </p:ext>
            </p:extLst>
          </p:nvPr>
        </p:nvGraphicFramePr>
        <p:xfrm>
          <a:off x="3002094" y="4651031"/>
          <a:ext cx="8127999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77108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510319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57306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/>
                        <a:t>Résultat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/>
                        <a:t>Conclusion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143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b="1"/>
                        <a:t>Holdout AUC train/valid</a:t>
                      </a:r>
                      <a:endParaRPr lang="fr-FR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/>
                        <a:t>0.87 / 0.78 (gap 0.086)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/>
                        <a:t>Pas d’overfitting majeur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09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b="1" dirty="0"/>
                        <a:t>Validation croisée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/>
                        <a:t>0.784 ± 0.002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/>
                        <a:t>Modèle très stable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6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b="1"/>
                        <a:t>Target Shuffle</a:t>
                      </a:r>
                      <a:endParaRPr lang="fr-FR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/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600" dirty="0"/>
                        <a:t>Aucune fuite de données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9689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305C9A1-59CF-75FE-D41A-832654F13EE9}"/>
              </a:ext>
            </a:extLst>
          </p:cNvPr>
          <p:cNvSpPr txBox="1"/>
          <p:nvPr/>
        </p:nvSpPr>
        <p:spPr>
          <a:xfrm>
            <a:off x="2916248" y="2021638"/>
            <a:ext cx="3813464" cy="146423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b="1" dirty="0"/>
              <a:t>Méthode d’optimisation :</a:t>
            </a:r>
          </a:p>
          <a:p>
            <a:r>
              <a:rPr lang="fr-FR" sz="1600" dirty="0"/>
              <a:t>✔ </a:t>
            </a:r>
            <a:r>
              <a:rPr lang="fr-FR" sz="1600" dirty="0" err="1"/>
              <a:t>RandomizedSearchCV</a:t>
            </a:r>
            <a:br>
              <a:rPr lang="fr-FR" sz="1600" dirty="0"/>
            </a:br>
            <a:r>
              <a:rPr lang="fr-FR" sz="1600" dirty="0"/>
              <a:t>✔ 5-fold Cross-Validation</a:t>
            </a:r>
            <a:br>
              <a:rPr lang="fr-FR" sz="1600" dirty="0"/>
            </a:br>
            <a:r>
              <a:rPr lang="fr-FR" sz="1600" dirty="0"/>
              <a:t>✔ Log automatique dans </a:t>
            </a:r>
            <a:r>
              <a:rPr lang="fr-FR" sz="1600" dirty="0" err="1"/>
              <a:t>MLflow</a:t>
            </a:r>
            <a:endParaRPr lang="fr-FR" sz="1600" dirty="0"/>
          </a:p>
          <a:p>
            <a:endParaRPr lang="fr-FR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7DB781-FB2A-7B8A-4054-00F586084C7B}"/>
              </a:ext>
            </a:extLst>
          </p:cNvPr>
          <p:cNvSpPr txBox="1"/>
          <p:nvPr/>
        </p:nvSpPr>
        <p:spPr>
          <a:xfrm>
            <a:off x="7558208" y="1424703"/>
            <a:ext cx="3077847" cy="282630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b="1" dirty="0"/>
              <a:t>Meilleurs hyperparamètres : </a:t>
            </a:r>
          </a:p>
          <a:p>
            <a:pPr marL="285750" indent="-285750">
              <a:buFontTx/>
              <a:buChar char="-"/>
            </a:pPr>
            <a:r>
              <a:rPr lang="fr-FR" sz="1600" dirty="0" err="1"/>
              <a:t>subsample</a:t>
            </a:r>
            <a:r>
              <a:rPr lang="fr-FR" sz="1600" dirty="0"/>
              <a:t> = 0.9</a:t>
            </a:r>
          </a:p>
          <a:p>
            <a:pPr marL="285750" indent="-285750">
              <a:buFontTx/>
              <a:buChar char="-"/>
            </a:pPr>
            <a:r>
              <a:rPr lang="fr-FR" sz="1600" dirty="0" err="1"/>
              <a:t>num_leaves</a:t>
            </a:r>
            <a:r>
              <a:rPr lang="fr-FR" sz="1600" dirty="0"/>
              <a:t> = 32</a:t>
            </a:r>
          </a:p>
          <a:p>
            <a:pPr marL="285750" indent="-285750">
              <a:buFontTx/>
              <a:buChar char="-"/>
            </a:pPr>
            <a:r>
              <a:rPr lang="fr-FR" sz="1600" dirty="0" err="1"/>
              <a:t>n_estimators</a:t>
            </a:r>
            <a:r>
              <a:rPr lang="fr-FR" sz="1600" dirty="0"/>
              <a:t> = 800</a:t>
            </a:r>
          </a:p>
          <a:p>
            <a:pPr marL="285750" indent="-285750">
              <a:buFontTx/>
              <a:buChar char="-"/>
            </a:pPr>
            <a:r>
              <a:rPr lang="fr-FR" sz="1600" dirty="0" err="1"/>
              <a:t>min_data_in_leaf</a:t>
            </a:r>
            <a:r>
              <a:rPr lang="fr-FR" sz="1600" dirty="0"/>
              <a:t> = 60</a:t>
            </a:r>
          </a:p>
          <a:p>
            <a:pPr marL="285750" indent="-285750">
              <a:buFontTx/>
              <a:buChar char="-"/>
            </a:pPr>
            <a:r>
              <a:rPr lang="fr-FR" sz="1600" dirty="0" err="1"/>
              <a:t>max_depth</a:t>
            </a:r>
            <a:r>
              <a:rPr lang="fr-FR" sz="1600" dirty="0"/>
              <a:t> = 6 </a:t>
            </a:r>
          </a:p>
          <a:p>
            <a:pPr marL="285750" indent="-285750">
              <a:buFontTx/>
              <a:buChar char="-"/>
            </a:pPr>
            <a:r>
              <a:rPr lang="fr-FR" sz="1600" dirty="0" err="1"/>
              <a:t>learning_rate</a:t>
            </a:r>
            <a:r>
              <a:rPr lang="fr-FR" sz="1600" dirty="0"/>
              <a:t> = 0.03</a:t>
            </a:r>
          </a:p>
          <a:p>
            <a:pPr marL="285750" indent="-285750">
              <a:buFontTx/>
              <a:buChar char="-"/>
            </a:pPr>
            <a:r>
              <a:rPr lang="fr-FR" sz="1600" dirty="0"/>
              <a:t>lambda_l2 = 0.5</a:t>
            </a:r>
          </a:p>
          <a:p>
            <a:pPr marL="285750" indent="-285750">
              <a:buFontTx/>
              <a:buChar char="-"/>
            </a:pPr>
            <a:r>
              <a:rPr lang="fr-FR" sz="1600" dirty="0"/>
              <a:t>lambda_l1 = 0.5</a:t>
            </a:r>
          </a:p>
          <a:p>
            <a:pPr marL="285750" indent="-285750">
              <a:buFontTx/>
              <a:buChar char="-"/>
            </a:pPr>
            <a:r>
              <a:rPr lang="fr-FR" sz="1600" dirty="0" err="1"/>
              <a:t>colsample_bytree</a:t>
            </a:r>
            <a:r>
              <a:rPr lang="fr-FR" sz="1600" dirty="0"/>
              <a:t> = 0.7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9975B0-272C-3925-EA7E-B24EC7644A61}"/>
              </a:ext>
            </a:extLst>
          </p:cNvPr>
          <p:cNvSpPr txBox="1"/>
          <p:nvPr/>
        </p:nvSpPr>
        <p:spPr>
          <a:xfrm>
            <a:off x="4574150" y="6302097"/>
            <a:ext cx="569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AUC CV ≈ 0.784 — modèle stable et bien régularisé</a:t>
            </a:r>
          </a:p>
        </p:txBody>
      </p:sp>
    </p:spTree>
    <p:extLst>
      <p:ext uri="{BB962C8B-B14F-4D97-AF65-F5344CB8AC3E}">
        <p14:creationId xmlns:p14="http://schemas.microsoft.com/office/powerpoint/2010/main" val="2195995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1A4A1D0B-A943-C06F-3C87-1345881FE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C707C36-2385-D521-A259-B18991E5462C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BF3F33-13BD-E4FD-A2A6-8747D78348EB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DE5FAB-6F10-359F-0D9D-1072BCF57BB9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12AF5C-A1D7-55E1-488A-469A8BD1D90D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1E60F244-47E7-8EB3-FE08-C9CA9AFB0C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9630A71-4D96-EE85-C3BB-DAC688B30586}"/>
              </a:ext>
            </a:extLst>
          </p:cNvPr>
          <p:cNvSpPr txBox="1"/>
          <p:nvPr/>
        </p:nvSpPr>
        <p:spPr>
          <a:xfrm>
            <a:off x="370346" y="-493088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B2BDA-33A3-1E07-293C-6C26E0AF887A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9EB47F-C7C8-4AE7-EACB-C0C7EE1F79B1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+mj-lt"/>
              <a:buAutoNum type="arabicPeriod" startAt="4"/>
            </a:pPr>
            <a:r>
              <a:rPr lang="fr-FR" sz="2000" dirty="0">
                <a:latin typeface="DM Serif Text" pitchFamily="2" charset="0"/>
              </a:rPr>
              <a:t>Optimisation du score métier</a:t>
            </a:r>
          </a:p>
        </p:txBody>
      </p:sp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DD85DFA-A790-70A3-76AE-F98240092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977" y="1348435"/>
            <a:ext cx="4676167" cy="3097441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ECBBC6F-D33C-56FA-3C3C-2A43C99F4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011012"/>
              </p:ext>
            </p:extLst>
          </p:nvPr>
        </p:nvGraphicFramePr>
        <p:xfrm>
          <a:off x="8137149" y="1996245"/>
          <a:ext cx="2992944" cy="18018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37413">
                  <a:extLst>
                    <a:ext uri="{9D8B030D-6E8A-4147-A177-3AD203B41FA5}">
                      <a16:colId xmlns:a16="http://schemas.microsoft.com/office/drawing/2014/main" val="2229587718"/>
                    </a:ext>
                  </a:extLst>
                </a:gridCol>
                <a:gridCol w="504497">
                  <a:extLst>
                    <a:ext uri="{9D8B030D-6E8A-4147-A177-3AD203B41FA5}">
                      <a16:colId xmlns:a16="http://schemas.microsoft.com/office/drawing/2014/main" val="25286492"/>
                    </a:ext>
                  </a:extLst>
                </a:gridCol>
                <a:gridCol w="515007">
                  <a:extLst>
                    <a:ext uri="{9D8B030D-6E8A-4147-A177-3AD203B41FA5}">
                      <a16:colId xmlns:a16="http://schemas.microsoft.com/office/drawing/2014/main" val="944172174"/>
                    </a:ext>
                  </a:extLst>
                </a:gridCol>
                <a:gridCol w="536027">
                  <a:extLst>
                    <a:ext uri="{9D8B030D-6E8A-4147-A177-3AD203B41FA5}">
                      <a16:colId xmlns:a16="http://schemas.microsoft.com/office/drawing/2014/main" val="1303461197"/>
                    </a:ext>
                  </a:extLst>
                </a:gridCol>
              </a:tblGrid>
              <a:tr h="275319">
                <a:tc>
                  <a:txBody>
                    <a:bodyPr/>
                    <a:lstStyle/>
                    <a:p>
                      <a:pPr algn="ctr"/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FP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FN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911712"/>
                  </a:ext>
                </a:extLst>
              </a:tr>
              <a:tr h="27531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/>
                        <a:t>A_strict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799683"/>
                  </a:ext>
                </a:extLst>
              </a:tr>
              <a:tr h="39799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/>
                        <a:t>B_balanced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3875486"/>
                  </a:ext>
                </a:extLst>
              </a:tr>
              <a:tr h="39799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/>
                        <a:t>C_realistic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441083"/>
                  </a:ext>
                </a:extLst>
              </a:tr>
              <a:tr h="27531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/>
                        <a:t>D_soft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869897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E058E33-494C-8AFA-F3C9-83535B0AF8A9}"/>
              </a:ext>
            </a:extLst>
          </p:cNvPr>
          <p:cNvSpPr txBox="1"/>
          <p:nvPr/>
        </p:nvSpPr>
        <p:spPr>
          <a:xfrm>
            <a:off x="3100552" y="6358759"/>
            <a:ext cx="87547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/>
              <a:t>Objectif</a:t>
            </a:r>
            <a:r>
              <a:rPr lang="fr-FR" sz="1600" dirty="0"/>
              <a:t> : optimiser le </a:t>
            </a:r>
            <a:r>
              <a:rPr lang="fr-FR" sz="1600" b="1" dirty="0"/>
              <a:t>seuil de décision</a:t>
            </a:r>
            <a:r>
              <a:rPr lang="fr-FR" sz="1600" dirty="0"/>
              <a:t> pour maximiser le </a:t>
            </a:r>
            <a:r>
              <a:rPr lang="fr-FR" sz="1600" b="1" dirty="0"/>
              <a:t>gain métier</a:t>
            </a:r>
            <a:r>
              <a:rPr lang="fr-F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7133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4DB21BE7-4784-999E-8AD3-FED0D7C25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9D558C8-98BB-9030-8AA7-C37C6B70752B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EF991B-A99F-A3BC-157A-6A035A843D6E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057E36-580C-36D7-1739-304FDCFACE5D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DF7DD9-E607-C439-904F-D45EC7A571A1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8E32EE37-3B3C-9446-841D-23FB5FCE598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AE13044-CEC5-B4D8-B77C-472CF5B849F6}"/>
              </a:ext>
            </a:extLst>
          </p:cNvPr>
          <p:cNvSpPr txBox="1"/>
          <p:nvPr/>
        </p:nvSpPr>
        <p:spPr>
          <a:xfrm>
            <a:off x="370346" y="-493088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5D93B2-B15A-2BC8-280E-777DD2BF9D10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80023B-2954-E77E-14C7-540BE853CDB9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+mj-lt"/>
              <a:buAutoNum type="arabicPeriod" startAt="4"/>
            </a:pPr>
            <a:r>
              <a:rPr lang="fr-FR" sz="2000" dirty="0">
                <a:latin typeface="DM Serif Text" pitchFamily="2" charset="0"/>
              </a:rPr>
              <a:t>Optimisation du score métier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F66035-2F6B-86CC-ADF4-7B80DCFB2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68977" y="1359430"/>
            <a:ext cx="4676167" cy="307545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F4E2B2-8B45-344B-F567-E7E029002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91803"/>
              </p:ext>
            </p:extLst>
          </p:nvPr>
        </p:nvGraphicFramePr>
        <p:xfrm>
          <a:off x="8137149" y="1996245"/>
          <a:ext cx="2992944" cy="18018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37413">
                  <a:extLst>
                    <a:ext uri="{9D8B030D-6E8A-4147-A177-3AD203B41FA5}">
                      <a16:colId xmlns:a16="http://schemas.microsoft.com/office/drawing/2014/main" val="2229587718"/>
                    </a:ext>
                  </a:extLst>
                </a:gridCol>
                <a:gridCol w="504497">
                  <a:extLst>
                    <a:ext uri="{9D8B030D-6E8A-4147-A177-3AD203B41FA5}">
                      <a16:colId xmlns:a16="http://schemas.microsoft.com/office/drawing/2014/main" val="25286492"/>
                    </a:ext>
                  </a:extLst>
                </a:gridCol>
                <a:gridCol w="515007">
                  <a:extLst>
                    <a:ext uri="{9D8B030D-6E8A-4147-A177-3AD203B41FA5}">
                      <a16:colId xmlns:a16="http://schemas.microsoft.com/office/drawing/2014/main" val="944172174"/>
                    </a:ext>
                  </a:extLst>
                </a:gridCol>
                <a:gridCol w="536027">
                  <a:extLst>
                    <a:ext uri="{9D8B030D-6E8A-4147-A177-3AD203B41FA5}">
                      <a16:colId xmlns:a16="http://schemas.microsoft.com/office/drawing/2014/main" val="1303461197"/>
                    </a:ext>
                  </a:extLst>
                </a:gridCol>
              </a:tblGrid>
              <a:tr h="275319">
                <a:tc>
                  <a:txBody>
                    <a:bodyPr/>
                    <a:lstStyle/>
                    <a:p>
                      <a:pPr algn="ctr"/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FP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FN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911712"/>
                  </a:ext>
                </a:extLst>
              </a:tr>
              <a:tr h="27531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/>
                        <a:t>A_strict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799683"/>
                  </a:ext>
                </a:extLst>
              </a:tr>
              <a:tr h="39799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/>
                        <a:t>B_balanced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3875486"/>
                  </a:ext>
                </a:extLst>
              </a:tr>
              <a:tr h="39799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/>
                        <a:t>C_realistic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441083"/>
                  </a:ext>
                </a:extLst>
              </a:tr>
              <a:tr h="27531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/>
                        <a:t>D_soft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869897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65E6BB-77F1-2F05-A332-356AB4BB75F0}"/>
              </a:ext>
            </a:extLst>
          </p:cNvPr>
          <p:cNvSpPr/>
          <p:nvPr/>
        </p:nvSpPr>
        <p:spPr>
          <a:xfrm>
            <a:off x="3914048" y="4937834"/>
            <a:ext cx="2917676" cy="4539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Meilleur seuil : 0.610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AF27F8-A4B9-3B3E-413F-03E594A30570}"/>
              </a:ext>
            </a:extLst>
          </p:cNvPr>
          <p:cNvSpPr/>
          <p:nvPr/>
        </p:nvSpPr>
        <p:spPr>
          <a:xfrm>
            <a:off x="7231602" y="4937834"/>
            <a:ext cx="2917676" cy="45397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Meilleur gain : -9651.0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4206C5-B395-3BE4-5C95-9386036B627D}"/>
              </a:ext>
            </a:extLst>
          </p:cNvPr>
          <p:cNvSpPr txBox="1"/>
          <p:nvPr/>
        </p:nvSpPr>
        <p:spPr>
          <a:xfrm>
            <a:off x="3100552" y="6358759"/>
            <a:ext cx="87547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/>
              <a:t>Objectif</a:t>
            </a:r>
            <a:r>
              <a:rPr lang="fr-FR" sz="1600" dirty="0"/>
              <a:t> : optimiser le </a:t>
            </a:r>
            <a:r>
              <a:rPr lang="fr-FR" sz="1600" b="1" dirty="0"/>
              <a:t>seuil de décision</a:t>
            </a:r>
            <a:r>
              <a:rPr lang="fr-FR" sz="1600" dirty="0"/>
              <a:t> pour maximiser le </a:t>
            </a:r>
            <a:r>
              <a:rPr lang="fr-FR" sz="1600" b="1" dirty="0"/>
              <a:t>gain métier</a:t>
            </a:r>
            <a:r>
              <a:rPr lang="fr-F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2502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857D5C34-C2A3-861A-D3D4-E5720C2AA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E919CF4-804C-6FD8-DB5D-608DDC044B60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6EFDD5-16F4-06D4-1F13-0AA714269F1A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9DE722-AB15-8345-3C49-8869BBD37FD3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FCE7D8-641B-486E-7565-2CA667580639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AACECBE5-A0E9-5771-F676-84117CE88F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B4C462-9B24-FE14-747E-11E9B21151C9}"/>
              </a:ext>
            </a:extLst>
          </p:cNvPr>
          <p:cNvSpPr txBox="1"/>
          <p:nvPr/>
        </p:nvSpPr>
        <p:spPr>
          <a:xfrm>
            <a:off x="370346" y="-493088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420793-20CC-0642-194D-F3768EF78D16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6C10F-958B-F5B0-0343-F512BE4B10FE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+mj-lt"/>
              <a:buAutoNum type="arabicPeriod" startAt="5"/>
            </a:pPr>
            <a:r>
              <a:rPr lang="fr-FR" sz="2000" dirty="0">
                <a:latin typeface="DM Serif Text" pitchFamily="2" charset="0"/>
              </a:rPr>
              <a:t>Tracking </a:t>
            </a:r>
            <a:r>
              <a:rPr lang="fr-FR" sz="2000" dirty="0" err="1">
                <a:latin typeface="DM Serif Text" pitchFamily="2" charset="0"/>
              </a:rPr>
              <a:t>MLFlow</a:t>
            </a:r>
            <a:endParaRPr lang="fr-FR" sz="2000" dirty="0">
              <a:latin typeface="DM Serif Text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3663DB-6CE3-6C5A-F9B2-B222A9411A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246" y="1751304"/>
            <a:ext cx="8723132" cy="395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79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A982216C-782C-34CE-3574-F6604640B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B32FF00-AB80-A0F5-0C06-78A3BB5027DF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9AB198-0CAA-7F6B-0BE4-D22551C5A672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652B61-1F79-B3CB-650F-4CD2604BE5CB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52DCF2-9A84-DDB0-D6B4-9F7EBB3E1A4E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3B78435D-83C9-3E93-81D9-8EDE7D6F335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F693BC-904D-E7A1-0A2E-C26FE0A00CB1}"/>
              </a:ext>
            </a:extLst>
          </p:cNvPr>
          <p:cNvSpPr txBox="1"/>
          <p:nvPr/>
        </p:nvSpPr>
        <p:spPr>
          <a:xfrm>
            <a:off x="370346" y="-4930883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API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182B3-F0E1-8EFF-C6FB-89A7739A208F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12E18-3D76-30CC-FC65-9541E578E3A8}"/>
              </a:ext>
            </a:extLst>
          </p:cNvPr>
          <p:cNvSpPr txBox="1"/>
          <p:nvPr/>
        </p:nvSpPr>
        <p:spPr>
          <a:xfrm>
            <a:off x="3333112" y="645520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ctr">
              <a:buFont typeface="+mj-lt"/>
              <a:buAutoNum type="arabicPeriod" startAt="6"/>
            </a:pPr>
            <a:r>
              <a:rPr lang="fr-FR" sz="2000" dirty="0">
                <a:latin typeface="DM Serif Text" pitchFamily="2" charset="0"/>
              </a:rPr>
              <a:t>Meilleur modèle obtenu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C26281-F5F8-6CBD-A8A7-58BA937560BE}"/>
              </a:ext>
            </a:extLst>
          </p:cNvPr>
          <p:cNvSpPr txBox="1"/>
          <p:nvPr/>
        </p:nvSpPr>
        <p:spPr>
          <a:xfrm>
            <a:off x="4811166" y="2782669"/>
            <a:ext cx="3632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Courbe ROC et PR</a:t>
            </a:r>
          </a:p>
          <a:p>
            <a:r>
              <a:rPr lang="fr-FR" dirty="0"/>
              <a:t>Matrice de confusion</a:t>
            </a:r>
          </a:p>
        </p:txBody>
      </p:sp>
    </p:spTree>
    <p:extLst>
      <p:ext uri="{BB962C8B-B14F-4D97-AF65-F5344CB8AC3E}">
        <p14:creationId xmlns:p14="http://schemas.microsoft.com/office/powerpoint/2010/main" val="3256530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FEEA5A26-2916-D5FC-140A-2BA886857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5DC7E-6F95-C7DB-94AF-FE107B852139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DB1DFD-DE3A-3BC8-4ECF-C6E4537BC4DC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51FD84-CACE-C484-8A9F-7A9B491434A5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28EC47-1535-E87D-E397-ABB840FF929A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DA50CAF7-66F9-3CD1-DD01-2701800040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0D71A83-40F2-BB13-56E6-39EF40E6EE67}"/>
              </a:ext>
            </a:extLst>
          </p:cNvPr>
          <p:cNvSpPr txBox="1"/>
          <p:nvPr/>
        </p:nvSpPr>
        <p:spPr>
          <a:xfrm>
            <a:off x="370346" y="-6278919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Interprétation métier</a:t>
            </a:r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434E1-F632-98CF-C457-4ECD32A59D1F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pic>
        <p:nvPicPr>
          <p:cNvPr id="2" name="Picture 1" descr="A graph with blue and pink lines&#10;&#10;AI-generated content may be incorrect.">
            <a:extLst>
              <a:ext uri="{FF2B5EF4-FFF2-40B4-BE49-F238E27FC236}">
                <a16:creationId xmlns:a16="http://schemas.microsoft.com/office/drawing/2014/main" id="{E4CDC6C8-AAF8-C5B5-CFE6-07989E39B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112" y="1784038"/>
            <a:ext cx="3842845" cy="4572000"/>
          </a:xfrm>
          <a:prstGeom prst="rect">
            <a:avLst/>
          </a:prstGeom>
        </p:spPr>
      </p:pic>
      <p:pic>
        <p:nvPicPr>
          <p:cNvPr id="5" name="Picture 4" descr="A graph with blue squares&#10;&#10;AI-generated content may be incorrect.">
            <a:extLst>
              <a:ext uri="{FF2B5EF4-FFF2-40B4-BE49-F238E27FC236}">
                <a16:creationId xmlns:a16="http://schemas.microsoft.com/office/drawing/2014/main" id="{C79C8AA8-A2C4-C2BE-DAAA-0F291717E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7155" y="1784038"/>
            <a:ext cx="3828064" cy="4572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DA872D-81A5-5D3C-E742-69D385B9F87C}"/>
              </a:ext>
            </a:extLst>
          </p:cNvPr>
          <p:cNvSpPr/>
          <p:nvPr/>
        </p:nvSpPr>
        <p:spPr>
          <a:xfrm>
            <a:off x="6268365" y="1166852"/>
            <a:ext cx="1926474" cy="31037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2489208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84AC9E92-F8C1-568C-E464-5F3831B2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D585362-4AE8-5A8E-D5D1-FE7A55DF150E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68EB87-79D5-0214-32AA-3733C291B8A2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876789-82C8-14DE-C616-840CB1905DC5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41728B-F81C-AB9B-5C56-A45F4EB0068A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DF88CC55-0729-616E-9896-3DEC3D50B2A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86430B5-43E8-1EF2-4DCA-5BD14CDE3921}"/>
              </a:ext>
            </a:extLst>
          </p:cNvPr>
          <p:cNvSpPr txBox="1"/>
          <p:nvPr/>
        </p:nvSpPr>
        <p:spPr>
          <a:xfrm>
            <a:off x="370346" y="-6278919"/>
            <a:ext cx="2126473" cy="1271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latin typeface="DM Serif Text" pitchFamily="2" charset="0"/>
                <a:cs typeface="Hepta Slab"/>
                <a:sym typeface="Hepta Slab"/>
              </a:rPr>
              <a:t>Interprétation métier</a:t>
            </a:r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B2B1CB-BDC0-E773-BB21-D42FD4D51615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9AC589-CAAD-CCAF-134B-1BD4C50CD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629" y="3036054"/>
            <a:ext cx="7717579" cy="166002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94AEB6-89CC-6537-470D-7D32B8D54AE7}"/>
              </a:ext>
            </a:extLst>
          </p:cNvPr>
          <p:cNvSpPr/>
          <p:nvPr/>
        </p:nvSpPr>
        <p:spPr>
          <a:xfrm>
            <a:off x="6268365" y="1166852"/>
            <a:ext cx="1926474" cy="31037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327653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26EEF20C-BB25-B004-6EB8-0EB1FDBB0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9CE720C-AE46-1FF8-500E-E88DD5E12686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C20570-AB27-B8AC-C04E-0F1A20DD32AA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45C476-9134-A01D-5772-8346ADCCD641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5A5BA5-A7F3-F50A-6BE2-3BCF0212F0E8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480F1743-2913-6425-70BA-A2EF49B5C5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A93A96B-A681-4DE8-A90E-2F095FBD316F}"/>
              </a:ext>
            </a:extLst>
          </p:cNvPr>
          <p:cNvSpPr txBox="1"/>
          <p:nvPr/>
        </p:nvSpPr>
        <p:spPr>
          <a:xfrm>
            <a:off x="370346" y="-7834341"/>
            <a:ext cx="2126473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Interprétation métier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latin typeface="DM Serif Text" pitchFamily="2" charset="0"/>
                <a:cs typeface="Hepta Slab"/>
                <a:sym typeface="Hepta Slab"/>
              </a:rPr>
              <a:t>Industrialisation et déploiement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4FA844-FDB5-07EF-C001-F3CE43A8DF1F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45C98-F411-6AA7-88C2-8D6FC6F787D6}"/>
              </a:ext>
            </a:extLst>
          </p:cNvPr>
          <p:cNvSpPr txBox="1"/>
          <p:nvPr/>
        </p:nvSpPr>
        <p:spPr>
          <a:xfrm>
            <a:off x="5259029" y="1037079"/>
            <a:ext cx="51293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Développée en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Expose une route POST /</a:t>
            </a:r>
            <a:r>
              <a:rPr lang="fr-FR" sz="1400" dirty="0" err="1"/>
              <a:t>predict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Charge le modèle </a:t>
            </a:r>
            <a:r>
              <a:rPr lang="fr-FR" sz="1400" dirty="0" err="1"/>
              <a:t>LightGBM</a:t>
            </a:r>
            <a:r>
              <a:rPr lang="fr-FR" sz="1400" dirty="0"/>
              <a:t> versionné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Renvoie : la probabilité de défaut, la classe prédite, le seuil optimisé</a:t>
            </a:r>
          </a:p>
        </p:txBody>
      </p:sp>
      <p:pic>
        <p:nvPicPr>
          <p:cNvPr id="12" name="Picture 11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14EB9418-DB20-24A4-9399-A8529DD30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4" t="38357" r="23608" b="38826"/>
          <a:stretch>
            <a:fillRect/>
          </a:stretch>
        </p:blipFill>
        <p:spPr>
          <a:xfrm>
            <a:off x="3554925" y="1440092"/>
            <a:ext cx="1437620" cy="36352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1477A6-93A4-4AA5-CA7C-FB18A06FB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2564" y="2896889"/>
            <a:ext cx="8556697" cy="23580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9656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A501E806-5C94-1219-5C49-70D9199B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0747016-62ED-B0E1-B295-FC31355CEAD3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598129-F52D-5A65-AE7F-B519B982BFB9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AFE232-124C-1943-2DFC-8859EE2877F3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3D64F8-A3FC-C3F6-EF72-D25ABBE8C06D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3CBEAFE0-61B6-F5B6-7DD3-0CFD606778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0E2EDF2-EC18-D955-83B7-82B0CA5B5CB5}"/>
              </a:ext>
            </a:extLst>
          </p:cNvPr>
          <p:cNvSpPr txBox="1"/>
          <p:nvPr/>
        </p:nvSpPr>
        <p:spPr>
          <a:xfrm>
            <a:off x="370346" y="-7834341"/>
            <a:ext cx="2126473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Interprétation métier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latin typeface="DM Serif Text" pitchFamily="2" charset="0"/>
                <a:cs typeface="Hepta Slab"/>
                <a:sym typeface="Hepta Slab"/>
              </a:rPr>
              <a:t>Industrialisation et déploiement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A84D4-7987-D2EB-BB38-5DFDF4127FBC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A9B767-516D-B848-5BF3-993168330895}"/>
              </a:ext>
            </a:extLst>
          </p:cNvPr>
          <p:cNvSpPr txBox="1"/>
          <p:nvPr/>
        </p:nvSpPr>
        <p:spPr>
          <a:xfrm>
            <a:off x="5259029" y="1037079"/>
            <a:ext cx="51293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Développée en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Expose une route POST /</a:t>
            </a:r>
            <a:r>
              <a:rPr lang="fr-FR" sz="1400" dirty="0" err="1"/>
              <a:t>predict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Charge le modèle </a:t>
            </a:r>
            <a:r>
              <a:rPr lang="fr-FR" sz="1400" dirty="0" err="1"/>
              <a:t>LightGBM</a:t>
            </a:r>
            <a:r>
              <a:rPr lang="fr-FR" sz="1400" dirty="0"/>
              <a:t> versionné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Renvoie : la probabilité de défaut, la classe prédite, le score métier, le seuil optimisé</a:t>
            </a:r>
          </a:p>
        </p:txBody>
      </p:sp>
      <p:pic>
        <p:nvPicPr>
          <p:cNvPr id="12" name="Picture 11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763D9D7A-019F-2EFC-6187-956F15F7F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4" t="38357" r="23608" b="38826"/>
          <a:stretch>
            <a:fillRect/>
          </a:stretch>
        </p:blipFill>
        <p:spPr>
          <a:xfrm>
            <a:off x="3554925" y="1440092"/>
            <a:ext cx="1437620" cy="363524"/>
          </a:xfrm>
          <a:prstGeom prst="rect">
            <a:avLst/>
          </a:prstGeom>
        </p:spPr>
      </p:pic>
      <p:pic>
        <p:nvPicPr>
          <p:cNvPr id="16" name="Picture 15" descr="A blue whale with containers on it&#10;&#10;AI-generated content may be incorrect.">
            <a:extLst>
              <a:ext uri="{FF2B5EF4-FFF2-40B4-BE49-F238E27FC236}">
                <a16:creationId xmlns:a16="http://schemas.microsoft.com/office/drawing/2014/main" id="{359EC152-2F49-FFA1-7726-0AF97837E9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124" y="2455412"/>
            <a:ext cx="933481" cy="8328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7328F02-5EF2-1EFC-0C23-C77771A6D6BA}"/>
              </a:ext>
            </a:extLst>
          </p:cNvPr>
          <p:cNvSpPr txBox="1"/>
          <p:nvPr/>
        </p:nvSpPr>
        <p:spPr>
          <a:xfrm>
            <a:off x="5259029" y="2375553"/>
            <a:ext cx="4524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Dockerfile</a:t>
            </a:r>
            <a:r>
              <a:rPr lang="fr-FR" sz="1400" dirty="0"/>
              <a:t> pour rendre l’app portable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Image légère (Python-slim)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Déploiement reproductible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Permet exécution identique en local / cloud</a:t>
            </a:r>
          </a:p>
        </p:txBody>
      </p: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331B19-1AD8-75AD-C201-7D4404524D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4925" y="3588201"/>
            <a:ext cx="7616474" cy="275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30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DFA42D98-10B4-2F67-B1F0-8957F8CB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0A089C8-4F3C-9521-B411-765CB8F677D3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AE0260-6D5A-CD69-191C-DBB6B64A814E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56C791-01A0-45CC-363B-84914AC4C8FB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E779D1-C5D5-658A-8C36-63C31A179260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E4ADC737-DA64-1BAA-F586-FD3B3D701C6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38B99BF-2722-B102-EEE6-DF70ED8C6C31}"/>
              </a:ext>
            </a:extLst>
          </p:cNvPr>
          <p:cNvSpPr txBox="1"/>
          <p:nvPr/>
        </p:nvSpPr>
        <p:spPr>
          <a:xfrm>
            <a:off x="370346" y="-7834341"/>
            <a:ext cx="2126473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Interprétation métier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latin typeface="DM Serif Text" pitchFamily="2" charset="0"/>
                <a:cs typeface="Hepta Slab"/>
                <a:sym typeface="Hepta Slab"/>
              </a:rPr>
              <a:t>Industrialisation et déploiement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036B9A-971D-91AE-218D-20EFB3F17148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pic>
        <p:nvPicPr>
          <p:cNvPr id="5" name="Picture 4" descr="A red paper boat with black text&#10;&#10;AI-generated content may be incorrect.">
            <a:extLst>
              <a:ext uri="{FF2B5EF4-FFF2-40B4-BE49-F238E27FC236}">
                <a16:creationId xmlns:a16="http://schemas.microsoft.com/office/drawing/2014/main" id="{1ADF846B-27A8-40E4-72A6-9ACF26298C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200" y="3628021"/>
            <a:ext cx="1129071" cy="660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8BE816-9D65-C73E-16C1-FA95B96665AF}"/>
              </a:ext>
            </a:extLst>
          </p:cNvPr>
          <p:cNvSpPr txBox="1"/>
          <p:nvPr/>
        </p:nvSpPr>
        <p:spPr>
          <a:xfrm>
            <a:off x="5259029" y="1037079"/>
            <a:ext cx="51293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Développée en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Expose une route POST /</a:t>
            </a:r>
            <a:r>
              <a:rPr lang="fr-FR" sz="1400" dirty="0" err="1"/>
              <a:t>predict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Charge le modèle </a:t>
            </a:r>
            <a:r>
              <a:rPr lang="fr-FR" sz="1400" dirty="0" err="1"/>
              <a:t>LightGBM</a:t>
            </a:r>
            <a:r>
              <a:rPr lang="fr-FR" sz="1400" dirty="0"/>
              <a:t> versionné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Renvoie : la probabilité de défaut, la classe prédite, le score métier, le seuil optimisé</a:t>
            </a:r>
          </a:p>
        </p:txBody>
      </p:sp>
      <p:pic>
        <p:nvPicPr>
          <p:cNvPr id="12" name="Picture 11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C5F7F25A-C6AC-19DD-3445-814C4776ED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4" t="38357" r="23608" b="38826"/>
          <a:stretch>
            <a:fillRect/>
          </a:stretch>
        </p:blipFill>
        <p:spPr>
          <a:xfrm>
            <a:off x="3554925" y="1440092"/>
            <a:ext cx="1437620" cy="363524"/>
          </a:xfrm>
          <a:prstGeom prst="rect">
            <a:avLst/>
          </a:prstGeom>
        </p:spPr>
      </p:pic>
      <p:pic>
        <p:nvPicPr>
          <p:cNvPr id="16" name="Picture 15" descr="A blue whale with containers on it&#10;&#10;AI-generated content may be incorrect.">
            <a:extLst>
              <a:ext uri="{FF2B5EF4-FFF2-40B4-BE49-F238E27FC236}">
                <a16:creationId xmlns:a16="http://schemas.microsoft.com/office/drawing/2014/main" id="{BCB0FFB8-192D-81DF-EC1D-AF75C09635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124" y="2455412"/>
            <a:ext cx="933481" cy="8328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FE68B3-B6F8-627A-342C-BDB5DD2BC667}"/>
              </a:ext>
            </a:extLst>
          </p:cNvPr>
          <p:cNvSpPr txBox="1"/>
          <p:nvPr/>
        </p:nvSpPr>
        <p:spPr>
          <a:xfrm>
            <a:off x="5259029" y="2375553"/>
            <a:ext cx="4524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Dockerfile</a:t>
            </a:r>
            <a:r>
              <a:rPr lang="fr-FR" sz="1400" dirty="0"/>
              <a:t> pour rendre l’app portable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Image légère (Python-slim)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Déploiement reproductible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Permet exécution identique en local / cloud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C2C68A-429D-F150-BF8A-B9DBFE4D20C5}"/>
              </a:ext>
            </a:extLst>
          </p:cNvPr>
          <p:cNvSpPr txBox="1"/>
          <p:nvPr/>
        </p:nvSpPr>
        <p:spPr>
          <a:xfrm>
            <a:off x="5259029" y="3498583"/>
            <a:ext cx="52989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Petit front simple pour les équipes métier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Chargement automatisé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Affichage en temps réel du score + explications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Accessible via navigateur, aucune installation requise</a:t>
            </a:r>
          </a:p>
        </p:txBody>
      </p:sp>
    </p:spTree>
    <p:extLst>
      <p:ext uri="{BB962C8B-B14F-4D97-AF65-F5344CB8AC3E}">
        <p14:creationId xmlns:p14="http://schemas.microsoft.com/office/powerpoint/2010/main" val="1785714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472F3745-5FD2-95AD-59AC-C0AE545CE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904A55F-CB20-59BD-296B-D5A7F34DDBB6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57E7DC-633D-B417-C5B9-4711E40EF31E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5B03FA-0E70-7EF1-9284-91DB3A1A6915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C62F3B-5FB7-A43C-D177-B2A97EEB5BFB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263B60A7-FFBD-F46F-E2B8-B79852603D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F8457C1-A40F-CBE3-98C5-C8D98869DA5C}"/>
              </a:ext>
            </a:extLst>
          </p:cNvPr>
          <p:cNvSpPr txBox="1"/>
          <p:nvPr/>
        </p:nvSpPr>
        <p:spPr>
          <a:xfrm>
            <a:off x="370346" y="-7834341"/>
            <a:ext cx="2126473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Interprétation métier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latin typeface="DM Serif Text" pitchFamily="2" charset="0"/>
                <a:cs typeface="Hepta Slab"/>
                <a:sym typeface="Hepta Slab"/>
              </a:rPr>
              <a:t>Industrialisation et déploiement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A2CAD-E6C6-8761-FA2B-571B06BC4E70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pic>
        <p:nvPicPr>
          <p:cNvPr id="5" name="Picture 4" descr="A red paper boat with black text&#10;&#10;AI-generated content may be incorrect.">
            <a:extLst>
              <a:ext uri="{FF2B5EF4-FFF2-40B4-BE49-F238E27FC236}">
                <a16:creationId xmlns:a16="http://schemas.microsoft.com/office/drawing/2014/main" id="{1B41AB7B-DFF7-8BD1-387F-EFCAC1E39E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200" y="3628021"/>
            <a:ext cx="1129071" cy="660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C7316E-C1DE-2457-8BF9-3F347C4AD61B}"/>
              </a:ext>
            </a:extLst>
          </p:cNvPr>
          <p:cNvSpPr txBox="1"/>
          <p:nvPr/>
        </p:nvSpPr>
        <p:spPr>
          <a:xfrm>
            <a:off x="5259029" y="1037079"/>
            <a:ext cx="51293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Développée en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Expose une route POST /</a:t>
            </a:r>
            <a:r>
              <a:rPr lang="fr-FR" sz="1400" dirty="0" err="1"/>
              <a:t>predict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Charge le modèle </a:t>
            </a:r>
            <a:r>
              <a:rPr lang="fr-FR" sz="1400" dirty="0" err="1"/>
              <a:t>LightGBM</a:t>
            </a:r>
            <a:r>
              <a:rPr lang="fr-FR" sz="1400" dirty="0"/>
              <a:t> versionné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Renvoie : la probabilité de défaut, la classe prédite, le score métier, le seuil optimisé</a:t>
            </a:r>
          </a:p>
        </p:txBody>
      </p:sp>
      <p:pic>
        <p:nvPicPr>
          <p:cNvPr id="12" name="Picture 11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F09E3122-355A-0E56-AC45-0F99AD7EC0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4" t="38357" r="23608" b="38826"/>
          <a:stretch>
            <a:fillRect/>
          </a:stretch>
        </p:blipFill>
        <p:spPr>
          <a:xfrm>
            <a:off x="3554925" y="1440092"/>
            <a:ext cx="1437620" cy="363524"/>
          </a:xfrm>
          <a:prstGeom prst="rect">
            <a:avLst/>
          </a:prstGeom>
        </p:spPr>
      </p:pic>
      <p:pic>
        <p:nvPicPr>
          <p:cNvPr id="16" name="Picture 15" descr="A blue whale with containers on it&#10;&#10;AI-generated content may be incorrect.">
            <a:extLst>
              <a:ext uri="{FF2B5EF4-FFF2-40B4-BE49-F238E27FC236}">
                <a16:creationId xmlns:a16="http://schemas.microsoft.com/office/drawing/2014/main" id="{08069683-8A21-B898-62E8-79500C33B1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124" y="2455412"/>
            <a:ext cx="933481" cy="8328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E12B429-7206-158D-9D22-502367DAAB16}"/>
              </a:ext>
            </a:extLst>
          </p:cNvPr>
          <p:cNvSpPr txBox="1"/>
          <p:nvPr/>
        </p:nvSpPr>
        <p:spPr>
          <a:xfrm>
            <a:off x="5259029" y="2375553"/>
            <a:ext cx="4524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Dockerfile</a:t>
            </a:r>
            <a:r>
              <a:rPr lang="fr-FR" sz="1400" dirty="0"/>
              <a:t> pour rendre l’app portable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Image légère (Python-slim)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Déploiement reproductible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Permet exécution identique en local / cloud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044E36-C838-2DFA-30AB-639211993FFA}"/>
              </a:ext>
            </a:extLst>
          </p:cNvPr>
          <p:cNvSpPr txBox="1"/>
          <p:nvPr/>
        </p:nvSpPr>
        <p:spPr>
          <a:xfrm>
            <a:off x="5259029" y="3498583"/>
            <a:ext cx="52989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Petit front simple pour les équipes métier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Chargement automatisé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Affichage en temps réel du score + explications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Accessible via navigateur, aucune installation requise</a:t>
            </a:r>
          </a:p>
        </p:txBody>
      </p:sp>
      <p:pic>
        <p:nvPicPr>
          <p:cNvPr id="21" name="Picture 2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05A3678-1953-1B89-6B68-7DBEE635A0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459" y="4708230"/>
            <a:ext cx="1102812" cy="62033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1AD0FC2-61DF-1CFC-8A67-B969E8C5B58D}"/>
              </a:ext>
            </a:extLst>
          </p:cNvPr>
          <p:cNvSpPr txBox="1"/>
          <p:nvPr/>
        </p:nvSpPr>
        <p:spPr>
          <a:xfrm>
            <a:off x="5259029" y="4560087"/>
            <a:ext cx="57032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Repository dédié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Versionnement</a:t>
            </a:r>
            <a:r>
              <a:rPr lang="fr-FR" sz="1400" dirty="0"/>
              <a:t> du code &amp; du </a:t>
            </a:r>
            <a:r>
              <a:rPr lang="fr-FR" sz="1400" dirty="0" err="1"/>
              <a:t>Dockerfile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Sécurisation du développement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22FA1-02F3-2B16-82DE-1E733D8232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0676" y="1026898"/>
            <a:ext cx="7357345" cy="339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63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426B4AD1-AB69-F1DF-F222-D2D99092D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0AFAF69-26DC-F444-689F-4276450A878E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FA7BE-F311-0FAD-1E3B-3197A418A1FB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2CE92D-948A-CB81-36A9-7F49884E5D5E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AEC1B2-B252-922D-5308-8E355CFB3B60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BB7CBA71-0D7A-2430-CB8B-D3FFB313FF2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F12A21B-1AAF-31FC-80F7-6E3842BC70A5}"/>
              </a:ext>
            </a:extLst>
          </p:cNvPr>
          <p:cNvSpPr txBox="1"/>
          <p:nvPr/>
        </p:nvSpPr>
        <p:spPr>
          <a:xfrm>
            <a:off x="370346" y="-7834341"/>
            <a:ext cx="2126473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Interprétation métier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latin typeface="DM Serif Text" pitchFamily="2" charset="0"/>
                <a:cs typeface="Hepta Slab"/>
                <a:sym typeface="Hepta Slab"/>
              </a:rPr>
              <a:t>Industrialisation et déploiement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A8D702-8E1B-1591-672A-A6025F75E3A8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pic>
        <p:nvPicPr>
          <p:cNvPr id="5" name="Picture 4" descr="A red paper boat with black text&#10;&#10;AI-generated content may be incorrect.">
            <a:extLst>
              <a:ext uri="{FF2B5EF4-FFF2-40B4-BE49-F238E27FC236}">
                <a16:creationId xmlns:a16="http://schemas.microsoft.com/office/drawing/2014/main" id="{2B4BEF48-C8E5-5BA0-0217-3A543F8E91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200" y="3628021"/>
            <a:ext cx="1129071" cy="660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2A9B74-3083-261E-BEAD-DD5335BDA76C}"/>
              </a:ext>
            </a:extLst>
          </p:cNvPr>
          <p:cNvSpPr txBox="1"/>
          <p:nvPr/>
        </p:nvSpPr>
        <p:spPr>
          <a:xfrm>
            <a:off x="5259029" y="1037079"/>
            <a:ext cx="51293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Développée en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Expose une route POST /</a:t>
            </a:r>
            <a:r>
              <a:rPr lang="fr-FR" sz="1400" dirty="0" err="1"/>
              <a:t>predict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Charge le modèle </a:t>
            </a:r>
            <a:r>
              <a:rPr lang="fr-FR" sz="1400" dirty="0" err="1"/>
              <a:t>LightGBM</a:t>
            </a:r>
            <a:r>
              <a:rPr lang="fr-FR" sz="1400" dirty="0"/>
              <a:t> versionné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Renvoie : la probabilité de défaut, la classe prédite, le score métier, le seuil optimisé</a:t>
            </a:r>
          </a:p>
        </p:txBody>
      </p:sp>
      <p:pic>
        <p:nvPicPr>
          <p:cNvPr id="12" name="Picture 11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56C56FCD-2118-79F0-C849-36233221DC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4" t="38357" r="23608" b="38826"/>
          <a:stretch>
            <a:fillRect/>
          </a:stretch>
        </p:blipFill>
        <p:spPr>
          <a:xfrm>
            <a:off x="3554925" y="1440092"/>
            <a:ext cx="1437620" cy="363524"/>
          </a:xfrm>
          <a:prstGeom prst="rect">
            <a:avLst/>
          </a:prstGeom>
        </p:spPr>
      </p:pic>
      <p:pic>
        <p:nvPicPr>
          <p:cNvPr id="16" name="Picture 15" descr="A blue whale with containers on it&#10;&#10;AI-generated content may be incorrect.">
            <a:extLst>
              <a:ext uri="{FF2B5EF4-FFF2-40B4-BE49-F238E27FC236}">
                <a16:creationId xmlns:a16="http://schemas.microsoft.com/office/drawing/2014/main" id="{3BBCA759-1AA1-91D7-B965-AD9700779D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124" y="2455412"/>
            <a:ext cx="933481" cy="8328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CCC893D-158C-6676-5EA8-056CAF0CF703}"/>
              </a:ext>
            </a:extLst>
          </p:cNvPr>
          <p:cNvSpPr txBox="1"/>
          <p:nvPr/>
        </p:nvSpPr>
        <p:spPr>
          <a:xfrm>
            <a:off x="5259029" y="2375553"/>
            <a:ext cx="4524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Dockerfile</a:t>
            </a:r>
            <a:r>
              <a:rPr lang="fr-FR" sz="1400" dirty="0"/>
              <a:t> pour rendre l’app portable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Image légère (Python-slim)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Déploiement reproductible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Permet exécution identique en local / cloud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B59502-C70B-5FA0-3A04-BFF095F0B2C2}"/>
              </a:ext>
            </a:extLst>
          </p:cNvPr>
          <p:cNvSpPr txBox="1"/>
          <p:nvPr/>
        </p:nvSpPr>
        <p:spPr>
          <a:xfrm>
            <a:off x="5259029" y="3498583"/>
            <a:ext cx="52989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Petit front simple pour les équipes métier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Chargement automatisé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Affichage en temps réel du score + explications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Accessible via navigateur, aucune installation requise</a:t>
            </a:r>
          </a:p>
        </p:txBody>
      </p:sp>
      <p:pic>
        <p:nvPicPr>
          <p:cNvPr id="21" name="Picture 2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CE5F37D-9A2B-4A7D-7A32-8C8743BCE8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459" y="4708230"/>
            <a:ext cx="1102812" cy="6203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9D7709-0DF4-7279-430D-9B4BA5A3E295}"/>
              </a:ext>
            </a:extLst>
          </p:cNvPr>
          <p:cNvSpPr txBox="1"/>
          <p:nvPr/>
        </p:nvSpPr>
        <p:spPr>
          <a:xfrm>
            <a:off x="5259029" y="4560087"/>
            <a:ext cx="57032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Repository dédié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Versionnement</a:t>
            </a:r>
            <a:r>
              <a:rPr lang="fr-FR" sz="1400" dirty="0"/>
              <a:t> du code &amp; du </a:t>
            </a:r>
            <a:r>
              <a:rPr lang="fr-FR" sz="1400" dirty="0" err="1"/>
              <a:t>Dockerfile</a:t>
            </a: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Sécurisation du développement</a:t>
            </a:r>
          </a:p>
        </p:txBody>
      </p:sp>
    </p:spTree>
    <p:extLst>
      <p:ext uri="{BB962C8B-B14F-4D97-AF65-F5344CB8AC3E}">
        <p14:creationId xmlns:p14="http://schemas.microsoft.com/office/powerpoint/2010/main" val="37231983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67A4861D-DEFD-B8FF-6B44-3E6A96493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B8D3421-806C-F452-A830-7891E532E466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D6E7A0-B036-BDF5-810F-BCF36995BCB5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4276F5-249E-094F-3A07-E96A5FEA6820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DB5FC2-E304-6617-20F2-3F30D7687149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D097AEC5-BEE6-E863-A01B-A102B4F8EF7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5221" y="206966"/>
            <a:ext cx="1270244" cy="7128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9495304-9F02-E59F-6DA9-14344302CE9C}"/>
              </a:ext>
            </a:extLst>
          </p:cNvPr>
          <p:cNvSpPr txBox="1"/>
          <p:nvPr/>
        </p:nvSpPr>
        <p:spPr>
          <a:xfrm>
            <a:off x="370346" y="-9191802"/>
            <a:ext cx="2126473" cy="1425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Interprétation métier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Industrialisation et déploiement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033419-0DE0-2FC7-9BF9-FB7DF098FBB8}"/>
              </a:ext>
            </a:extLst>
          </p:cNvPr>
          <p:cNvSpPr txBox="1"/>
          <p:nvPr/>
        </p:nvSpPr>
        <p:spPr>
          <a:xfrm>
            <a:off x="3333112" y="371237"/>
            <a:ext cx="7796981" cy="485239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endParaRPr lang="fr-FR" sz="2000" dirty="0">
              <a:latin typeface="DM Serif Tex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DB4B81-234F-E763-58DD-746DD605EBFB}"/>
              </a:ext>
            </a:extLst>
          </p:cNvPr>
          <p:cNvSpPr txBox="1"/>
          <p:nvPr/>
        </p:nvSpPr>
        <p:spPr>
          <a:xfrm>
            <a:off x="3280876" y="2988036"/>
            <a:ext cx="844630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Construction d’un </a:t>
            </a:r>
            <a:r>
              <a:rPr lang="fr-FR" b="1" dirty="0"/>
              <a:t>modèle </a:t>
            </a:r>
            <a:r>
              <a:rPr lang="fr-FR" b="1" dirty="0" err="1"/>
              <a:t>LightGBM</a:t>
            </a:r>
            <a:r>
              <a:rPr lang="fr-FR" b="1" dirty="0"/>
              <a:t> </a:t>
            </a:r>
            <a:r>
              <a:rPr lang="fr-FR" dirty="0"/>
              <a:t>performant et stable (AUC ≈ 0.78).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Interprétation complète via </a:t>
            </a:r>
            <a:r>
              <a:rPr lang="fr-FR" b="1" dirty="0"/>
              <a:t>SHAP</a:t>
            </a:r>
            <a:r>
              <a:rPr lang="fr-FR" dirty="0"/>
              <a:t> pour assurer transparence et confiance métier.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Optimisation du seuil selon une fonction économique réaliste.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Pipeline </a:t>
            </a:r>
            <a:r>
              <a:rPr lang="fr-FR" b="1" dirty="0" err="1"/>
              <a:t>Scikit-Learn</a:t>
            </a:r>
            <a:r>
              <a:rPr lang="fr-FR" dirty="0"/>
              <a:t> reproductible, versionné et traçable avec </a:t>
            </a:r>
            <a:r>
              <a:rPr lang="fr-FR" dirty="0" err="1"/>
              <a:t>MLflow</a:t>
            </a:r>
            <a:r>
              <a:rPr lang="fr-F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Limites</a:t>
            </a:r>
            <a:r>
              <a:rPr lang="fr-FR" dirty="0"/>
              <a:t> : </a:t>
            </a:r>
            <a:r>
              <a:rPr lang="fr-FR" dirty="0" err="1"/>
              <a:t>dataset</a:t>
            </a:r>
            <a:r>
              <a:rPr lang="fr-FR" dirty="0"/>
              <a:t> très déséquilibré et </a:t>
            </a:r>
            <a:r>
              <a:rPr lang="fr-FR" dirty="0" err="1"/>
              <a:t>recall</a:t>
            </a:r>
            <a:r>
              <a:rPr lang="fr-FR" dirty="0"/>
              <a:t> faible → perspectives </a:t>
            </a:r>
            <a:r>
              <a:rPr lang="fr-FR" dirty="0" err="1"/>
              <a:t>MLOps</a:t>
            </a:r>
            <a:r>
              <a:rPr lang="fr-FR" dirty="0"/>
              <a:t> et calibration.</a:t>
            </a:r>
          </a:p>
        </p:txBody>
      </p:sp>
      <p:pic>
        <p:nvPicPr>
          <p:cNvPr id="8" name="Picture 7" descr="A machine with a dollar sign and a paper and check mark&#10;&#10;AI-generated content may be incorrect.">
            <a:extLst>
              <a:ext uri="{FF2B5EF4-FFF2-40B4-BE49-F238E27FC236}">
                <a16:creationId xmlns:a16="http://schemas.microsoft.com/office/drawing/2014/main" id="{97CE86F1-EF41-94B6-083F-D57077FBA0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33" b="18430"/>
          <a:stretch>
            <a:fillRect/>
          </a:stretch>
        </p:blipFill>
        <p:spPr>
          <a:xfrm>
            <a:off x="5780767" y="992979"/>
            <a:ext cx="2618515" cy="166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5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3788A2D-56AD-B0CD-D8B4-A8AE15A924B1}"/>
              </a:ext>
            </a:extLst>
          </p:cNvPr>
          <p:cNvSpPr/>
          <p:nvPr/>
        </p:nvSpPr>
        <p:spPr>
          <a:xfrm rot="8032039">
            <a:off x="257862" y="3643676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84447A-6C7E-3429-7801-E0CF543E4A8F}"/>
              </a:ext>
            </a:extLst>
          </p:cNvPr>
          <p:cNvSpPr/>
          <p:nvPr/>
        </p:nvSpPr>
        <p:spPr>
          <a:xfrm rot="2794424">
            <a:off x="2350537" y="3643809"/>
            <a:ext cx="224972" cy="166915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542335-4CE2-C9D4-FE70-AABE94707615}"/>
              </a:ext>
            </a:extLst>
          </p:cNvPr>
          <p:cNvSpPr/>
          <p:nvPr/>
        </p:nvSpPr>
        <p:spPr>
          <a:xfrm>
            <a:off x="336733" y="0"/>
            <a:ext cx="2182948" cy="6858000"/>
          </a:xfrm>
          <a:prstGeom prst="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B5F5D8-00C0-0E50-6DA9-B2391406CEE5}"/>
              </a:ext>
            </a:extLst>
          </p:cNvPr>
          <p:cNvSpPr/>
          <p:nvPr/>
        </p:nvSpPr>
        <p:spPr>
          <a:xfrm>
            <a:off x="232227" y="2661922"/>
            <a:ext cx="2368732" cy="1065213"/>
          </a:xfrm>
          <a:prstGeom prst="rect">
            <a:avLst/>
          </a:prstGeom>
          <a:solidFill>
            <a:srgbClr val="678ACB"/>
          </a:solidFill>
          <a:ln>
            <a:solidFill>
              <a:srgbClr val="678A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7DF810-98D2-B145-1CE8-64CCCE3FA8D8}"/>
              </a:ext>
            </a:extLst>
          </p:cNvPr>
          <p:cNvSpPr txBox="1"/>
          <p:nvPr/>
        </p:nvSpPr>
        <p:spPr>
          <a:xfrm>
            <a:off x="6301034" y="6136236"/>
            <a:ext cx="2148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DM Serif Text" pitchFamily="2" charset="0"/>
              </a:rPr>
              <a:t>Margaux Dupeyron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D84F8-38FA-1826-242C-1E6AF45255B7}"/>
              </a:ext>
            </a:extLst>
          </p:cNvPr>
          <p:cNvSpPr txBox="1"/>
          <p:nvPr/>
        </p:nvSpPr>
        <p:spPr>
          <a:xfrm>
            <a:off x="2862845" y="1822249"/>
            <a:ext cx="9024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DM Serif Text" pitchFamily="2" charset="0"/>
              </a:rPr>
              <a:t>Openclassrooms</a:t>
            </a:r>
            <a:r>
              <a:rPr lang="fr-FR" dirty="0">
                <a:latin typeface="DM Serif Text" pitchFamily="2" charset="0"/>
              </a:rPr>
              <a:t> – Parcours </a:t>
            </a:r>
            <a:r>
              <a:rPr lang="fr-FR" dirty="0" err="1">
                <a:latin typeface="DM Serif Text" pitchFamily="2" charset="0"/>
              </a:rPr>
              <a:t>Datascientist</a:t>
            </a:r>
            <a:endParaRPr lang="fr-FR" dirty="0">
              <a:latin typeface="DM Serif Text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FE7B99-0E8B-8AD3-7516-767A7247D58E}"/>
              </a:ext>
            </a:extLst>
          </p:cNvPr>
          <p:cNvSpPr/>
          <p:nvPr/>
        </p:nvSpPr>
        <p:spPr>
          <a:xfrm>
            <a:off x="3768770" y="2494283"/>
            <a:ext cx="7212563" cy="1206984"/>
          </a:xfrm>
          <a:prstGeom prst="roundRect">
            <a:avLst/>
          </a:prstGeom>
          <a:solidFill>
            <a:srgbClr val="97B9D3"/>
          </a:solidFill>
          <a:ln>
            <a:solidFill>
              <a:srgbClr val="97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Picture 14" descr="A white circle with a purple background&#10;&#10;Description automatically generated">
            <a:extLst>
              <a:ext uri="{FF2B5EF4-FFF2-40B4-BE49-F238E27FC236}">
                <a16:creationId xmlns:a16="http://schemas.microsoft.com/office/drawing/2014/main" id="{03A5441C-1830-7CCE-0E6D-70FC1EDC68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843" y="88406"/>
            <a:ext cx="1761738" cy="9886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DF5E039-44BA-8BDD-64AA-FDD0CE7FA2BF}"/>
              </a:ext>
            </a:extLst>
          </p:cNvPr>
          <p:cNvSpPr txBox="1"/>
          <p:nvPr/>
        </p:nvSpPr>
        <p:spPr>
          <a:xfrm>
            <a:off x="3895725" y="3866066"/>
            <a:ext cx="689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Des questions ? Des conseils ?</a:t>
            </a:r>
          </a:p>
        </p:txBody>
      </p:sp>
      <p:pic>
        <p:nvPicPr>
          <p:cNvPr id="4" name="Picture 3" descr="A computer monitor with a white screen&#10;&#10;Description automatically generated">
            <a:extLst>
              <a:ext uri="{FF2B5EF4-FFF2-40B4-BE49-F238E27FC236}">
                <a16:creationId xmlns:a16="http://schemas.microsoft.com/office/drawing/2014/main" id="{D5222EFB-504C-4EEE-A85F-276DCA15C5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5716" y="4513087"/>
            <a:ext cx="3005028" cy="30050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5AE661-1B84-47BB-15A8-C7E9FBF3D9BF}"/>
              </a:ext>
            </a:extLst>
          </p:cNvPr>
          <p:cNvSpPr txBox="1"/>
          <p:nvPr/>
        </p:nvSpPr>
        <p:spPr>
          <a:xfrm>
            <a:off x="370346" y="-10650248"/>
            <a:ext cx="2126473" cy="1425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ea typeface="Hepta Slab"/>
                <a:cs typeface="Hepta Slab"/>
                <a:sym typeface="Hepta Slab"/>
              </a:rPr>
              <a:t>Introduction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But du projet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Jeu de données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Analyse exploratoire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Préprocessing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&amp; </a:t>
            </a:r>
            <a:r>
              <a:rPr lang="fr-FR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Feature</a:t>
            </a:r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 Engineering</a:t>
            </a: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Modélisation</a:t>
            </a: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fr-FR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fr-FR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Interprétation métier</a:t>
            </a:r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Industrialisation et déploiement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DM Serif Text" pitchFamily="2" charset="0"/>
                <a:cs typeface="Hepta Slab"/>
                <a:sym typeface="Hepta Slab"/>
              </a:rPr>
              <a:t>Conclusion</a:t>
            </a: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endParaRPr lang="en" sz="2000" dirty="0">
              <a:solidFill>
                <a:schemeClr val="accent4">
                  <a:lumMod val="20000"/>
                  <a:lumOff val="80000"/>
                </a:schemeClr>
              </a:solidFill>
              <a:latin typeface="DM Serif Text" pitchFamily="2" charset="0"/>
              <a:cs typeface="Hepta Slab"/>
              <a:sym typeface="Hepta Slab"/>
            </a:endParaRPr>
          </a:p>
          <a:p>
            <a:pPr algn="ctr"/>
            <a:r>
              <a:rPr lang="en" sz="2000" dirty="0">
                <a:latin typeface="DM Serif Text" pitchFamily="2" charset="0"/>
                <a:cs typeface="Hepta Slab"/>
                <a:sym typeface="Hepta Slab"/>
              </a:rPr>
              <a:t>Retour et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1884D-D844-1AD8-CD2C-A2F6C41FE45D}"/>
              </a:ext>
            </a:extLst>
          </p:cNvPr>
          <p:cNvSpPr txBox="1"/>
          <p:nvPr/>
        </p:nvSpPr>
        <p:spPr>
          <a:xfrm>
            <a:off x="3709559" y="2510517"/>
            <a:ext cx="7330984" cy="1231761"/>
          </a:xfrm>
          <a:prstGeom prst="roundRect">
            <a:avLst>
              <a:gd name="adj" fmla="val 30417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DM Serif Text" pitchFamily="2" charset="0"/>
              </a:rPr>
              <a:t>Soutenance Projet 7</a:t>
            </a:r>
          </a:p>
          <a:p>
            <a:pPr algn="ctr"/>
            <a:r>
              <a:rPr lang="fr-FR" sz="2000" dirty="0">
                <a:latin typeface="DM Serif Text" pitchFamily="2" charset="0"/>
              </a:rPr>
              <a:t>Implémentez un modèle de </a:t>
            </a:r>
            <a:r>
              <a:rPr lang="fr-FR" sz="2000" dirty="0" err="1">
                <a:latin typeface="DM Serif Text" pitchFamily="2" charset="0"/>
              </a:rPr>
              <a:t>scoring</a:t>
            </a:r>
            <a:r>
              <a:rPr lang="fr-FR" sz="2000" dirty="0">
                <a:latin typeface="DM Serif Text" pitchFamily="2" charset="0"/>
              </a:rPr>
              <a:t> de crédit - Home </a:t>
            </a:r>
            <a:r>
              <a:rPr lang="fr-FR" sz="2000" dirty="0" err="1">
                <a:latin typeface="DM Serif Text" pitchFamily="2" charset="0"/>
              </a:rPr>
              <a:t>Credit</a:t>
            </a:r>
            <a:r>
              <a:rPr lang="fr-FR" sz="2000" dirty="0">
                <a:latin typeface="DM Serif Text" pitchFamily="2" charset="0"/>
              </a:rPr>
              <a:t> Default Risk 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816AB2C6-9C22-11CD-897F-644523099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9" b="9139"/>
          <a:stretch/>
        </p:blipFill>
        <p:spPr bwMode="auto">
          <a:xfrm>
            <a:off x="10105018" y="5216236"/>
            <a:ext cx="1908000" cy="1210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7298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8493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53972</TotalTime>
  <Words>3220</Words>
  <Application>Microsoft Office PowerPoint</Application>
  <PresentationFormat>Widescreen</PresentationFormat>
  <Paragraphs>1707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Aptos Display</vt:lpstr>
      <vt:lpstr>Arial</vt:lpstr>
      <vt:lpstr>DM Serif Text</vt:lpstr>
      <vt:lpstr>Fairwater Script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Margaux Dupeyron</dc:creator>
  <cp:lastModifiedBy>Margaux Dupeyron</cp:lastModifiedBy>
  <cp:revision>413</cp:revision>
  <dcterms:created xsi:type="dcterms:W3CDTF">2024-04-30T09:23:21Z</dcterms:created>
  <dcterms:modified xsi:type="dcterms:W3CDTF">2025-12-05T15:56:47Z</dcterms:modified>
</cp:coreProperties>
</file>